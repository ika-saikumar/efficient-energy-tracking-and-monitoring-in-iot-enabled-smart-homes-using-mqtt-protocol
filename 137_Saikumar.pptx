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media/image3.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70" r:id="rId7"/>
    <p:sldId id="261" r:id="rId8"/>
    <p:sldId id="262" r:id="rId9"/>
    <p:sldId id="284" r:id="rId10"/>
    <p:sldId id="285" r:id="rId11"/>
    <p:sldId id="272" r:id="rId12"/>
    <p:sldId id="273" r:id="rId13"/>
    <p:sldId id="274" r:id="rId14"/>
    <p:sldId id="283" r:id="rId15"/>
    <p:sldId id="275" r:id="rId16"/>
    <p:sldId id="281" r:id="rId17"/>
    <p:sldId id="277" r:id="rId18"/>
    <p:sldId id="286" r:id="rId19"/>
    <p:sldId id="276" r:id="rId20"/>
    <p:sldId id="279" r:id="rId21"/>
    <p:sldId id="265" r:id="rId22"/>
    <p:sldId id="266" r:id="rId23"/>
    <p:sldId id="267" r:id="rId24"/>
    <p:sldId id="268" r:id="rId25"/>
    <p:sldId id="269"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75" d="100"/>
          <a:sy n="75" d="100"/>
        </p:scale>
        <p:origin x="1666" y="12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3582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982565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0980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2394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062482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23597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4/18/2025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58801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4/18/2025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30567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7079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04302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1077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4/18/2025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2050" name="Picture 2">
            <a:extLst>
              <a:ext uri="{FF2B5EF4-FFF2-40B4-BE49-F238E27FC236}">
                <a16:creationId xmlns:a16="http://schemas.microsoft.com/office/drawing/2014/main" id="{023C6468-DC7C-3BF3-231B-6A8F8A3E8806}"/>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715251" y="0"/>
            <a:ext cx="1428750" cy="1335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65026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doi.org/10.3390/iot5010005"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52438" y="421180"/>
            <a:ext cx="8088999" cy="1981199"/>
          </a:xfrm>
        </p:spPr>
        <p:txBody>
          <a:bodyPr>
            <a:normAutofit/>
          </a:bodyPr>
          <a:lstStyle/>
          <a:p>
            <a:pPr algn="just">
              <a:lnSpc>
                <a:spcPct val="150000"/>
              </a:lnSpc>
            </a:pPr>
            <a:r>
              <a:rPr lang="en-US" sz="2000" b="1" dirty="0">
                <a:solidFill>
                  <a:schemeClr val="accent2"/>
                </a:solidFill>
                <a:latin typeface="Times New Roman" panose="02020603050405020304" pitchFamily="18" charset="0"/>
                <a:cs typeface="Times New Roman" panose="02020603050405020304" pitchFamily="18" charset="0"/>
              </a:rPr>
              <a:t>Efficient Scheduling of Smart Home Appliances Using Aquila Optimization Algorithm and Energy Monitoring using </a:t>
            </a:r>
            <a:r>
              <a:rPr lang="en-US" sz="2000" b="1" dirty="0" err="1">
                <a:solidFill>
                  <a:schemeClr val="accent2"/>
                </a:solidFill>
                <a:latin typeface="Times New Roman" panose="02020603050405020304" pitchFamily="18" charset="0"/>
                <a:cs typeface="Times New Roman" panose="02020603050405020304" pitchFamily="18" charset="0"/>
              </a:rPr>
              <a:t>ThingSpeak</a:t>
            </a:r>
            <a:endParaRPr lang="en-US" sz="2000" b="1" dirty="0">
              <a:solidFill>
                <a:schemeClr val="accent2"/>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normAutofit/>
          </a:bodyPr>
          <a:lstStyle/>
          <a:p>
            <a:r>
              <a:rPr lang="en-IN" sz="1600" dirty="0">
                <a:latin typeface="Times New Roman" panose="02020603050405020304" pitchFamily="18" charset="0"/>
                <a:cs typeface="Times New Roman" panose="02020603050405020304" pitchFamily="18" charset="0"/>
              </a:rPr>
              <a:t>SAIKUMAR IKA</a:t>
            </a:r>
            <a:endParaRPr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Paper id-137</a:t>
            </a:r>
          </a:p>
          <a:p>
            <a:r>
              <a:rPr sz="1600" dirty="0">
                <a:latin typeface="Times New Roman" panose="02020603050405020304" pitchFamily="18" charset="0"/>
                <a:cs typeface="Times New Roman" panose="02020603050405020304" pitchFamily="18" charset="0"/>
              </a:rPr>
              <a:t>ICSSCT-2k25</a:t>
            </a:r>
          </a:p>
        </p:txBody>
      </p:sp>
      <p:pic>
        <p:nvPicPr>
          <p:cNvPr id="1026" name="Picture 2">
            <a:extLst>
              <a:ext uri="{FF2B5EF4-FFF2-40B4-BE49-F238E27FC236}">
                <a16:creationId xmlns:a16="http://schemas.microsoft.com/office/drawing/2014/main" id="{891730F7-70E3-4D40-B36A-438B58636FD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3674" y="0"/>
            <a:ext cx="1310327" cy="1212546"/>
          </a:xfrm>
          <a:prstGeom prst="rect">
            <a:avLst/>
          </a:prstGeom>
          <a:noFill/>
          <a:extLst>
            <a:ext uri="{909E8E84-426E-40DD-AFC4-6F175D3DCCD1}">
              <a14:hiddenFill xmlns:a14="http://schemas.microsoft.com/office/drawing/2010/main">
                <a:solidFill>
                  <a:srgbClr val="FFFFFF"/>
                </a:solidFill>
              </a14:hiddenFill>
            </a:ext>
          </a:extLst>
        </p:spPr>
      </p:pic>
      <p:pic>
        <p:nvPicPr>
          <p:cNvPr id="5" name="object 7">
            <a:extLst>
              <a:ext uri="{FF2B5EF4-FFF2-40B4-BE49-F238E27FC236}">
                <a16:creationId xmlns:a16="http://schemas.microsoft.com/office/drawing/2014/main" id="{227C2F5B-991C-033E-9BFF-ACB4BA5CE2CC}"/>
              </a:ext>
            </a:extLst>
          </p:cNvPr>
          <p:cNvPicPr/>
          <p:nvPr/>
        </p:nvPicPr>
        <p:blipFill>
          <a:blip r:embed="rId3" cstate="print"/>
          <a:stretch>
            <a:fillRect/>
          </a:stretch>
        </p:blipFill>
        <p:spPr>
          <a:xfrm>
            <a:off x="6430297" y="2402379"/>
            <a:ext cx="1696324" cy="1462771"/>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chemeClr val="accent2"/>
                </a:solidFill>
                <a:latin typeface="Times New Roman" panose="02020603050405020304" pitchFamily="18" charset="0"/>
                <a:cs typeface="Times New Roman" panose="02020603050405020304" pitchFamily="18" charset="0"/>
              </a:rPr>
              <a:t>Introduction / Motivation</a:t>
            </a:r>
          </a:p>
        </p:txBody>
      </p:sp>
      <p:sp>
        <p:nvSpPr>
          <p:cNvPr id="3" name="Content Placeholder 2"/>
          <p:cNvSpPr>
            <a:spLocks noGrp="1"/>
          </p:cNvSpPr>
          <p:nvPr>
            <p:ph idx="1"/>
          </p:nvPr>
        </p:nvSpPr>
        <p:spPr>
          <a:xfrm>
            <a:off x="822959" y="1956619"/>
            <a:ext cx="8045738" cy="4277033"/>
          </a:xfrm>
        </p:spPr>
        <p:txBody>
          <a:bodyPr>
            <a:normAutofit fontScale="92500"/>
          </a:bodyPr>
          <a:lstStyle/>
          <a:p>
            <a:pPr algn="just">
              <a:buFont typeface="Wingdings" panose="05000000000000000000" pitchFamily="2" charset="2"/>
              <a:buChar char="Ø"/>
            </a:pPr>
            <a:r>
              <a:rPr lang="en-US" sz="1700" dirty="0"/>
              <a:t>The rapid rise in </a:t>
            </a:r>
            <a:r>
              <a:rPr lang="en-US" sz="1700" b="1" dirty="0"/>
              <a:t>automation</a:t>
            </a:r>
            <a:r>
              <a:rPr lang="en-US" sz="1700" dirty="0"/>
              <a:t> has led to increased </a:t>
            </a:r>
            <a:r>
              <a:rPr lang="en-US" sz="1700" b="1" dirty="0"/>
              <a:t>electricity consumption</a:t>
            </a:r>
            <a:r>
              <a:rPr lang="en-US" sz="1700" dirty="0"/>
              <a:t> in modern households. Traditional home systems lack the </a:t>
            </a:r>
            <a:r>
              <a:rPr lang="en-US" sz="1700" b="1" dirty="0"/>
              <a:t>intelligence and flexibility</a:t>
            </a:r>
            <a:r>
              <a:rPr lang="en-US" sz="1700" dirty="0"/>
              <a:t> to optimize appliance usage and reduce energy waste.</a:t>
            </a:r>
          </a:p>
          <a:p>
            <a:pPr algn="just">
              <a:buFont typeface="Wingdings" panose="05000000000000000000" pitchFamily="2" charset="2"/>
              <a:buChar char="Ø"/>
            </a:pPr>
            <a:r>
              <a:rPr lang="en-US" sz="1700" dirty="0"/>
              <a:t>The </a:t>
            </a:r>
            <a:r>
              <a:rPr lang="en-US" sz="1700" b="1" dirty="0"/>
              <a:t>depletion of fossil fuels</a:t>
            </a:r>
            <a:r>
              <a:rPr lang="en-US" sz="1700" dirty="0"/>
              <a:t> and rising energy costs have made </a:t>
            </a:r>
            <a:r>
              <a:rPr lang="en-US" sz="1700" b="1" dirty="0"/>
              <a:t>efficient energy management</a:t>
            </a:r>
            <a:r>
              <a:rPr lang="en-US" sz="1700" dirty="0"/>
              <a:t> a pressing concern.</a:t>
            </a:r>
            <a:r>
              <a:rPr lang="en-US" sz="1700" b="1" dirty="0"/>
              <a:t> Smart Home Energy Management Systems (SHEMS)</a:t>
            </a:r>
            <a:r>
              <a:rPr lang="en-US" sz="1700" dirty="0"/>
              <a:t>, powered by </a:t>
            </a:r>
            <a:r>
              <a:rPr lang="en-US" sz="1700" b="1" dirty="0"/>
              <a:t>IoT</a:t>
            </a:r>
            <a:r>
              <a:rPr lang="en-US" sz="1700" dirty="0"/>
              <a:t>, can monitor, control, and optimize power usage in real time.</a:t>
            </a:r>
          </a:p>
          <a:p>
            <a:pPr algn="just">
              <a:buFont typeface="Wingdings" panose="05000000000000000000" pitchFamily="2" charset="2"/>
              <a:buChar char="Ø"/>
            </a:pPr>
            <a:r>
              <a:rPr lang="en-US" sz="1700" dirty="0"/>
              <a:t>By combining manual switches, and mobile app control, we aim to provide a versatile and user-friendly solution for managing both smart and non-smart home devices. Our system also works smoothly with your current home setup, making it easy to </a:t>
            </a:r>
            <a:r>
              <a:rPr lang="en-US" sz="1700" dirty="0" err="1"/>
              <a:t>upgrade.Plus</a:t>
            </a:r>
            <a:r>
              <a:rPr lang="en-US" sz="1700" dirty="0"/>
              <a:t>, we’ll keep improving the system with updates to stay current with new technology and your changing needs</a:t>
            </a:r>
          </a:p>
          <a:p>
            <a:pPr>
              <a:buNone/>
            </a:pPr>
            <a:r>
              <a:rPr lang="en-US" sz="1700" dirty="0"/>
              <a:t>This paper aims to design a </a:t>
            </a:r>
            <a:r>
              <a:rPr lang="en-US" sz="1700" b="1" dirty="0"/>
              <a:t>cost-effective, scalable, and intelligent system</a:t>
            </a:r>
            <a:r>
              <a:rPr lang="en-US" sz="1700" dirty="0"/>
              <a:t> using:</a:t>
            </a:r>
          </a:p>
          <a:p>
            <a:pPr>
              <a:buFont typeface="Arial" panose="020B0604020202020204" pitchFamily="34" charset="0"/>
              <a:buChar char="•"/>
            </a:pPr>
            <a:r>
              <a:rPr lang="en-US" sz="1700" dirty="0"/>
              <a:t>ESP32 microcontroller</a:t>
            </a:r>
          </a:p>
          <a:p>
            <a:pPr>
              <a:buFont typeface="Arial" panose="020B0604020202020204" pitchFamily="34" charset="0"/>
              <a:buChar char="•"/>
            </a:pPr>
            <a:r>
              <a:rPr lang="en-US" sz="1700" dirty="0" err="1"/>
              <a:t>ThingSpeak</a:t>
            </a:r>
            <a:r>
              <a:rPr lang="en-US" sz="1700" dirty="0"/>
              <a:t> for energy monitoring</a:t>
            </a:r>
          </a:p>
          <a:p>
            <a:pPr>
              <a:buFont typeface="Arial" panose="020B0604020202020204" pitchFamily="34" charset="0"/>
              <a:buChar char="•"/>
            </a:pPr>
            <a:r>
              <a:rPr lang="en-US" sz="1700" dirty="0"/>
              <a:t>Node-RED for control interface</a:t>
            </a:r>
          </a:p>
          <a:p>
            <a:pPr algn="just">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chemeClr val="accent2"/>
                </a:solidFill>
                <a:latin typeface="Times New Roman" panose="02020603050405020304" pitchFamily="18" charset="0"/>
                <a:cs typeface="Times New Roman" panose="02020603050405020304" pitchFamily="18" charset="0"/>
              </a:rPr>
              <a:t>Problem Statement</a:t>
            </a:r>
          </a:p>
        </p:txBody>
      </p:sp>
      <p:sp>
        <p:nvSpPr>
          <p:cNvPr id="9" name="Rectangle 4">
            <a:extLst>
              <a:ext uri="{FF2B5EF4-FFF2-40B4-BE49-F238E27FC236}">
                <a16:creationId xmlns:a16="http://schemas.microsoft.com/office/drawing/2014/main" id="{DBE5AE14-BB52-D47A-5ADA-9F8BAD31E693}"/>
              </a:ext>
            </a:extLst>
          </p:cNvPr>
          <p:cNvSpPr>
            <a:spLocks noChangeArrowheads="1"/>
          </p:cNvSpPr>
          <p:nvPr/>
        </p:nvSpPr>
        <p:spPr bwMode="auto">
          <a:xfrm>
            <a:off x="463419" y="1985795"/>
            <a:ext cx="7642798"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Arial" panose="020B0604020202020204" pitchFamily="34" charset="0"/>
              </a:rPr>
              <a:t> Traditional household energy systems are inefficient, lacking smart control and</a:t>
            </a:r>
          </a:p>
          <a:p>
            <a:pPr marR="0" lvl="0" algn="l" defTabSz="914400" rtl="0" eaLnBrk="0" fontAlgn="base" latinLnBrk="0" hangingPunct="0">
              <a:lnSpc>
                <a:spcPct val="100000"/>
              </a:lnSpc>
              <a:spcBef>
                <a:spcPct val="0"/>
              </a:spcBef>
              <a:spcAft>
                <a:spcPct val="0"/>
              </a:spcAft>
              <a:buClrTx/>
              <a:buSzTx/>
              <a:tabLst/>
            </a:pPr>
            <a:r>
              <a:rPr lang="en-US" altLang="en-US" sz="1600" dirty="0">
                <a:latin typeface="Arial" panose="020B0604020202020204" pitchFamily="34" charset="0"/>
              </a:rPr>
              <a:t>     </a:t>
            </a:r>
            <a:r>
              <a:rPr kumimoji="0" lang="en-US" altLang="en-US" sz="1600" i="0" u="none" strike="noStrike" cap="none" normalizeH="0" baseline="0" dirty="0">
                <a:ln>
                  <a:noFill/>
                </a:ln>
                <a:solidFill>
                  <a:schemeClr val="tx1"/>
                </a:solidFill>
                <a:effectLst/>
                <a:latin typeface="Arial" panose="020B0604020202020204" pitchFamily="34" charset="0"/>
              </a:rPr>
              <a:t> real-time monitoring capabilities.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Arial" panose="020B0604020202020204" pitchFamily="34" charset="0"/>
              </a:rPr>
              <a:t> Manual operation of appliances leads to unnecessary energy consumption, </a:t>
            </a:r>
          </a:p>
          <a:p>
            <a:pPr marR="0" lvl="0" algn="l" defTabSz="914400" rtl="0" eaLnBrk="0" fontAlgn="base" latinLnBrk="0" hangingPunct="0">
              <a:lnSpc>
                <a:spcPct val="100000"/>
              </a:lnSpc>
              <a:spcBef>
                <a:spcPct val="0"/>
              </a:spcBef>
              <a:spcAft>
                <a:spcPct val="0"/>
              </a:spcAft>
              <a:buClrTx/>
              <a:buSzTx/>
              <a:tabLst/>
            </a:pPr>
            <a:r>
              <a:rPr kumimoji="0" lang="en-US" altLang="en-US" sz="1600" i="0" u="none" strike="noStrike" cap="none" normalizeH="0" baseline="0" dirty="0">
                <a:ln>
                  <a:noFill/>
                </a:ln>
                <a:solidFill>
                  <a:schemeClr val="tx1"/>
                </a:solidFill>
                <a:effectLst/>
                <a:latin typeface="Arial" panose="020B0604020202020204" pitchFamily="34" charset="0"/>
              </a:rPr>
              <a:t>      especially during peak load hours.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Arial" panose="020B0604020202020204" pitchFamily="34" charset="0"/>
              </a:rPr>
              <a:t> Existing solutions:</a:t>
            </a:r>
          </a:p>
          <a:p>
            <a:pPr marL="742950" lvl="1" indent="-285750" defTabSz="914400" eaLnBrk="0" fontAlgn="base" hangingPunct="0">
              <a:spcBef>
                <a:spcPct val="0"/>
              </a:spcBef>
              <a:spcAft>
                <a:spcPct val="0"/>
              </a:spcAft>
              <a:buFont typeface="Wingdings" panose="05000000000000000000" pitchFamily="2" charset="2"/>
              <a:buChar char="§"/>
            </a:pPr>
            <a:r>
              <a:rPr kumimoji="0" lang="en-US" altLang="en-US" sz="1600" i="0" u="none" strike="noStrike" cap="none" normalizeH="0" baseline="0" dirty="0">
                <a:ln>
                  <a:noFill/>
                </a:ln>
                <a:solidFill>
                  <a:schemeClr val="tx1"/>
                </a:solidFill>
                <a:effectLst/>
                <a:latin typeface="Arial" panose="020B0604020202020204" pitchFamily="34" charset="0"/>
              </a:rPr>
              <a:t>Often require costly smart appliances</a:t>
            </a:r>
          </a:p>
          <a:p>
            <a:pPr marL="742950" lvl="1" indent="-285750" defTabSz="914400" eaLnBrk="0" fontAlgn="base" hangingPunct="0">
              <a:spcBef>
                <a:spcPct val="0"/>
              </a:spcBef>
              <a:spcAft>
                <a:spcPct val="0"/>
              </a:spcAft>
              <a:buFont typeface="Wingdings" panose="05000000000000000000" pitchFamily="2" charset="2"/>
              <a:buChar char="§"/>
            </a:pPr>
            <a:r>
              <a:rPr kumimoji="0" lang="en-US" altLang="en-US" sz="1600" i="0" u="none" strike="noStrike" cap="none" normalizeH="0" baseline="0" dirty="0">
                <a:ln>
                  <a:noFill/>
                </a:ln>
                <a:solidFill>
                  <a:schemeClr val="tx1"/>
                </a:solidFill>
                <a:effectLst/>
                <a:latin typeface="Arial" panose="020B0604020202020204" pitchFamily="34" charset="0"/>
              </a:rPr>
              <a:t>Lack support for scheduling and optimization</a:t>
            </a:r>
          </a:p>
          <a:p>
            <a:pPr marL="742950" lvl="1" indent="-285750" defTabSz="914400" eaLnBrk="0" fontAlgn="base" hangingPunct="0">
              <a:spcBef>
                <a:spcPct val="0"/>
              </a:spcBef>
              <a:spcAft>
                <a:spcPct val="0"/>
              </a:spcAft>
              <a:buFont typeface="Wingdings" panose="05000000000000000000" pitchFamily="2" charset="2"/>
              <a:buChar char="§"/>
            </a:pPr>
            <a:r>
              <a:rPr kumimoji="0" lang="en-US" altLang="en-US" sz="1600" i="0" u="none" strike="noStrike" cap="none" normalizeH="0" baseline="0" dirty="0">
                <a:ln>
                  <a:noFill/>
                </a:ln>
                <a:solidFill>
                  <a:schemeClr val="tx1"/>
                </a:solidFill>
                <a:effectLst/>
                <a:latin typeface="Arial" panose="020B0604020202020204" pitchFamily="34" charset="0"/>
              </a:rPr>
              <a:t>Fail to leverage energy usage analytics</a:t>
            </a:r>
          </a:p>
          <a:p>
            <a:pPr lvl="1" defTabSz="914400" eaLnBrk="0" fontAlgn="base" hangingPunct="0">
              <a:spcBef>
                <a:spcPct val="0"/>
              </a:spcBef>
              <a:spcAft>
                <a:spcPct val="0"/>
              </a:spcAft>
            </a:pPr>
            <a:endParaRPr kumimoji="0" lang="en-US" altLang="en-US" sz="160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600" i="0" u="none" strike="noStrike" cap="none" normalizeH="0" baseline="0" dirty="0">
                <a:ln>
                  <a:noFill/>
                </a:ln>
                <a:solidFill>
                  <a:schemeClr val="tx1"/>
                </a:solidFill>
                <a:effectLst/>
                <a:latin typeface="Arial" panose="020B0604020202020204" pitchFamily="34" charset="0"/>
              </a:rPr>
              <a:t>There is a critical need for a smart, scalable, and cost-effective solution that:</a:t>
            </a:r>
          </a:p>
          <a:p>
            <a:pPr marL="742950" lvl="1" indent="-285750" defTabSz="914400" eaLnBrk="0" fontAlgn="base" hangingPunct="0">
              <a:spcBef>
                <a:spcPct val="0"/>
              </a:spcBef>
              <a:spcAft>
                <a:spcPct val="0"/>
              </a:spcAft>
              <a:buFont typeface="Wingdings" panose="05000000000000000000" pitchFamily="2" charset="2"/>
              <a:buChar char="§"/>
            </a:pPr>
            <a:r>
              <a:rPr kumimoji="0" lang="en-US" altLang="en-US" sz="1600" i="0" u="none" strike="noStrike" cap="none" normalizeH="0" baseline="0" dirty="0">
                <a:ln>
                  <a:noFill/>
                </a:ln>
                <a:solidFill>
                  <a:schemeClr val="tx1"/>
                </a:solidFill>
                <a:effectLst/>
                <a:latin typeface="Arial" panose="020B0604020202020204" pitchFamily="34" charset="0"/>
              </a:rPr>
              <a:t>Supports both smart and non-smart appliances</a:t>
            </a:r>
          </a:p>
          <a:p>
            <a:pPr marL="742950" lvl="1" indent="-285750" defTabSz="914400" eaLnBrk="0" fontAlgn="base" hangingPunct="0">
              <a:spcBef>
                <a:spcPct val="0"/>
              </a:spcBef>
              <a:spcAft>
                <a:spcPct val="0"/>
              </a:spcAft>
              <a:buFont typeface="Wingdings" panose="05000000000000000000" pitchFamily="2" charset="2"/>
              <a:buChar char="§"/>
            </a:pPr>
            <a:r>
              <a:rPr kumimoji="0" lang="en-US" altLang="en-US" sz="1600" i="0" u="none" strike="noStrike" cap="none" normalizeH="0" baseline="0" dirty="0">
                <a:ln>
                  <a:noFill/>
                </a:ln>
                <a:solidFill>
                  <a:schemeClr val="tx1"/>
                </a:solidFill>
                <a:effectLst/>
                <a:latin typeface="Arial" panose="020B0604020202020204" pitchFamily="34" charset="0"/>
              </a:rPr>
              <a:t>Enables remote monitoring and control</a:t>
            </a:r>
          </a:p>
          <a:p>
            <a:pPr marL="742950" lvl="1" indent="-285750" defTabSz="914400" eaLnBrk="0" fontAlgn="base" hangingPunct="0">
              <a:spcBef>
                <a:spcPct val="0"/>
              </a:spcBef>
              <a:spcAft>
                <a:spcPct val="0"/>
              </a:spcAft>
              <a:buFont typeface="Wingdings" panose="05000000000000000000" pitchFamily="2" charset="2"/>
              <a:buChar char="§"/>
            </a:pPr>
            <a:r>
              <a:rPr kumimoji="0" lang="en-US" altLang="en-US" sz="1600" i="0" u="none" strike="noStrike" cap="none" normalizeH="0" baseline="0" dirty="0">
                <a:ln>
                  <a:noFill/>
                </a:ln>
                <a:solidFill>
                  <a:schemeClr val="tx1"/>
                </a:solidFill>
                <a:effectLst/>
                <a:latin typeface="Arial" panose="020B0604020202020204" pitchFamily="34" charset="0"/>
              </a:rPr>
              <a:t>Optimizes appliance usage based on energy consumption patterns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chemeClr val="accent2"/>
                </a:solidFill>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724636" y="1611022"/>
            <a:ext cx="7985761" cy="4978400"/>
          </a:xfrm>
        </p:spPr>
        <p:txBody>
          <a:bodyPr>
            <a:normAutofit/>
          </a:bodyPr>
          <a:lstStyle/>
          <a:p>
            <a:pPr algn="l"/>
            <a:endParaRPr lang="en-US" sz="1600" b="1" i="0" dirty="0">
              <a:solidFill>
                <a:srgbClr val="0D0D0D"/>
              </a:solidFill>
              <a:effectLst/>
              <a:latin typeface="Söhne"/>
            </a:endParaRPr>
          </a:p>
          <a:p>
            <a:pPr marL="285750" indent="-285750">
              <a:buFont typeface="Wingdings" panose="05000000000000000000" pitchFamily="2" charset="2"/>
              <a:buChar char="Ø"/>
            </a:pPr>
            <a:r>
              <a:rPr lang="en-IN" sz="1600" b="1" dirty="0"/>
              <a:t>Real Time Energy Monitoring:</a:t>
            </a:r>
          </a:p>
          <a:p>
            <a:r>
              <a:rPr lang="en-IN" sz="1600" b="1" dirty="0"/>
              <a:t>   </a:t>
            </a:r>
            <a:r>
              <a:rPr lang="en-US" sz="1600" dirty="0"/>
              <a:t>Real-time tracking of power usage and energy consumption for enhanced energy efficiency.</a:t>
            </a:r>
            <a:endParaRPr lang="en-IN" sz="1600" b="1" dirty="0"/>
          </a:p>
          <a:p>
            <a:pPr marL="285750" indent="-285750" algn="l">
              <a:buFont typeface="Wingdings" panose="05000000000000000000" pitchFamily="2" charset="2"/>
              <a:buChar char="Ø"/>
            </a:pPr>
            <a:r>
              <a:rPr lang="en-IN" sz="1600" b="1" dirty="0"/>
              <a:t>Automation and Control:</a:t>
            </a:r>
            <a:endParaRPr lang="en-US" sz="1600" b="1" dirty="0">
              <a:solidFill>
                <a:srgbClr val="0D0D0D"/>
              </a:solidFill>
              <a:latin typeface="Söhne"/>
            </a:endParaRPr>
          </a:p>
          <a:p>
            <a:pPr algn="l"/>
            <a:r>
              <a:rPr lang="en-US" sz="1600" dirty="0"/>
              <a:t>  Designing the system to control traditional non-smart appliances using IoT technology.</a:t>
            </a:r>
            <a:endParaRPr lang="en-US" sz="1600" b="1" dirty="0">
              <a:solidFill>
                <a:srgbClr val="0D0D0D"/>
              </a:solidFill>
              <a:latin typeface="Söhne"/>
            </a:endParaRPr>
          </a:p>
          <a:p>
            <a:pPr marL="285750" indent="-285750" algn="l">
              <a:buFont typeface="Wingdings" panose="05000000000000000000" pitchFamily="2" charset="2"/>
              <a:buChar char="Ø"/>
            </a:pPr>
            <a:r>
              <a:rPr lang="en-IN" sz="1600" b="1" dirty="0"/>
              <a:t>Data Logging and Visualization:</a:t>
            </a:r>
            <a:r>
              <a:rPr lang="en-IN" sz="1600" dirty="0"/>
              <a:t> </a:t>
            </a:r>
          </a:p>
          <a:p>
            <a:pPr algn="l"/>
            <a:r>
              <a:rPr lang="en-US" sz="1600" dirty="0"/>
              <a:t>Uploading energy data and appliance states to </a:t>
            </a:r>
            <a:r>
              <a:rPr lang="en-US" sz="1600" dirty="0" err="1"/>
              <a:t>ThingSpeak</a:t>
            </a:r>
            <a:r>
              <a:rPr lang="en-US" sz="1600" dirty="0"/>
              <a:t> for analytics. Providing an intuitive LCD interface for instant feedback.</a:t>
            </a:r>
            <a:endParaRPr lang="en-US" sz="1600" b="1" dirty="0"/>
          </a:p>
          <a:p>
            <a:pPr marL="285750" indent="-285750" algn="l">
              <a:buFont typeface="Wingdings" panose="05000000000000000000" pitchFamily="2" charset="2"/>
              <a:buChar char="Ø"/>
            </a:pPr>
            <a:r>
              <a:rPr lang="en-US" sz="1600" b="1" dirty="0"/>
              <a:t>Ensure Seamless Integration Across Platforms:</a:t>
            </a:r>
            <a:endParaRPr lang="en-US" sz="1600" dirty="0"/>
          </a:p>
          <a:p>
            <a:pPr algn="l"/>
            <a:r>
              <a:rPr lang="en-US" sz="1600" dirty="0"/>
              <a:t>Develop a unified system architecture that allows seamless communication and control across various platforms</a:t>
            </a:r>
            <a:endParaRPr lang="en-US" sz="1600" b="1" dirty="0"/>
          </a:p>
          <a:p>
            <a:pPr algn="l"/>
            <a:endParaRPr lang="en-US" sz="1600" b="1" dirty="0"/>
          </a:p>
          <a:p>
            <a:pPr algn="l"/>
            <a:endParaRPr lang="en-US" sz="1600" b="0" i="0" dirty="0">
              <a:solidFill>
                <a:srgbClr val="0D0D0D"/>
              </a:solidFill>
              <a:effectLst/>
              <a:latin typeface="Söhne"/>
            </a:endParaRPr>
          </a:p>
          <a:p>
            <a:pPr algn="l"/>
            <a:endParaRPr lang="en-US" sz="1600" b="0" i="0" dirty="0">
              <a:solidFill>
                <a:srgbClr val="0D0D0D"/>
              </a:solidFill>
              <a:effectLst/>
              <a:latin typeface="Söhne"/>
            </a:endParaRPr>
          </a:p>
          <a:p>
            <a:endParaRPr lang="en-IN"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chemeClr val="accent2"/>
                </a:solidFill>
                <a:latin typeface="Times New Roman" panose="02020603050405020304" pitchFamily="18" charset="0"/>
                <a:cs typeface="Times New Roman" panose="02020603050405020304" pitchFamily="18" charset="0"/>
              </a:rPr>
              <a:t>Background / Literature Review</a:t>
            </a:r>
            <a:r>
              <a:rPr lang="en-US" sz="2000" b="1" dirty="0">
                <a:solidFill>
                  <a:schemeClr val="accent2"/>
                </a:solidFill>
                <a:latin typeface="Times New Roman" panose="02020603050405020304" pitchFamily="18" charset="0"/>
                <a:cs typeface="Times New Roman" panose="02020603050405020304" pitchFamily="18" charset="0"/>
              </a:rPr>
              <a:t>:</a:t>
            </a:r>
            <a:endParaRPr sz="2000" b="1" dirty="0">
              <a:solidFill>
                <a:schemeClr val="accent2"/>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C67E9BB5-4E8C-9AD8-6FFB-7CE5EB6AE678}"/>
              </a:ext>
            </a:extLst>
          </p:cNvPr>
          <p:cNvGraphicFramePr>
            <a:graphicFrameLocks noGrp="1"/>
          </p:cNvGraphicFramePr>
          <p:nvPr>
            <p:extLst>
              <p:ext uri="{D42A27DB-BD31-4B8C-83A1-F6EECF244321}">
                <p14:modId xmlns:p14="http://schemas.microsoft.com/office/powerpoint/2010/main" val="2321418125"/>
              </p:ext>
            </p:extLst>
          </p:nvPr>
        </p:nvGraphicFramePr>
        <p:xfrm>
          <a:off x="704338" y="1834229"/>
          <a:ext cx="8095785" cy="4656926"/>
        </p:xfrm>
        <a:graphic>
          <a:graphicData uri="http://schemas.openxmlformats.org/drawingml/2006/table">
            <a:tbl>
              <a:tblPr firstRow="1" bandRow="1">
                <a:tableStyleId>{5FD0F851-EC5A-4D38-B0AD-8093EC10F338}</a:tableStyleId>
              </a:tblPr>
              <a:tblGrid>
                <a:gridCol w="2743201">
                  <a:extLst>
                    <a:ext uri="{9D8B030D-6E8A-4147-A177-3AD203B41FA5}">
                      <a16:colId xmlns:a16="http://schemas.microsoft.com/office/drawing/2014/main" val="371905260"/>
                    </a:ext>
                  </a:extLst>
                </a:gridCol>
                <a:gridCol w="2646555">
                  <a:extLst>
                    <a:ext uri="{9D8B030D-6E8A-4147-A177-3AD203B41FA5}">
                      <a16:colId xmlns:a16="http://schemas.microsoft.com/office/drawing/2014/main" val="3594781898"/>
                    </a:ext>
                  </a:extLst>
                </a:gridCol>
                <a:gridCol w="2706029">
                  <a:extLst>
                    <a:ext uri="{9D8B030D-6E8A-4147-A177-3AD203B41FA5}">
                      <a16:colId xmlns:a16="http://schemas.microsoft.com/office/drawing/2014/main" val="828710896"/>
                    </a:ext>
                  </a:extLst>
                </a:gridCol>
              </a:tblGrid>
              <a:tr h="262247">
                <a:tc>
                  <a:txBody>
                    <a:bodyPr/>
                    <a:lstStyle/>
                    <a:p>
                      <a:r>
                        <a:rPr lang="en-IN" b="1" dirty="0"/>
                        <a:t>Paper</a:t>
                      </a:r>
                    </a:p>
                  </a:txBody>
                  <a:tcPr/>
                </a:tc>
                <a:tc>
                  <a:txBody>
                    <a:bodyPr/>
                    <a:lstStyle/>
                    <a:p>
                      <a:r>
                        <a:rPr lang="en-IN" b="1" dirty="0"/>
                        <a:t>Features and System</a:t>
                      </a:r>
                    </a:p>
                  </a:txBody>
                  <a:tcPr/>
                </a:tc>
                <a:tc>
                  <a:txBody>
                    <a:bodyPr/>
                    <a:lstStyle/>
                    <a:p>
                      <a:r>
                        <a:rPr lang="en-IN" b="1" dirty="0"/>
                        <a:t>Limitations</a:t>
                      </a:r>
                    </a:p>
                  </a:txBody>
                  <a:tcPr/>
                </a:tc>
                <a:extLst>
                  <a:ext uri="{0D108BD9-81ED-4DB2-BD59-A6C34878D82A}">
                    <a16:rowId xmlns:a16="http://schemas.microsoft.com/office/drawing/2014/main" val="278186099"/>
                  </a:ext>
                </a:extLst>
              </a:tr>
              <a:tr h="753121">
                <a:tc>
                  <a:txBody>
                    <a:bodyPr/>
                    <a:lstStyle/>
                    <a:p>
                      <a:r>
                        <a:rPr lang="en-US" sz="1000" b="0" kern="1200" dirty="0" err="1">
                          <a:solidFill>
                            <a:srgbClr val="000000"/>
                          </a:solidFill>
                          <a:effectLst/>
                        </a:rPr>
                        <a:t>Netinant</a:t>
                      </a:r>
                      <a:r>
                        <a:rPr lang="en-US" sz="1000" b="0" kern="1200" dirty="0">
                          <a:solidFill>
                            <a:srgbClr val="000000"/>
                          </a:solidFill>
                          <a:effectLst/>
                        </a:rPr>
                        <a:t>, P.; </a:t>
                      </a:r>
                      <a:r>
                        <a:rPr lang="en-US" sz="1000" b="0" kern="1200" dirty="0" err="1">
                          <a:solidFill>
                            <a:srgbClr val="000000"/>
                          </a:solidFill>
                          <a:effectLst/>
                        </a:rPr>
                        <a:t>Utsanok</a:t>
                      </a:r>
                      <a:r>
                        <a:rPr lang="en-US" sz="1000" b="0" kern="1200" dirty="0">
                          <a:solidFill>
                            <a:srgbClr val="000000"/>
                          </a:solidFill>
                          <a:effectLst/>
                        </a:rPr>
                        <a:t>, T.; </a:t>
                      </a:r>
                      <a:r>
                        <a:rPr lang="en-US" sz="1000" b="0" kern="1200" dirty="0" err="1">
                          <a:solidFill>
                            <a:srgbClr val="000000"/>
                          </a:solidFill>
                          <a:effectLst/>
                        </a:rPr>
                        <a:t>Rukhiran</a:t>
                      </a:r>
                      <a:r>
                        <a:rPr lang="en-US" sz="1000" b="0" kern="1200" dirty="0">
                          <a:solidFill>
                            <a:srgbClr val="000000"/>
                          </a:solidFill>
                          <a:effectLst/>
                        </a:rPr>
                        <a:t>, M.; </a:t>
                      </a:r>
                      <a:r>
                        <a:rPr lang="en-US" sz="1000" b="0" kern="1200" dirty="0" err="1">
                          <a:solidFill>
                            <a:srgbClr val="000000"/>
                          </a:solidFill>
                          <a:effectLst/>
                        </a:rPr>
                        <a:t>Klongdee</a:t>
                      </a:r>
                      <a:r>
                        <a:rPr lang="en-US" sz="1000" b="0" kern="1200" dirty="0">
                          <a:solidFill>
                            <a:srgbClr val="000000"/>
                          </a:solidFill>
                          <a:effectLst/>
                        </a:rPr>
                        <a:t>, S. Development and Assessment of Internet of Things-Driven Smart Home Security and Automation with Voice Commands. IoT 2024, 5, 79-99. </a:t>
                      </a:r>
                      <a:r>
                        <a:rPr lang="en-US" sz="1000" b="0" kern="1200" dirty="0">
                          <a:solidFill>
                            <a:srgbClr val="000000"/>
                          </a:solidFill>
                          <a:effectLst/>
                          <a:hlinkClick r:id="rId2"/>
                        </a:rPr>
                        <a:t>https://doi.org/10.3390/iot5010005</a:t>
                      </a:r>
                      <a:endParaRPr lang="en-US" sz="1000" b="0" kern="1200" dirty="0">
                        <a:solidFill>
                          <a:srgbClr val="000000"/>
                        </a:solidFill>
                        <a:effectLst/>
                      </a:endParaRPr>
                    </a:p>
                    <a:p>
                      <a:endParaRPr lang="en-IN" sz="1000" dirty="0"/>
                    </a:p>
                  </a:txBody>
                  <a:tcPr/>
                </a:tc>
                <a:tc>
                  <a:txBody>
                    <a:bodyPr/>
                    <a:lstStyle/>
                    <a:p>
                      <a:r>
                        <a:rPr lang="en-IN" sz="1100" dirty="0"/>
                        <a:t>Voice Command Integration, PIR Sensor-Based Intrusion Detection, Mobile Application Control</a:t>
                      </a:r>
                    </a:p>
                  </a:txBody>
                  <a:tcPr/>
                </a:tc>
                <a:tc>
                  <a:txBody>
                    <a:bodyPr/>
                    <a:lstStyle/>
                    <a:p>
                      <a:r>
                        <a:rPr lang="en-US" sz="1200" b="0" dirty="0"/>
                        <a:t>Dependence on Wireless Network Connectivity,</a:t>
                      </a:r>
                      <a:r>
                        <a:rPr lang="en-IN" sz="1200" b="1" dirty="0"/>
                        <a:t> </a:t>
                      </a:r>
                      <a:r>
                        <a:rPr lang="en-IN" sz="1200" b="0" dirty="0"/>
                        <a:t>Voice Recognition </a:t>
                      </a:r>
                      <a:r>
                        <a:rPr lang="en-IN" sz="1200" dirty="0"/>
                        <a:t>Authenticity</a:t>
                      </a:r>
                      <a:endParaRPr lang="en-IN" sz="1200" b="0" dirty="0"/>
                    </a:p>
                  </a:txBody>
                  <a:tcPr/>
                </a:tc>
                <a:extLst>
                  <a:ext uri="{0D108BD9-81ED-4DB2-BD59-A6C34878D82A}">
                    <a16:rowId xmlns:a16="http://schemas.microsoft.com/office/drawing/2014/main" val="67502284"/>
                  </a:ext>
                </a:extLst>
              </a:tr>
              <a:tr h="685878">
                <a:tc>
                  <a:txBody>
                    <a:bodyPr/>
                    <a:lstStyle/>
                    <a:p>
                      <a:r>
                        <a:rPr lang="en-IN" sz="900" dirty="0"/>
                        <a:t>N. Prathima, P. Sai Kumar, SK. Lal Ahmed and G. Chakradhar,, “Voice Recognition Based Home Automation System for Paralyzed People”, International Journal for Modern Trends in Science and Technology, Vol. 03, Special Issue 02, 2017, pp. 101-106. </a:t>
                      </a:r>
                    </a:p>
                    <a:p>
                      <a:endParaRPr lang="en-IN" sz="900" dirty="0"/>
                    </a:p>
                  </a:txBody>
                  <a:tcPr/>
                </a:tc>
                <a:tc>
                  <a:txBody>
                    <a:bodyPr/>
                    <a:lstStyle/>
                    <a:p>
                      <a:r>
                        <a:rPr lang="en-US" sz="1000" dirty="0"/>
                        <a:t>Voice-Controlled Home Automation wheel chair Control via Voice Commands Design Messaging System,</a:t>
                      </a:r>
                    </a:p>
                    <a:p>
                      <a:r>
                        <a:rPr lang="en-US" sz="1000" dirty="0"/>
                        <a:t>Assistive Technology for Independence</a:t>
                      </a:r>
                      <a:endParaRPr lang="en-IN" sz="1000" dirty="0"/>
                    </a:p>
                  </a:txBody>
                  <a:tcPr/>
                </a:tc>
                <a:tc>
                  <a:txBody>
                    <a:bodyPr/>
                    <a:lstStyle/>
                    <a:p>
                      <a:r>
                        <a:rPr lang="en-US" sz="1050" b="0" dirty="0"/>
                        <a:t>Limited Functionality in Power Outages,</a:t>
                      </a:r>
                      <a:r>
                        <a:rPr lang="en-IN" sz="1050" b="0" dirty="0"/>
                        <a:t> Limited Device Compatibility,</a:t>
                      </a:r>
                      <a:r>
                        <a:rPr lang="en-IN" sz="1050" dirty="0"/>
                        <a:t> Initial Setup Complexity</a:t>
                      </a:r>
                      <a:endParaRPr lang="en-IN" sz="1050" b="0" dirty="0"/>
                    </a:p>
                  </a:txBody>
                  <a:tcPr/>
                </a:tc>
                <a:extLst>
                  <a:ext uri="{0D108BD9-81ED-4DB2-BD59-A6C34878D82A}">
                    <a16:rowId xmlns:a16="http://schemas.microsoft.com/office/drawing/2014/main" val="567760545"/>
                  </a:ext>
                </a:extLst>
              </a:tr>
              <a:tr h="795302">
                <a:tc>
                  <a:txBody>
                    <a:bodyPr/>
                    <a:lstStyle/>
                    <a:p>
                      <a:r>
                        <a:rPr lang="en-IN" sz="900" b="0" kern="1200" dirty="0">
                          <a:solidFill>
                            <a:srgbClr val="000000"/>
                          </a:solidFill>
                          <a:effectLst/>
                        </a:rPr>
                        <a:t>S. Das, S. Ganguly, S. Ghosh, R. Sarker and D. Sengupta, "A </a:t>
                      </a:r>
                      <a:r>
                        <a:rPr lang="en-IN" sz="900" b="0" kern="1200" dirty="0" err="1">
                          <a:solidFill>
                            <a:srgbClr val="000000"/>
                          </a:solidFill>
                          <a:effectLst/>
                        </a:rPr>
                        <a:t>bluetooth</a:t>
                      </a:r>
                      <a:r>
                        <a:rPr lang="en-IN" sz="900" b="0" kern="1200" dirty="0">
                          <a:solidFill>
                            <a:srgbClr val="000000"/>
                          </a:solidFill>
                          <a:effectLst/>
                        </a:rPr>
                        <a:t> based sophisticated home automation system using smartphone," 2016 International Conference on Intelligent Control Power and Instrumentation (ICICPI), 2016, pp. 236-240, </a:t>
                      </a:r>
                      <a:r>
                        <a:rPr lang="en-IN" sz="900" b="0" kern="1200" dirty="0" err="1">
                          <a:solidFill>
                            <a:srgbClr val="000000"/>
                          </a:solidFill>
                          <a:effectLst/>
                        </a:rPr>
                        <a:t>doi</a:t>
                      </a:r>
                      <a:r>
                        <a:rPr lang="en-IN" sz="900" b="0" kern="1200" dirty="0">
                          <a:solidFill>
                            <a:srgbClr val="000000"/>
                          </a:solidFill>
                          <a:effectLst/>
                        </a:rPr>
                        <a:t>: 10.1109/ICICPI.2016.7859709.</a:t>
                      </a:r>
                      <a:br>
                        <a:rPr lang="en-IN" sz="1000" dirty="0"/>
                      </a:br>
                      <a:endParaRPr lang="en-IN" sz="1000" dirty="0"/>
                    </a:p>
                  </a:txBody>
                  <a:tcPr/>
                </a:tc>
                <a:tc>
                  <a:txBody>
                    <a:bodyPr/>
                    <a:lstStyle/>
                    <a:p>
                      <a:r>
                        <a:rPr lang="en-IN" sz="1000" dirty="0"/>
                        <a:t>Smart Home Automation, Arduino-Based, Android App Control, Device Control Bluetooth,   Communication</a:t>
                      </a:r>
                    </a:p>
                  </a:txBody>
                  <a:tcPr/>
                </a:tc>
                <a:tc>
                  <a:txBody>
                    <a:bodyPr/>
                    <a:lstStyle/>
                    <a:p>
                      <a:r>
                        <a:rPr lang="en-IN" sz="1050" dirty="0"/>
                        <a:t>Dependency on Cell Phone, Compatibility issues, Limited Processing Power, Prototype Limitation, Memory Constraints</a:t>
                      </a:r>
                    </a:p>
                  </a:txBody>
                  <a:tcPr/>
                </a:tc>
                <a:extLst>
                  <a:ext uri="{0D108BD9-81ED-4DB2-BD59-A6C34878D82A}">
                    <a16:rowId xmlns:a16="http://schemas.microsoft.com/office/drawing/2014/main" val="2737543310"/>
                  </a:ext>
                </a:extLst>
              </a:tr>
              <a:tr h="1166966">
                <a:tc>
                  <a:txBody>
                    <a:bodyPr/>
                    <a:lstStyle/>
                    <a:p>
                      <a:r>
                        <a:rPr lang="en-IN" sz="900" b="0" i="0" kern="1200" dirty="0">
                          <a:solidFill>
                            <a:schemeClr val="tx1"/>
                          </a:solidFill>
                          <a:effectLst/>
                          <a:latin typeface="+mn-lt"/>
                          <a:ea typeface="+mn-ea"/>
                          <a:cs typeface="+mn-cs"/>
                        </a:rPr>
                        <a:t>M. S. </a:t>
                      </a:r>
                      <a:r>
                        <a:rPr lang="en-IN" sz="900" b="0" i="0" kern="1200" dirty="0" err="1">
                          <a:solidFill>
                            <a:schemeClr val="tx1"/>
                          </a:solidFill>
                          <a:effectLst/>
                          <a:latin typeface="+mn-lt"/>
                          <a:ea typeface="+mn-ea"/>
                          <a:cs typeface="+mn-cs"/>
                        </a:rPr>
                        <a:t>Mahamud</a:t>
                      </a:r>
                      <a:r>
                        <a:rPr lang="en-IN" sz="900" b="0" i="0" kern="1200" dirty="0">
                          <a:solidFill>
                            <a:schemeClr val="tx1"/>
                          </a:solidFill>
                          <a:effectLst/>
                          <a:latin typeface="+mn-lt"/>
                          <a:ea typeface="+mn-ea"/>
                          <a:cs typeface="+mn-cs"/>
                        </a:rPr>
                        <a:t>, M. S. R. Zishan, S. I. Ahmad, A. R. Rahman, M. Hasan and M. L. Rahman, "Domicile - An IoT Based Smart Home Automation System," </a:t>
                      </a:r>
                      <a:r>
                        <a:rPr lang="en-IN" sz="900" b="0" i="1" kern="1200" dirty="0">
                          <a:solidFill>
                            <a:schemeClr val="tx1"/>
                          </a:solidFill>
                          <a:effectLst/>
                          <a:latin typeface="+mn-lt"/>
                          <a:ea typeface="+mn-ea"/>
                          <a:cs typeface="+mn-cs"/>
                        </a:rPr>
                        <a:t>2019 International Conference on </a:t>
                      </a:r>
                      <a:r>
                        <a:rPr lang="en-IN" sz="900" b="0" i="1" kern="1200" dirty="0" err="1">
                          <a:solidFill>
                            <a:schemeClr val="tx1"/>
                          </a:solidFill>
                          <a:effectLst/>
                          <a:latin typeface="+mn-lt"/>
                          <a:ea typeface="+mn-ea"/>
                          <a:cs typeface="+mn-cs"/>
                        </a:rPr>
                        <a:t>Robotics,Electrical</a:t>
                      </a:r>
                      <a:r>
                        <a:rPr lang="en-IN" sz="900" b="0" i="1" kern="1200" dirty="0">
                          <a:solidFill>
                            <a:schemeClr val="tx1"/>
                          </a:solidFill>
                          <a:effectLst/>
                          <a:latin typeface="+mn-lt"/>
                          <a:ea typeface="+mn-ea"/>
                          <a:cs typeface="+mn-cs"/>
                        </a:rPr>
                        <a:t> and Signal Processing Techniques (ICREST)</a:t>
                      </a:r>
                      <a:r>
                        <a:rPr lang="en-IN" sz="900" b="0" i="0" kern="1200" dirty="0">
                          <a:solidFill>
                            <a:schemeClr val="tx1"/>
                          </a:solidFill>
                          <a:effectLst/>
                          <a:latin typeface="+mn-lt"/>
                          <a:ea typeface="+mn-ea"/>
                          <a:cs typeface="+mn-cs"/>
                        </a:rPr>
                        <a:t>, Dhaka, Bangladesh, 2019, pp. 493-497, </a:t>
                      </a:r>
                      <a:r>
                        <a:rPr lang="en-IN" sz="900" b="0" i="0" kern="1200" dirty="0" err="1">
                          <a:solidFill>
                            <a:schemeClr val="tx1"/>
                          </a:solidFill>
                          <a:effectLst/>
                          <a:latin typeface="+mn-lt"/>
                          <a:ea typeface="+mn-ea"/>
                          <a:cs typeface="+mn-cs"/>
                        </a:rPr>
                        <a:t>doi</a:t>
                      </a:r>
                      <a:r>
                        <a:rPr lang="en-IN" sz="900" b="0" i="0" kern="1200" dirty="0">
                          <a:solidFill>
                            <a:schemeClr val="tx1"/>
                          </a:solidFill>
                          <a:effectLst/>
                          <a:latin typeface="+mn-lt"/>
                          <a:ea typeface="+mn-ea"/>
                          <a:cs typeface="+mn-cs"/>
                        </a:rPr>
                        <a:t>: 10.1109/ICREST.2019.8644349.</a:t>
                      </a:r>
                      <a:endParaRPr lang="en-IN" sz="900" dirty="0"/>
                    </a:p>
                  </a:txBody>
                  <a:tcPr/>
                </a:tc>
                <a:tc>
                  <a:txBody>
                    <a:bodyPr/>
                    <a:lstStyle/>
                    <a:p>
                      <a:r>
                        <a:rPr lang="it-IT" sz="1050" dirty="0"/>
                        <a:t>Arduino UNO-Based System,Wi-Fi Connectivity via ESP32 Module,</a:t>
                      </a:r>
                      <a:r>
                        <a:rPr lang="en-US" sz="1050" dirty="0"/>
                        <a:t> Edge and Fog Computing Architecture,</a:t>
                      </a:r>
                      <a:r>
                        <a:rPr lang="en-IN" sz="1050" dirty="0"/>
                        <a:t> Simulation and Hardware Prototyping</a:t>
                      </a:r>
                    </a:p>
                  </a:txBody>
                  <a:tcPr/>
                </a:tc>
                <a:tc>
                  <a:txBody>
                    <a:bodyPr/>
                    <a:lstStyle/>
                    <a:p>
                      <a:r>
                        <a:rPr lang="en-US" sz="1000" dirty="0"/>
                        <a:t>Limited Processing Power of Arduino UNO, Complex Setup for Edge and Fog Computing,</a:t>
                      </a:r>
                      <a:r>
                        <a:rPr lang="en-IN" sz="1000" dirty="0"/>
                        <a:t> Memory Constraints</a:t>
                      </a:r>
                    </a:p>
                  </a:txBody>
                  <a:tcPr/>
                </a:tc>
                <a:extLst>
                  <a:ext uri="{0D108BD9-81ED-4DB2-BD59-A6C34878D82A}">
                    <a16:rowId xmlns:a16="http://schemas.microsoft.com/office/drawing/2014/main" val="121251348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03D45-249B-C16D-5589-7E9B05242A0C}"/>
              </a:ext>
            </a:extLst>
          </p:cNvPr>
          <p:cNvSpPr>
            <a:spLocks noGrp="1"/>
          </p:cNvSpPr>
          <p:nvPr>
            <p:ph type="title"/>
          </p:nvPr>
        </p:nvSpPr>
        <p:spPr>
          <a:xfrm>
            <a:off x="822325" y="810704"/>
            <a:ext cx="7284727" cy="942682"/>
          </a:xfrm>
        </p:spPr>
        <p:txBody>
          <a:bodyPr>
            <a:normAutofit/>
          </a:bodyPr>
          <a:lstStyle/>
          <a:p>
            <a:r>
              <a:rPr lang="en-IN" sz="2000" b="1" dirty="0">
                <a:solidFill>
                  <a:schemeClr val="accent2"/>
                </a:solidFill>
                <a:latin typeface="Times New Roman" panose="02020603050405020304" pitchFamily="18" charset="0"/>
                <a:cs typeface="Times New Roman" panose="02020603050405020304" pitchFamily="18" charset="0"/>
              </a:rPr>
              <a:t>Background / Literature Review:</a:t>
            </a:r>
            <a:endParaRPr lang="en-IN" sz="2000" dirty="0"/>
          </a:p>
        </p:txBody>
      </p:sp>
      <p:graphicFrame>
        <p:nvGraphicFramePr>
          <p:cNvPr id="6" name="Content Placeholder 5">
            <a:extLst>
              <a:ext uri="{FF2B5EF4-FFF2-40B4-BE49-F238E27FC236}">
                <a16:creationId xmlns:a16="http://schemas.microsoft.com/office/drawing/2014/main" id="{5B33842A-74BD-BBC9-5229-FCA973D8CC74}"/>
              </a:ext>
            </a:extLst>
          </p:cNvPr>
          <p:cNvGraphicFramePr>
            <a:graphicFrameLocks noGrp="1"/>
          </p:cNvGraphicFramePr>
          <p:nvPr>
            <p:ph idx="1"/>
          </p:nvPr>
        </p:nvGraphicFramePr>
        <p:xfrm>
          <a:off x="822325" y="1846263"/>
          <a:ext cx="8080917" cy="4358640"/>
        </p:xfrm>
        <a:graphic>
          <a:graphicData uri="http://schemas.openxmlformats.org/drawingml/2006/table">
            <a:tbl>
              <a:tblPr firstRow="1" bandRow="1">
                <a:tableStyleId>{5FD0F851-EC5A-4D38-B0AD-8093EC10F338}</a:tableStyleId>
              </a:tblPr>
              <a:tblGrid>
                <a:gridCol w="2728333">
                  <a:extLst>
                    <a:ext uri="{9D8B030D-6E8A-4147-A177-3AD203B41FA5}">
                      <a16:colId xmlns:a16="http://schemas.microsoft.com/office/drawing/2014/main" val="2294630512"/>
                    </a:ext>
                  </a:extLst>
                </a:gridCol>
                <a:gridCol w="2646555">
                  <a:extLst>
                    <a:ext uri="{9D8B030D-6E8A-4147-A177-3AD203B41FA5}">
                      <a16:colId xmlns:a16="http://schemas.microsoft.com/office/drawing/2014/main" val="2005453681"/>
                    </a:ext>
                  </a:extLst>
                </a:gridCol>
                <a:gridCol w="2706029">
                  <a:extLst>
                    <a:ext uri="{9D8B030D-6E8A-4147-A177-3AD203B41FA5}">
                      <a16:colId xmlns:a16="http://schemas.microsoft.com/office/drawing/2014/main" val="1509540870"/>
                    </a:ext>
                  </a:extLst>
                </a:gridCol>
              </a:tblGrid>
              <a:tr h="268920">
                <a:tc>
                  <a:txBody>
                    <a:bodyPr/>
                    <a:lstStyle/>
                    <a:p>
                      <a:r>
                        <a:rPr lang="en-IN" b="1" dirty="0"/>
                        <a:t>Paper</a:t>
                      </a:r>
                    </a:p>
                  </a:txBody>
                  <a:tcPr/>
                </a:tc>
                <a:tc>
                  <a:txBody>
                    <a:bodyPr/>
                    <a:lstStyle/>
                    <a:p>
                      <a:r>
                        <a:rPr lang="en-IN" b="1" dirty="0"/>
                        <a:t>Features and System</a:t>
                      </a:r>
                    </a:p>
                  </a:txBody>
                  <a:tcPr/>
                </a:tc>
                <a:tc>
                  <a:txBody>
                    <a:bodyPr/>
                    <a:lstStyle/>
                    <a:p>
                      <a:r>
                        <a:rPr lang="en-IN" b="1" dirty="0"/>
                        <a:t>Limitations</a:t>
                      </a:r>
                    </a:p>
                  </a:txBody>
                  <a:tcPr/>
                </a:tc>
                <a:extLst>
                  <a:ext uri="{0D108BD9-81ED-4DB2-BD59-A6C34878D82A}">
                    <a16:rowId xmlns:a16="http://schemas.microsoft.com/office/drawing/2014/main" val="3936026514"/>
                  </a:ext>
                </a:extLst>
              </a:tr>
              <a:tr h="910190">
                <a:tc>
                  <a:txBody>
                    <a:bodyPr/>
                    <a:lstStyle/>
                    <a:p>
                      <a:r>
                        <a:rPr lang="en-IN" sz="1000" dirty="0"/>
                        <a:t>Intelligent Scheduling of Smart Home Appliances Based on Demand Response Considering the Cost and Peak-to-Average Ratio in Residential Homes Nedim </a:t>
                      </a:r>
                      <a:r>
                        <a:rPr lang="en-IN" sz="1000" dirty="0" err="1"/>
                        <a:t>Tutkun</a:t>
                      </a:r>
                      <a:r>
                        <a:rPr lang="en-IN" sz="1000" dirty="0"/>
                        <a:t> 1 , Alessandro </a:t>
                      </a:r>
                      <a:r>
                        <a:rPr lang="en-IN" sz="1000" dirty="0" err="1"/>
                        <a:t>Burgio</a:t>
                      </a:r>
                      <a:r>
                        <a:rPr lang="en-IN" sz="1000" dirty="0"/>
                        <a:t> 2 , Michal </a:t>
                      </a:r>
                      <a:r>
                        <a:rPr lang="en-IN" sz="1000" dirty="0" err="1"/>
                        <a:t>Jasinski</a:t>
                      </a:r>
                      <a:r>
                        <a:rPr lang="en-IN" sz="1000" dirty="0"/>
                        <a:t> 3,* , Zbigniew </a:t>
                      </a:r>
                      <a:r>
                        <a:rPr lang="en-IN" sz="1000" dirty="0" err="1"/>
                        <a:t>Leonowicz</a:t>
                      </a:r>
                      <a:r>
                        <a:rPr lang="en-IN" sz="1000" dirty="0"/>
                        <a:t> 3 and </a:t>
                      </a:r>
                      <a:r>
                        <a:rPr lang="en-IN" sz="1000" dirty="0" err="1"/>
                        <a:t>Elzbieta</a:t>
                      </a:r>
                      <a:r>
                        <a:rPr lang="en-IN" sz="1000" dirty="0"/>
                        <a:t> </a:t>
                      </a:r>
                      <a:r>
                        <a:rPr lang="en-IN" sz="1000" dirty="0" err="1"/>
                        <a:t>Jasinska</a:t>
                      </a:r>
                      <a:r>
                        <a:rPr lang="en-IN" sz="1000" dirty="0"/>
                        <a:t> 4</a:t>
                      </a:r>
                    </a:p>
                  </a:txBody>
                  <a:tcPr/>
                </a:tc>
                <a:tc>
                  <a:txBody>
                    <a:bodyPr/>
                    <a:lstStyle/>
                    <a:p>
                      <a:r>
                        <a:rPr lang="en-IN" sz="1100" dirty="0"/>
                        <a:t>Smart Grid Integration, Metaheuristic Techniques, Feasibility for Wide-Range Applications, Repeated Execution</a:t>
                      </a:r>
                    </a:p>
                  </a:txBody>
                  <a:tcPr/>
                </a:tc>
                <a:tc>
                  <a:txBody>
                    <a:bodyPr/>
                    <a:lstStyle/>
                    <a:p>
                      <a:r>
                        <a:rPr lang="en-IN" sz="1050" b="0" dirty="0"/>
                        <a:t>Complexity of Multi-Objective Optimization, Feasibility for Wide-Range Applications, Repeated Execution Requirement</a:t>
                      </a:r>
                    </a:p>
                  </a:txBody>
                  <a:tcPr/>
                </a:tc>
                <a:extLst>
                  <a:ext uri="{0D108BD9-81ED-4DB2-BD59-A6C34878D82A}">
                    <a16:rowId xmlns:a16="http://schemas.microsoft.com/office/drawing/2014/main" val="412795317"/>
                  </a:ext>
                </a:extLst>
              </a:tr>
              <a:tr h="786073">
                <a:tc>
                  <a:txBody>
                    <a:bodyPr/>
                    <a:lstStyle/>
                    <a:p>
                      <a:r>
                        <a:rPr lang="en-US" sz="1050" dirty="0"/>
                        <a:t>Energy Prediction and Optimization for Smart Homes with Weather Metric-Weight Coefficients Asif Mehmood 1 , Kyu-Tae Lee 1,* and Do-</a:t>
                      </a:r>
                      <a:r>
                        <a:rPr lang="en-US" sz="1050" dirty="0" err="1"/>
                        <a:t>Hyeun</a:t>
                      </a:r>
                      <a:r>
                        <a:rPr lang="en-US" sz="1050" dirty="0"/>
                        <a:t> Kim 2</a:t>
                      </a:r>
                      <a:endParaRPr lang="en-IN" sz="1050" dirty="0"/>
                    </a:p>
                    <a:p>
                      <a:endParaRPr lang="en-IN" sz="900" dirty="0"/>
                    </a:p>
                  </a:txBody>
                  <a:tcPr/>
                </a:tc>
                <a:tc>
                  <a:txBody>
                    <a:bodyPr/>
                    <a:lstStyle/>
                    <a:p>
                      <a:r>
                        <a:rPr lang="en-US" sz="1000" dirty="0"/>
                        <a:t>Voice-Controlled Home Automation wheel chair Control via Voice Commands Design Messaging System,</a:t>
                      </a:r>
                    </a:p>
                    <a:p>
                      <a:r>
                        <a:rPr lang="en-US" sz="1000" dirty="0"/>
                        <a:t>Assistive Technology for Independence</a:t>
                      </a:r>
                      <a:endParaRPr lang="en-IN" sz="1000" dirty="0"/>
                    </a:p>
                  </a:txBody>
                  <a:tcPr/>
                </a:tc>
                <a:tc>
                  <a:txBody>
                    <a:bodyPr/>
                    <a:lstStyle/>
                    <a:p>
                      <a:r>
                        <a:rPr lang="en-US" sz="1050" b="0" dirty="0"/>
                        <a:t>Limited Functionality in Power Outages,</a:t>
                      </a:r>
                      <a:r>
                        <a:rPr lang="en-IN" sz="1050" b="0" dirty="0"/>
                        <a:t> Limited Device Compatibility,</a:t>
                      </a:r>
                      <a:r>
                        <a:rPr lang="en-IN" sz="1050" dirty="0"/>
                        <a:t> Initial Setup Complexity</a:t>
                      </a:r>
                      <a:endParaRPr lang="en-IN" sz="1050" b="0" dirty="0"/>
                    </a:p>
                  </a:txBody>
                  <a:tcPr/>
                </a:tc>
                <a:extLst>
                  <a:ext uri="{0D108BD9-81ED-4DB2-BD59-A6C34878D82A}">
                    <a16:rowId xmlns:a16="http://schemas.microsoft.com/office/drawing/2014/main" val="4139145406"/>
                  </a:ext>
                </a:extLst>
              </a:tr>
              <a:tr h="965353">
                <a:tc>
                  <a:txBody>
                    <a:bodyPr/>
                    <a:lstStyle/>
                    <a:p>
                      <a:r>
                        <a:rPr lang="en-IN" sz="900" b="0" kern="1200" dirty="0">
                          <a:solidFill>
                            <a:srgbClr val="000000"/>
                          </a:solidFill>
                          <a:effectLst/>
                        </a:rPr>
                        <a:t>S. Das, S. Ganguly, S. Ghosh, R. Sarker and D. Sengupta, "A </a:t>
                      </a:r>
                      <a:r>
                        <a:rPr lang="en-IN" sz="900" b="0" kern="1200" dirty="0" err="1">
                          <a:solidFill>
                            <a:srgbClr val="000000"/>
                          </a:solidFill>
                          <a:effectLst/>
                        </a:rPr>
                        <a:t>bluetooth</a:t>
                      </a:r>
                      <a:r>
                        <a:rPr lang="en-IN" sz="900" b="0" kern="1200" dirty="0">
                          <a:solidFill>
                            <a:srgbClr val="000000"/>
                          </a:solidFill>
                          <a:effectLst/>
                        </a:rPr>
                        <a:t> based sophisticated home automation system using smartphone," 2016 International Conference on Intelligent Control Power and Instrumentation (ICICPI), 2016, pp. 236-240, </a:t>
                      </a:r>
                      <a:r>
                        <a:rPr lang="en-IN" sz="900" b="0" kern="1200" dirty="0" err="1">
                          <a:solidFill>
                            <a:srgbClr val="000000"/>
                          </a:solidFill>
                          <a:effectLst/>
                        </a:rPr>
                        <a:t>doi</a:t>
                      </a:r>
                      <a:r>
                        <a:rPr lang="en-IN" sz="900" b="0" kern="1200" dirty="0">
                          <a:solidFill>
                            <a:srgbClr val="000000"/>
                          </a:solidFill>
                          <a:effectLst/>
                        </a:rPr>
                        <a:t>: 10.1109/ICICPI.2016.7859709.</a:t>
                      </a:r>
                      <a:br>
                        <a:rPr lang="en-IN" sz="1000" dirty="0"/>
                      </a:br>
                      <a:endParaRPr lang="en-IN" sz="1000" dirty="0"/>
                    </a:p>
                  </a:txBody>
                  <a:tcPr/>
                </a:tc>
                <a:tc>
                  <a:txBody>
                    <a:bodyPr/>
                    <a:lstStyle/>
                    <a:p>
                      <a:r>
                        <a:rPr lang="en-IN" sz="1000" dirty="0"/>
                        <a:t>Hybrid Optimization Approach, Proactive Energy Optimization, Optimized Indoor Setting,</a:t>
                      </a:r>
                    </a:p>
                    <a:p>
                      <a:r>
                        <a:rPr lang="en-US" sz="1000" dirty="0"/>
                        <a:t>Inclusion of Additional Weather Metrics</a:t>
                      </a:r>
                      <a:endParaRPr lang="en-IN" sz="1000" dirty="0"/>
                    </a:p>
                  </a:txBody>
                  <a:tcPr/>
                </a:tc>
                <a:tc>
                  <a:txBody>
                    <a:bodyPr/>
                    <a:lstStyle/>
                    <a:p>
                      <a:r>
                        <a:rPr lang="en-IN" sz="1050" dirty="0"/>
                        <a:t>Complex Optimization Trade-offs, Hybrid Approach Complexity, Seasonal and Monthly Variations, User Adaptability</a:t>
                      </a:r>
                    </a:p>
                  </a:txBody>
                  <a:tcPr/>
                </a:tc>
                <a:extLst>
                  <a:ext uri="{0D108BD9-81ED-4DB2-BD59-A6C34878D82A}">
                    <a16:rowId xmlns:a16="http://schemas.microsoft.com/office/drawing/2014/main" val="2282633772"/>
                  </a:ext>
                </a:extLst>
              </a:tr>
              <a:tr h="827445">
                <a:tc>
                  <a:txBody>
                    <a:bodyPr/>
                    <a:lstStyle/>
                    <a:p>
                      <a:r>
                        <a:rPr lang="en-IN" sz="900" b="0" i="0" kern="1200" dirty="0">
                          <a:solidFill>
                            <a:schemeClr val="tx1"/>
                          </a:solidFill>
                          <a:effectLst/>
                          <a:latin typeface="+mn-lt"/>
                          <a:ea typeface="+mn-ea"/>
                          <a:cs typeface="+mn-cs"/>
                        </a:rPr>
                        <a:t>M. S. </a:t>
                      </a:r>
                      <a:r>
                        <a:rPr lang="en-IN" sz="900" b="0" i="0" kern="1200" dirty="0" err="1">
                          <a:solidFill>
                            <a:schemeClr val="tx1"/>
                          </a:solidFill>
                          <a:effectLst/>
                          <a:latin typeface="+mn-lt"/>
                          <a:ea typeface="+mn-ea"/>
                          <a:cs typeface="+mn-cs"/>
                        </a:rPr>
                        <a:t>Mahamud</a:t>
                      </a:r>
                      <a:r>
                        <a:rPr lang="en-IN" sz="900" b="0" i="0" kern="1200" dirty="0">
                          <a:solidFill>
                            <a:schemeClr val="tx1"/>
                          </a:solidFill>
                          <a:effectLst/>
                          <a:latin typeface="+mn-lt"/>
                          <a:ea typeface="+mn-ea"/>
                          <a:cs typeface="+mn-cs"/>
                        </a:rPr>
                        <a:t>, M. S. R. Zishan, S. I. Ahmad, A. R. Rahman, M. Hasan and M. L. Rahman, "Domicile - An IoT Based Smart Home Automation System," </a:t>
                      </a:r>
                      <a:r>
                        <a:rPr lang="en-IN" sz="900" b="0" i="1" kern="1200" dirty="0">
                          <a:solidFill>
                            <a:schemeClr val="tx1"/>
                          </a:solidFill>
                          <a:effectLst/>
                          <a:latin typeface="+mn-lt"/>
                          <a:ea typeface="+mn-ea"/>
                          <a:cs typeface="+mn-cs"/>
                        </a:rPr>
                        <a:t>2019 International Conference on </a:t>
                      </a:r>
                      <a:r>
                        <a:rPr lang="en-IN" sz="900" b="0" i="1" kern="1200" dirty="0" err="1">
                          <a:solidFill>
                            <a:schemeClr val="tx1"/>
                          </a:solidFill>
                          <a:effectLst/>
                          <a:latin typeface="+mn-lt"/>
                          <a:ea typeface="+mn-ea"/>
                          <a:cs typeface="+mn-cs"/>
                        </a:rPr>
                        <a:t>Robotics,Electrical</a:t>
                      </a:r>
                      <a:r>
                        <a:rPr lang="en-IN" sz="900" b="0" i="1" kern="1200" dirty="0">
                          <a:solidFill>
                            <a:schemeClr val="tx1"/>
                          </a:solidFill>
                          <a:effectLst/>
                          <a:latin typeface="+mn-lt"/>
                          <a:ea typeface="+mn-ea"/>
                          <a:cs typeface="+mn-cs"/>
                        </a:rPr>
                        <a:t> and Signal Processing Techniques (ICREST)</a:t>
                      </a:r>
                      <a:r>
                        <a:rPr lang="en-IN" sz="900" b="0" i="0" kern="1200" dirty="0">
                          <a:solidFill>
                            <a:schemeClr val="tx1"/>
                          </a:solidFill>
                          <a:effectLst/>
                          <a:latin typeface="+mn-lt"/>
                          <a:ea typeface="+mn-ea"/>
                          <a:cs typeface="+mn-cs"/>
                        </a:rPr>
                        <a:t>, Dhaka, Bangladesh, 2019, pp. 493-497, </a:t>
                      </a:r>
                      <a:r>
                        <a:rPr lang="en-IN" sz="900" b="0" i="0" kern="1200" dirty="0" err="1">
                          <a:solidFill>
                            <a:schemeClr val="tx1"/>
                          </a:solidFill>
                          <a:effectLst/>
                          <a:latin typeface="+mn-lt"/>
                          <a:ea typeface="+mn-ea"/>
                          <a:cs typeface="+mn-cs"/>
                        </a:rPr>
                        <a:t>doi</a:t>
                      </a:r>
                      <a:r>
                        <a:rPr lang="en-IN" sz="900" b="0" i="0" kern="1200" dirty="0">
                          <a:solidFill>
                            <a:schemeClr val="tx1"/>
                          </a:solidFill>
                          <a:effectLst/>
                          <a:latin typeface="+mn-lt"/>
                          <a:ea typeface="+mn-ea"/>
                          <a:cs typeface="+mn-cs"/>
                        </a:rPr>
                        <a:t>: 10.1109/ICREST.2019.8644349.</a:t>
                      </a:r>
                      <a:endParaRPr lang="en-IN" sz="900" dirty="0"/>
                    </a:p>
                  </a:txBody>
                  <a:tcPr/>
                </a:tc>
                <a:tc>
                  <a:txBody>
                    <a:bodyPr/>
                    <a:lstStyle/>
                    <a:p>
                      <a:pPr algn="l"/>
                      <a:r>
                        <a:rPr lang="en-US" sz="1050" dirty="0"/>
                        <a:t>Edge and Fog Computing Architecture, </a:t>
                      </a:r>
                      <a:r>
                        <a:rPr lang="it-IT" sz="1050" dirty="0"/>
                        <a:t>Arduino UNO-Based System,Wi-Fi Connectivity via ESP32 Module</a:t>
                      </a:r>
                      <a:r>
                        <a:rPr lang="en-US" sz="1050" dirty="0"/>
                        <a:t>,</a:t>
                      </a:r>
                      <a:r>
                        <a:rPr lang="en-IN" sz="1050" dirty="0"/>
                        <a:t> Simulation and Hardware Prototyping</a:t>
                      </a:r>
                    </a:p>
                  </a:txBody>
                  <a:tcPr/>
                </a:tc>
                <a:tc>
                  <a:txBody>
                    <a:bodyPr/>
                    <a:lstStyle/>
                    <a:p>
                      <a:r>
                        <a:rPr lang="en-US" sz="1000" dirty="0"/>
                        <a:t>Complex Setup for Edge and Fog Computing,</a:t>
                      </a:r>
                      <a:r>
                        <a:rPr lang="en-IN" sz="1000" dirty="0"/>
                        <a:t> Memory Constraints,</a:t>
                      </a:r>
                      <a:r>
                        <a:rPr lang="en-US" sz="1000" dirty="0"/>
                        <a:t> Limited Processing Power of Arduino UNO, </a:t>
                      </a:r>
                      <a:endParaRPr lang="en-IN" sz="1000" dirty="0"/>
                    </a:p>
                  </a:txBody>
                  <a:tcPr/>
                </a:tc>
                <a:extLst>
                  <a:ext uri="{0D108BD9-81ED-4DB2-BD59-A6C34878D82A}">
                    <a16:rowId xmlns:a16="http://schemas.microsoft.com/office/drawing/2014/main" val="1234769392"/>
                  </a:ext>
                </a:extLst>
              </a:tr>
            </a:tbl>
          </a:graphicData>
        </a:graphic>
      </p:graphicFrame>
    </p:spTree>
    <p:extLst>
      <p:ext uri="{BB962C8B-B14F-4D97-AF65-F5344CB8AC3E}">
        <p14:creationId xmlns:p14="http://schemas.microsoft.com/office/powerpoint/2010/main" val="2330479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1168570"/>
          </a:xfrm>
        </p:spPr>
        <p:txBody>
          <a:bodyPr>
            <a:normAutofit/>
          </a:bodyPr>
          <a:lstStyle/>
          <a:p>
            <a:r>
              <a:rPr sz="2000" b="1" dirty="0">
                <a:solidFill>
                  <a:schemeClr val="accent2"/>
                </a:solidFill>
                <a:latin typeface="Times New Roman" panose="02020603050405020304" pitchFamily="18" charset="0"/>
                <a:cs typeface="Times New Roman" panose="02020603050405020304" pitchFamily="18" charset="0"/>
              </a:rPr>
              <a:t>Methodology / Approach</a:t>
            </a:r>
            <a:r>
              <a:rPr lang="en-US" sz="2000" b="1" dirty="0">
                <a:solidFill>
                  <a:schemeClr val="accent2"/>
                </a:solidFill>
                <a:latin typeface="Times New Roman" panose="02020603050405020304" pitchFamily="18" charset="0"/>
                <a:cs typeface="Times New Roman" panose="02020603050405020304" pitchFamily="18" charset="0"/>
              </a:rPr>
              <a:t>:</a:t>
            </a:r>
            <a:endParaRPr sz="2000"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24637" y="1740311"/>
            <a:ext cx="7543801" cy="4522837"/>
          </a:xfrm>
        </p:spPr>
        <p:txBody>
          <a:bodyPr>
            <a:noAutofit/>
          </a:bodyPr>
          <a:lstStyle/>
          <a:p>
            <a:pPr lvl="1" algn="just">
              <a:buFont typeface="Wingdings" panose="05000000000000000000" pitchFamily="2" charset="2"/>
              <a:buChar char="Ø"/>
            </a:pPr>
            <a:r>
              <a:rPr lang="en-US" sz="1600" b="1" dirty="0"/>
              <a:t>1. Dual Operational Modes</a:t>
            </a:r>
          </a:p>
          <a:p>
            <a:pPr lvl="3" algn="just">
              <a:buFont typeface="Wingdings" panose="05000000000000000000" pitchFamily="2" charset="2"/>
              <a:buChar char="§"/>
            </a:pPr>
            <a:r>
              <a:rPr lang="en-US" sz="1600" dirty="0"/>
              <a:t>Manual Mode: Appliances operated using physical switches</a:t>
            </a:r>
          </a:p>
          <a:p>
            <a:pPr lvl="3" algn="just">
              <a:buFont typeface="Wingdings" panose="05000000000000000000" pitchFamily="2" charset="2"/>
              <a:buChar char="§"/>
            </a:pPr>
            <a:r>
              <a:rPr lang="en-US" sz="1600" dirty="0"/>
              <a:t>.Automated Mode: Appliances controlled using ESP32 and relay modules.</a:t>
            </a:r>
          </a:p>
          <a:p>
            <a:pPr lvl="1" algn="just">
              <a:buFont typeface="Wingdings" panose="05000000000000000000" pitchFamily="2" charset="2"/>
              <a:buChar char="Ø"/>
            </a:pPr>
            <a:r>
              <a:rPr lang="en-US" sz="1600" b="1" dirty="0"/>
              <a:t> 2. IoT-Based Automation</a:t>
            </a:r>
          </a:p>
          <a:p>
            <a:pPr lvl="3" algn="just">
              <a:buFont typeface="Wingdings" panose="05000000000000000000" pitchFamily="2" charset="2"/>
              <a:buChar char="§"/>
            </a:pPr>
            <a:r>
              <a:rPr lang="en-US" sz="1600" dirty="0"/>
              <a:t>ESP32 acts as the central controller for appliance management</a:t>
            </a:r>
          </a:p>
          <a:p>
            <a:pPr lvl="3" algn="just">
              <a:buFont typeface="Wingdings" panose="05000000000000000000" pitchFamily="2" charset="2"/>
              <a:buChar char="§"/>
            </a:pPr>
            <a:r>
              <a:rPr lang="en-US" sz="1600" dirty="0"/>
              <a:t>.Node-RED UI provides web-based remote control.</a:t>
            </a:r>
          </a:p>
          <a:p>
            <a:pPr lvl="3" algn="just">
              <a:buFont typeface="Wingdings" panose="05000000000000000000" pitchFamily="2" charset="2"/>
              <a:buChar char="§"/>
            </a:pPr>
            <a:r>
              <a:rPr lang="en-US" sz="1600" dirty="0" err="1"/>
              <a:t>ThingSpeak</a:t>
            </a:r>
            <a:r>
              <a:rPr lang="en-US" sz="1600" dirty="0"/>
              <a:t> logs and visualizes real-time energy consumption data.</a:t>
            </a:r>
          </a:p>
          <a:p>
            <a:pPr lvl="1" algn="just">
              <a:buFont typeface="Wingdings" panose="05000000000000000000" pitchFamily="2" charset="2"/>
              <a:buChar char="Ø"/>
            </a:pPr>
            <a:r>
              <a:rPr lang="en-US" sz="1600" b="1" dirty="0"/>
              <a:t> 3. Energy Monitoring</a:t>
            </a:r>
          </a:p>
          <a:p>
            <a:pPr lvl="3" algn="just">
              <a:buFont typeface="Wingdings" panose="05000000000000000000" pitchFamily="2" charset="2"/>
              <a:buChar char="§"/>
            </a:pPr>
            <a:r>
              <a:rPr lang="en-US" sz="1600" dirty="0"/>
              <a:t>Sensors (ACS712 &amp; ZMPT101B) measure:</a:t>
            </a:r>
          </a:p>
          <a:p>
            <a:pPr lvl="4" algn="just">
              <a:buFont typeface="Wingdings" panose="05000000000000000000" pitchFamily="2" charset="2"/>
              <a:buChar char="§"/>
            </a:pPr>
            <a:r>
              <a:rPr lang="en-US" sz="1600" dirty="0"/>
              <a:t>Voltage</a:t>
            </a:r>
          </a:p>
          <a:p>
            <a:pPr lvl="4" algn="just">
              <a:buFont typeface="Wingdings" panose="05000000000000000000" pitchFamily="2" charset="2"/>
              <a:buChar char="§"/>
            </a:pPr>
            <a:r>
              <a:rPr lang="en-US" sz="1600" dirty="0"/>
              <a:t>Current</a:t>
            </a:r>
          </a:p>
          <a:p>
            <a:pPr lvl="4" algn="just">
              <a:buFont typeface="Wingdings" panose="05000000000000000000" pitchFamily="2" charset="2"/>
              <a:buChar char="§"/>
            </a:pPr>
            <a:r>
              <a:rPr lang="en-US" sz="1600" dirty="0"/>
              <a:t>Power &amp; Energy Consumption</a:t>
            </a:r>
          </a:p>
          <a:p>
            <a:pPr lvl="3" algn="just">
              <a:buFont typeface="Wingdings" panose="05000000000000000000" pitchFamily="2" charset="2"/>
              <a:buChar char="§"/>
            </a:pPr>
            <a:r>
              <a:rPr lang="en-US" sz="1600" dirty="0"/>
              <a:t>Data sent to </a:t>
            </a:r>
            <a:r>
              <a:rPr lang="en-US" sz="1600" dirty="0" err="1"/>
              <a:t>ThingSpeak</a:t>
            </a:r>
            <a:r>
              <a:rPr lang="en-US" sz="1600" dirty="0"/>
              <a:t> every few seconds for analysis.</a:t>
            </a:r>
          </a:p>
          <a:p>
            <a:pPr lvl="1" algn="just">
              <a:buFont typeface="Wingdings" panose="05000000000000000000" pitchFamily="2" charset="2"/>
              <a:buChar char="Ø"/>
            </a:pPr>
            <a:r>
              <a:rPr lang="en-US" sz="1600" b="1" dirty="0"/>
              <a:t> 4. Optimization using AO (Aquila Optimization Algorithm)</a:t>
            </a:r>
          </a:p>
          <a:p>
            <a:pPr lvl="3" algn="just">
              <a:buFont typeface="Wingdings" panose="05000000000000000000" pitchFamily="2" charset="2"/>
              <a:buChar char="§"/>
            </a:pPr>
            <a:r>
              <a:rPr lang="en-US" sz="1600" dirty="0"/>
              <a:t>Categorizes appliances into: </a:t>
            </a:r>
            <a:r>
              <a:rPr lang="en-US" sz="1600" dirty="0" err="1"/>
              <a:t>Shiftable,Non</a:t>
            </a:r>
            <a:r>
              <a:rPr lang="en-US" sz="1600" dirty="0"/>
              <a:t> Shiftable and Controllable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chemeClr val="accent2"/>
                </a:solidFill>
                <a:latin typeface="Times New Roman" panose="02020603050405020304" pitchFamily="18" charset="0"/>
                <a:cs typeface="Times New Roman" panose="02020603050405020304" pitchFamily="18" charset="0"/>
              </a:rPr>
              <a:t>Implementation</a:t>
            </a:r>
            <a:r>
              <a:rPr lang="en-US" sz="2000" b="1" dirty="0">
                <a:solidFill>
                  <a:schemeClr val="accent2"/>
                </a:solidFill>
                <a:latin typeface="Times New Roman" panose="02020603050405020304" pitchFamily="18" charset="0"/>
                <a:cs typeface="Times New Roman" panose="02020603050405020304" pitchFamily="18" charset="0"/>
              </a:rPr>
              <a:t>:</a:t>
            </a:r>
            <a:endParaRPr sz="2000"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a:buNone/>
            </a:pPr>
            <a:r>
              <a:rPr lang="en-IN" b="1" dirty="0"/>
              <a:t>1. Hardware Setup</a:t>
            </a:r>
          </a:p>
          <a:p>
            <a:pPr>
              <a:buFont typeface="Arial" panose="020B0604020202020204" pitchFamily="34" charset="0"/>
              <a:buChar char="•"/>
            </a:pPr>
            <a:r>
              <a:rPr lang="en-IN" b="1" dirty="0"/>
              <a:t>ESP32 Microcontroller</a:t>
            </a:r>
            <a:r>
              <a:rPr lang="en-IN" dirty="0"/>
              <a:t>: Central hub for communication and control.</a:t>
            </a:r>
          </a:p>
          <a:p>
            <a:pPr>
              <a:buFont typeface="Arial" panose="020B0604020202020204" pitchFamily="34" charset="0"/>
              <a:buChar char="•"/>
            </a:pPr>
            <a:r>
              <a:rPr lang="en-IN" b="1" dirty="0"/>
              <a:t>Relay Module</a:t>
            </a:r>
            <a:r>
              <a:rPr lang="en-IN" dirty="0"/>
              <a:t>: Controls appliances like:</a:t>
            </a:r>
          </a:p>
          <a:p>
            <a:pPr marL="742950" lvl="1" indent="-285750">
              <a:buFont typeface="Arial" panose="020B0604020202020204" pitchFamily="34" charset="0"/>
              <a:buChar char="•"/>
            </a:pPr>
            <a:r>
              <a:rPr lang="en-IN" dirty="0"/>
              <a:t>Light 1 (120V)</a:t>
            </a:r>
          </a:p>
          <a:p>
            <a:pPr marL="742950" lvl="1" indent="-285750">
              <a:buFont typeface="Arial" panose="020B0604020202020204" pitchFamily="34" charset="0"/>
              <a:buChar char="•"/>
            </a:pPr>
            <a:r>
              <a:rPr lang="en-IN" dirty="0"/>
              <a:t>Light 2 (240V)</a:t>
            </a:r>
          </a:p>
          <a:p>
            <a:pPr marL="742950" lvl="1" indent="-285750">
              <a:buFont typeface="Arial" panose="020B0604020202020204" pitchFamily="34" charset="0"/>
              <a:buChar char="•"/>
            </a:pPr>
            <a:r>
              <a:rPr lang="en-IN" dirty="0"/>
              <a:t>Fan</a:t>
            </a:r>
          </a:p>
          <a:p>
            <a:pPr marL="742950" lvl="1" indent="-285750">
              <a:buFont typeface="Arial" panose="020B0604020202020204" pitchFamily="34" charset="0"/>
              <a:buChar char="•"/>
            </a:pPr>
            <a:r>
              <a:rPr lang="en-IN" dirty="0"/>
              <a:t>Motor</a:t>
            </a:r>
          </a:p>
          <a:p>
            <a:pPr>
              <a:buFont typeface="Arial" panose="020B0604020202020204" pitchFamily="34" charset="0"/>
              <a:buChar char="•"/>
            </a:pPr>
            <a:r>
              <a:rPr lang="en-IN" b="1" dirty="0"/>
              <a:t>Sensors</a:t>
            </a:r>
            <a:r>
              <a:rPr lang="en-IN" dirty="0"/>
              <a:t>:</a:t>
            </a:r>
          </a:p>
          <a:p>
            <a:pPr marL="742950" lvl="1" indent="-285750">
              <a:buFont typeface="Arial" panose="020B0604020202020204" pitchFamily="34" charset="0"/>
              <a:buChar char="•"/>
            </a:pPr>
            <a:r>
              <a:rPr lang="en-IN" b="1" dirty="0"/>
              <a:t>ACS712</a:t>
            </a:r>
            <a:r>
              <a:rPr lang="en-IN" dirty="0"/>
              <a:t> – Current sensor</a:t>
            </a:r>
          </a:p>
          <a:p>
            <a:pPr marL="742950" lvl="1" indent="-285750">
              <a:buFont typeface="Arial" panose="020B0604020202020204" pitchFamily="34" charset="0"/>
              <a:buChar char="•"/>
            </a:pPr>
            <a:r>
              <a:rPr lang="en-IN" b="1" dirty="0"/>
              <a:t>ZMPT101B</a:t>
            </a:r>
            <a:r>
              <a:rPr lang="en-IN" dirty="0"/>
              <a:t> – Voltage sensor</a:t>
            </a:r>
          </a:p>
          <a:p>
            <a:pPr>
              <a:buFont typeface="Arial" panose="020B0604020202020204" pitchFamily="34" charset="0"/>
              <a:buChar char="•"/>
            </a:pPr>
            <a:r>
              <a:rPr lang="en-IN" b="1" dirty="0"/>
              <a:t>LCD Display</a:t>
            </a:r>
            <a:r>
              <a:rPr lang="en-IN" dirty="0"/>
              <a:t>: Shows real-time voltage, current, and energy consumption.</a:t>
            </a:r>
          </a:p>
          <a:p>
            <a:pPr>
              <a:buFont typeface="Arial" panose="020B0604020202020204" pitchFamily="34" charset="0"/>
              <a:buChar char="•"/>
            </a:pPr>
            <a:r>
              <a:rPr lang="en-IN" b="1" dirty="0"/>
              <a:t>Manual Switches</a:t>
            </a:r>
            <a:r>
              <a:rPr lang="en-IN" dirty="0"/>
              <a:t>: Allow local override of appliance control.</a:t>
            </a:r>
          </a:p>
          <a:p>
            <a:pPr marL="0" indent="0" algn="just" eaLnBrk="0" fontAlgn="base" hangingPunct="0">
              <a:lnSpc>
                <a:spcPct val="100000"/>
              </a:lnSpc>
              <a:spcBef>
                <a:spcPts val="400"/>
              </a:spcBef>
              <a:spcAft>
                <a:spcPts val="400"/>
              </a:spcAft>
              <a:buClrTx/>
              <a:buSzTx/>
              <a:buNone/>
            </a:pP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AE921-441D-5CDE-2C30-D6A3C485BF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5A3A1-F909-1ECB-943F-C736A9DFE9B4}"/>
              </a:ext>
            </a:extLst>
          </p:cNvPr>
          <p:cNvSpPr>
            <a:spLocks noGrp="1"/>
          </p:cNvSpPr>
          <p:nvPr>
            <p:ph type="title"/>
          </p:nvPr>
        </p:nvSpPr>
        <p:spPr/>
        <p:txBody>
          <a:bodyPr>
            <a:normAutofit/>
          </a:bodyPr>
          <a:lstStyle/>
          <a:p>
            <a:r>
              <a:rPr sz="2000" b="1" dirty="0">
                <a:solidFill>
                  <a:schemeClr val="accent2"/>
                </a:solidFill>
                <a:latin typeface="Times New Roman" panose="02020603050405020304" pitchFamily="18" charset="0"/>
                <a:cs typeface="Times New Roman" panose="02020603050405020304" pitchFamily="18" charset="0"/>
              </a:rPr>
              <a:t>Implementation</a:t>
            </a:r>
            <a:r>
              <a:rPr lang="en-US" sz="2000" b="1" dirty="0">
                <a:solidFill>
                  <a:schemeClr val="accent2"/>
                </a:solidFill>
                <a:latin typeface="Times New Roman" panose="02020603050405020304" pitchFamily="18" charset="0"/>
                <a:cs typeface="Times New Roman" panose="02020603050405020304" pitchFamily="18" charset="0"/>
              </a:rPr>
              <a:t>:</a:t>
            </a:r>
            <a:endParaRPr sz="2000"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7A85CDD-773B-9258-2785-1146C4A42F06}"/>
              </a:ext>
            </a:extLst>
          </p:cNvPr>
          <p:cNvSpPr>
            <a:spLocks noGrp="1"/>
          </p:cNvSpPr>
          <p:nvPr>
            <p:ph idx="1"/>
          </p:nvPr>
        </p:nvSpPr>
        <p:spPr/>
        <p:txBody>
          <a:bodyPr>
            <a:normAutofit/>
          </a:bodyPr>
          <a:lstStyle/>
          <a:p>
            <a:pPr>
              <a:buNone/>
            </a:pPr>
            <a:r>
              <a:rPr lang="en-IN" sz="1600" b="1" dirty="0"/>
              <a:t>2. Software Components</a:t>
            </a:r>
          </a:p>
          <a:p>
            <a:pPr lvl="1">
              <a:buFont typeface="Wingdings" panose="05000000000000000000" pitchFamily="2" charset="2"/>
              <a:buChar char="§"/>
            </a:pPr>
            <a:r>
              <a:rPr lang="en-IN" sz="1600" b="1" dirty="0"/>
              <a:t>Arduino IDE</a:t>
            </a:r>
            <a:r>
              <a:rPr lang="en-IN" sz="1600" dirty="0"/>
              <a:t>: Firmware development for ESP32.</a:t>
            </a:r>
          </a:p>
          <a:p>
            <a:pPr lvl="1">
              <a:buFont typeface="Wingdings" panose="05000000000000000000" pitchFamily="2" charset="2"/>
              <a:buChar char="§"/>
            </a:pPr>
            <a:r>
              <a:rPr lang="en-IN" sz="1600" b="1" dirty="0"/>
              <a:t>Node-RED</a:t>
            </a:r>
            <a:r>
              <a:rPr lang="en-IN" sz="1600" dirty="0"/>
              <a:t>: Web-based control interface.</a:t>
            </a:r>
          </a:p>
          <a:p>
            <a:pPr lvl="1">
              <a:buFont typeface="Wingdings" panose="05000000000000000000" pitchFamily="2" charset="2"/>
              <a:buChar char="§"/>
            </a:pPr>
            <a:r>
              <a:rPr lang="en-IN" sz="1600" b="1" dirty="0" err="1"/>
              <a:t>ThingSpeak</a:t>
            </a:r>
            <a:r>
              <a:rPr lang="en-IN" sz="1600" dirty="0"/>
              <a:t>: Cloud platform for real-time data logging and analytics.</a:t>
            </a:r>
          </a:p>
          <a:p>
            <a:pPr lvl="1">
              <a:buFont typeface="Wingdings" panose="05000000000000000000" pitchFamily="2" charset="2"/>
              <a:buChar char="§"/>
            </a:pPr>
            <a:r>
              <a:rPr lang="en-IN" sz="1600" b="1" dirty="0"/>
              <a:t>MQTT Protocol (</a:t>
            </a:r>
            <a:r>
              <a:rPr lang="en-IN" sz="1600" b="1" dirty="0" err="1"/>
              <a:t>HiveMQ</a:t>
            </a:r>
            <a:r>
              <a:rPr lang="en-IN" sz="1600" b="1" dirty="0"/>
              <a:t>)</a:t>
            </a:r>
            <a:r>
              <a:rPr lang="en-IN" sz="1600" dirty="0"/>
              <a:t>: Enables fast, lightweight communication.</a:t>
            </a:r>
          </a:p>
          <a:p>
            <a:pPr lvl="1">
              <a:buFont typeface="Wingdings" panose="05000000000000000000" pitchFamily="2" charset="2"/>
              <a:buChar char="§"/>
            </a:pPr>
            <a:r>
              <a:rPr lang="en-IN" sz="1600" b="1" dirty="0" err="1"/>
              <a:t>FreeRTOS</a:t>
            </a:r>
            <a:r>
              <a:rPr lang="en-IN" sz="1600" dirty="0"/>
              <a:t>: Manages task scheduling on ESP32.</a:t>
            </a:r>
          </a:p>
          <a:p>
            <a:pPr>
              <a:buNone/>
            </a:pPr>
            <a:r>
              <a:rPr lang="en-IN" sz="1600" b="1" dirty="0"/>
              <a:t>3. Functional Modules</a:t>
            </a:r>
          </a:p>
          <a:p>
            <a:pPr lvl="1">
              <a:buFont typeface="Arial" panose="020B0604020202020204" pitchFamily="34" charset="0"/>
              <a:buChar char="•"/>
            </a:pPr>
            <a:r>
              <a:rPr lang="en-IN" sz="1600" b="1" dirty="0" err="1"/>
              <a:t>WiFi</a:t>
            </a:r>
            <a:r>
              <a:rPr lang="en-IN" sz="1600" b="1" dirty="0"/>
              <a:t> Setup</a:t>
            </a:r>
            <a:r>
              <a:rPr lang="en-IN" sz="1600" dirty="0"/>
              <a:t> using </a:t>
            </a:r>
            <a:r>
              <a:rPr lang="en-IN" sz="1600" dirty="0" err="1"/>
              <a:t>WiFiManager</a:t>
            </a:r>
            <a:r>
              <a:rPr lang="en-IN" sz="1600" dirty="0"/>
              <a:t> (auto-connect or fallback to AP mode).</a:t>
            </a:r>
          </a:p>
          <a:p>
            <a:pPr lvl="1">
              <a:buFont typeface="Arial" panose="020B0604020202020204" pitchFamily="34" charset="0"/>
              <a:buChar char="•"/>
            </a:pPr>
            <a:r>
              <a:rPr lang="en-IN" sz="1600" b="1" dirty="0"/>
              <a:t>MQTT Communication</a:t>
            </a:r>
            <a:r>
              <a:rPr lang="en-IN" sz="1600" dirty="0"/>
              <a:t> with topics to control each relay.</a:t>
            </a:r>
          </a:p>
          <a:p>
            <a:pPr lvl="1">
              <a:buFont typeface="Arial" panose="020B0604020202020204" pitchFamily="34" charset="0"/>
              <a:buChar char="•"/>
            </a:pPr>
            <a:r>
              <a:rPr lang="en-IN" sz="1600" b="1" dirty="0"/>
              <a:t>Energy Monitoring</a:t>
            </a:r>
            <a:r>
              <a:rPr lang="en-IN" sz="1600" dirty="0"/>
              <a:t> using </a:t>
            </a:r>
            <a:r>
              <a:rPr lang="en-IN" sz="1600" dirty="0" err="1"/>
              <a:t>EmonLib</a:t>
            </a:r>
            <a:r>
              <a:rPr lang="en-IN" sz="1600" dirty="0"/>
              <a:t> for real-time power calculation.</a:t>
            </a:r>
          </a:p>
          <a:p>
            <a:pPr lvl="1">
              <a:buFont typeface="Arial" panose="020B0604020202020204" pitchFamily="34" charset="0"/>
              <a:buChar char="•"/>
            </a:pPr>
            <a:r>
              <a:rPr lang="en-IN" sz="1600" b="1" dirty="0" err="1"/>
              <a:t>ThingSpeak</a:t>
            </a:r>
            <a:r>
              <a:rPr lang="en-IN" sz="1600" b="1" dirty="0"/>
              <a:t> Logging</a:t>
            </a:r>
            <a:r>
              <a:rPr lang="en-IN" sz="1600" dirty="0"/>
              <a:t>: Publishes energy data every 20 seconds.</a:t>
            </a:r>
          </a:p>
          <a:p>
            <a:pPr lvl="1">
              <a:buFont typeface="Arial" panose="020B0604020202020204" pitchFamily="34" charset="0"/>
              <a:buChar char="•"/>
            </a:pPr>
            <a:r>
              <a:rPr lang="en-IN" sz="1600" b="1" dirty="0"/>
              <a:t>LCD Updates</a:t>
            </a:r>
            <a:r>
              <a:rPr lang="en-IN" sz="1600" dirty="0"/>
              <a:t>: Voltage, current, energy in kWh displayed every second.</a:t>
            </a:r>
          </a:p>
          <a:p>
            <a:pPr marL="201168" lvl="1" indent="0">
              <a:buNone/>
            </a:pPr>
            <a:endParaRPr lang="en-IN" sz="1600" dirty="0"/>
          </a:p>
          <a:p>
            <a:pPr marL="0" indent="0" algn="just" eaLnBrk="0" fontAlgn="base" hangingPunct="0">
              <a:lnSpc>
                <a:spcPct val="100000"/>
              </a:lnSpc>
              <a:spcBef>
                <a:spcPts val="400"/>
              </a:spcBef>
              <a:spcAft>
                <a:spcPts val="400"/>
              </a:spcAft>
              <a:buClrTx/>
              <a:buSzTx/>
              <a:buNone/>
            </a:pPr>
            <a:endParaRPr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2981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EE705-E7D9-C0DE-92F2-E087E7562D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6151A8-A4E0-253F-DBD0-160AB1E34283}"/>
              </a:ext>
            </a:extLst>
          </p:cNvPr>
          <p:cNvSpPr>
            <a:spLocks noGrp="1"/>
          </p:cNvSpPr>
          <p:nvPr>
            <p:ph type="title"/>
          </p:nvPr>
        </p:nvSpPr>
        <p:spPr/>
        <p:txBody>
          <a:bodyPr>
            <a:normAutofit/>
          </a:bodyPr>
          <a:lstStyle/>
          <a:p>
            <a:r>
              <a:rPr lang="en-US" sz="2000" b="1" dirty="0">
                <a:solidFill>
                  <a:schemeClr val="accent2"/>
                </a:solidFill>
                <a:latin typeface="Times New Roman" panose="02020603050405020304" pitchFamily="18" charset="0"/>
                <a:cs typeface="Times New Roman" panose="02020603050405020304" pitchFamily="18" charset="0"/>
              </a:rPr>
              <a:t>System Architecture</a:t>
            </a:r>
            <a:endParaRPr lang="en-IN" sz="2000" b="1" dirty="0">
              <a:solidFill>
                <a:schemeClr val="accent2"/>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1556CCA-4F61-21D8-9560-84335FBC079B}"/>
              </a:ext>
            </a:extLst>
          </p:cNvPr>
          <p:cNvPicPr>
            <a:picLocks noChangeAspect="1"/>
          </p:cNvPicPr>
          <p:nvPr/>
        </p:nvPicPr>
        <p:blipFill>
          <a:blip r:embed="rId2"/>
          <a:stretch>
            <a:fillRect/>
          </a:stretch>
        </p:blipFill>
        <p:spPr>
          <a:xfrm>
            <a:off x="1465068" y="1914342"/>
            <a:ext cx="6213864" cy="4114835"/>
          </a:xfrm>
          <a:prstGeom prst="rect">
            <a:avLst/>
          </a:prstGeom>
        </p:spPr>
      </p:pic>
    </p:spTree>
    <p:extLst>
      <p:ext uri="{BB962C8B-B14F-4D97-AF65-F5344CB8AC3E}">
        <p14:creationId xmlns:p14="http://schemas.microsoft.com/office/powerpoint/2010/main" val="26271387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499A4-0AF2-055D-D511-4EFA46293E82}"/>
              </a:ext>
            </a:extLst>
          </p:cNvPr>
          <p:cNvSpPr>
            <a:spLocks noGrp="1"/>
          </p:cNvSpPr>
          <p:nvPr>
            <p:ph type="title"/>
          </p:nvPr>
        </p:nvSpPr>
        <p:spPr/>
        <p:txBody>
          <a:bodyPr>
            <a:normAutofit/>
          </a:bodyPr>
          <a:lstStyle/>
          <a:p>
            <a:r>
              <a:rPr lang="en-US" sz="2000" b="1" dirty="0">
                <a:solidFill>
                  <a:schemeClr val="accent2"/>
                </a:solidFill>
                <a:latin typeface="Times New Roman" panose="02020603050405020304" pitchFamily="18" charset="0"/>
                <a:cs typeface="Times New Roman" panose="02020603050405020304" pitchFamily="18" charset="0"/>
              </a:rPr>
              <a:t>Circuit Diagram</a:t>
            </a:r>
            <a:endParaRPr lang="en-IN" sz="2000" b="1" dirty="0">
              <a:solidFill>
                <a:schemeClr val="accent2"/>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9228B32-27E6-DA5F-6ACE-D515A0709174}"/>
              </a:ext>
            </a:extLst>
          </p:cNvPr>
          <p:cNvPicPr>
            <a:picLocks noChangeAspect="1"/>
          </p:cNvPicPr>
          <p:nvPr/>
        </p:nvPicPr>
        <p:blipFill>
          <a:blip r:embed="rId2"/>
          <a:stretch>
            <a:fillRect/>
          </a:stretch>
        </p:blipFill>
        <p:spPr>
          <a:xfrm>
            <a:off x="475431" y="1878695"/>
            <a:ext cx="8238858" cy="4325401"/>
          </a:xfrm>
          <a:prstGeom prst="rect">
            <a:avLst/>
          </a:prstGeom>
        </p:spPr>
      </p:pic>
    </p:spTree>
    <p:extLst>
      <p:ext uri="{BB962C8B-B14F-4D97-AF65-F5344CB8AC3E}">
        <p14:creationId xmlns:p14="http://schemas.microsoft.com/office/powerpoint/2010/main" val="17927220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1316D-544D-9292-C1CC-137A5840C447}"/>
              </a:ext>
            </a:extLst>
          </p:cNvPr>
          <p:cNvSpPr>
            <a:spLocks noGrp="1"/>
          </p:cNvSpPr>
          <p:nvPr>
            <p:ph type="title"/>
          </p:nvPr>
        </p:nvSpPr>
        <p:spPr/>
        <p:txBody>
          <a:bodyPr>
            <a:normAutofit/>
          </a:bodyPr>
          <a:lstStyle/>
          <a:p>
            <a:r>
              <a:rPr lang="en-US" sz="2000" b="1" dirty="0">
                <a:solidFill>
                  <a:schemeClr val="accent2"/>
                </a:solidFill>
                <a:latin typeface="Times New Roman" panose="02020603050405020304" pitchFamily="18" charset="0"/>
                <a:cs typeface="Times New Roman" panose="02020603050405020304" pitchFamily="18" charset="0"/>
              </a:rPr>
              <a:t>Implementation:</a:t>
            </a:r>
            <a:endParaRPr lang="en-IN" sz="2000" b="1" dirty="0">
              <a:solidFill>
                <a:schemeClr val="accent2"/>
              </a:solidFill>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B42FD895-A6AD-46DF-3A37-F101EAE7AC1C}"/>
              </a:ext>
            </a:extLst>
          </p:cNvPr>
          <p:cNvPicPr>
            <a:picLocks noChangeAspect="1"/>
          </p:cNvPicPr>
          <p:nvPr/>
        </p:nvPicPr>
        <p:blipFill>
          <a:blip r:embed="rId2"/>
          <a:stretch>
            <a:fillRect/>
          </a:stretch>
        </p:blipFill>
        <p:spPr>
          <a:xfrm>
            <a:off x="822960" y="2343511"/>
            <a:ext cx="4417200" cy="3002466"/>
          </a:xfrm>
          <a:prstGeom prst="rect">
            <a:avLst/>
          </a:prstGeom>
        </p:spPr>
      </p:pic>
      <p:pic>
        <p:nvPicPr>
          <p:cNvPr id="11" name="Picture 10">
            <a:extLst>
              <a:ext uri="{FF2B5EF4-FFF2-40B4-BE49-F238E27FC236}">
                <a16:creationId xmlns:a16="http://schemas.microsoft.com/office/drawing/2014/main" id="{276200FD-5801-F77C-AC8E-0E4F0DD5391B}"/>
              </a:ext>
            </a:extLst>
          </p:cNvPr>
          <p:cNvPicPr>
            <a:picLocks noChangeAspect="1"/>
          </p:cNvPicPr>
          <p:nvPr/>
        </p:nvPicPr>
        <p:blipFill>
          <a:blip r:embed="rId3"/>
          <a:stretch>
            <a:fillRect/>
          </a:stretch>
        </p:blipFill>
        <p:spPr>
          <a:xfrm>
            <a:off x="5332599" y="3446698"/>
            <a:ext cx="3661632" cy="2170607"/>
          </a:xfrm>
          <a:prstGeom prst="rect">
            <a:avLst/>
          </a:prstGeom>
        </p:spPr>
      </p:pic>
    </p:spTree>
    <p:extLst>
      <p:ext uri="{BB962C8B-B14F-4D97-AF65-F5344CB8AC3E}">
        <p14:creationId xmlns:p14="http://schemas.microsoft.com/office/powerpoint/2010/main" val="1096811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51F68B-34CD-0385-0BE6-A222795F360F}"/>
              </a:ext>
            </a:extLst>
          </p:cNvPr>
          <p:cNvSpPr>
            <a:spLocks noGrp="1"/>
          </p:cNvSpPr>
          <p:nvPr>
            <p:ph type="title"/>
          </p:nvPr>
        </p:nvSpPr>
        <p:spPr/>
        <p:txBody>
          <a:bodyPr>
            <a:normAutofit/>
          </a:bodyPr>
          <a:lstStyle/>
          <a:p>
            <a:r>
              <a:rPr lang="en-US" sz="2000" b="1" dirty="0">
                <a:solidFill>
                  <a:schemeClr val="accent2"/>
                </a:solidFill>
                <a:latin typeface="Times New Roman" panose="02020603050405020304" pitchFamily="18" charset="0"/>
                <a:cs typeface="Times New Roman" panose="02020603050405020304" pitchFamily="18" charset="0"/>
              </a:rPr>
              <a:t>Implementation Flow:</a:t>
            </a:r>
            <a:endParaRPr lang="en-IN" sz="2000"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8455A1D-D31E-0E57-5198-9F359CCAF93F}"/>
              </a:ext>
            </a:extLst>
          </p:cNvPr>
          <p:cNvSpPr>
            <a:spLocks noGrp="1"/>
          </p:cNvSpPr>
          <p:nvPr>
            <p:ph idx="1"/>
          </p:nvPr>
        </p:nvSpPr>
        <p:spPr>
          <a:xfrm>
            <a:off x="911449" y="1933235"/>
            <a:ext cx="7543801" cy="4023360"/>
          </a:xfrm>
        </p:spPr>
        <p:txBody>
          <a:bodyPr>
            <a:normAutofit/>
          </a:bodyPr>
          <a:lstStyle/>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System Initialization</a:t>
            </a:r>
          </a:p>
          <a:p>
            <a:pPr algn="just"/>
            <a:endParaRPr lang="en-US" sz="1600" b="1" dirty="0">
              <a:latin typeface="Times New Roman" panose="02020603050405020304" pitchFamily="18" charset="0"/>
              <a:cs typeface="Times New Roman" panose="02020603050405020304" pitchFamily="18" charset="0"/>
            </a:endParaRPr>
          </a:p>
          <a:p>
            <a:pPr marL="0" indent="0" algn="just">
              <a:buNone/>
            </a:pPr>
            <a:endParaRPr lang="en-US" sz="16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 Connectivity Setup</a:t>
            </a:r>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endParaRPr lang="en-US" sz="16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1600" b="1" dirty="0">
                <a:latin typeface="Times New Roman" panose="02020603050405020304" pitchFamily="18" charset="0"/>
                <a:cs typeface="Times New Roman" panose="02020603050405020304" pitchFamily="18" charset="0"/>
              </a:rPr>
              <a:t>Task Scheduling (</a:t>
            </a:r>
            <a:r>
              <a:rPr lang="en-US" sz="1600" b="1" dirty="0" err="1">
                <a:latin typeface="Times New Roman" panose="02020603050405020304" pitchFamily="18" charset="0"/>
                <a:cs typeface="Times New Roman" panose="02020603050405020304" pitchFamily="18" charset="0"/>
              </a:rPr>
              <a:t>FreeRTOS</a:t>
            </a:r>
            <a:r>
              <a:rPr lang="en-US" sz="1600" b="1" dirty="0">
                <a:latin typeface="Times New Roman" panose="02020603050405020304" pitchFamily="18" charset="0"/>
                <a:cs typeface="Times New Roman" panose="02020603050405020304" pitchFamily="18" charset="0"/>
              </a:rPr>
              <a:t>)</a:t>
            </a:r>
          </a:p>
        </p:txBody>
      </p:sp>
      <p:sp>
        <p:nvSpPr>
          <p:cNvPr id="33" name="Rectangle 27">
            <a:extLst>
              <a:ext uri="{FF2B5EF4-FFF2-40B4-BE49-F238E27FC236}">
                <a16:creationId xmlns:a16="http://schemas.microsoft.com/office/drawing/2014/main" id="{AE38B74F-C84F-0244-CCED-EFAB96A87AFE}"/>
              </a:ext>
            </a:extLst>
          </p:cNvPr>
          <p:cNvSpPr>
            <a:spLocks noChangeArrowheads="1"/>
          </p:cNvSpPr>
          <p:nvPr/>
        </p:nvSpPr>
        <p:spPr bwMode="auto">
          <a:xfrm>
            <a:off x="1199536" y="2229380"/>
            <a:ext cx="497604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ESP32 powers up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LCD initialized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panose="020B0604020202020204" pitchFamily="34" charset="0"/>
              </a:rPr>
              <a:t>WiFiManager</a:t>
            </a:r>
            <a:r>
              <a:rPr kumimoji="0" lang="en-US" altLang="en-US" sz="1600" b="0" i="0" u="none" strike="noStrike" cap="none" normalizeH="0" baseline="0" dirty="0">
                <a:ln>
                  <a:noFill/>
                </a:ln>
                <a:solidFill>
                  <a:schemeClr val="tx1"/>
                </a:solidFill>
                <a:effectLst/>
                <a:latin typeface="Arial" panose="020B0604020202020204" pitchFamily="34" charset="0"/>
              </a:rPr>
              <a:t> launches → connects to local network</a:t>
            </a:r>
          </a:p>
        </p:txBody>
      </p:sp>
      <p:sp>
        <p:nvSpPr>
          <p:cNvPr id="35" name="Rectangle 29">
            <a:extLst>
              <a:ext uri="{FF2B5EF4-FFF2-40B4-BE49-F238E27FC236}">
                <a16:creationId xmlns:a16="http://schemas.microsoft.com/office/drawing/2014/main" id="{FCDF1E1F-6D10-ADEF-2E77-F94D52D6E9D8}"/>
              </a:ext>
            </a:extLst>
          </p:cNvPr>
          <p:cNvSpPr>
            <a:spLocks noChangeArrowheads="1"/>
          </p:cNvSpPr>
          <p:nvPr/>
        </p:nvSpPr>
        <p:spPr bwMode="auto">
          <a:xfrm>
            <a:off x="1199536" y="3377032"/>
            <a:ext cx="4218784" cy="1354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Arial" panose="020B0604020202020204" pitchFamily="34" charset="0"/>
              </a:rPr>
              <a:t>ESP32 connects 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err="1">
                <a:ln>
                  <a:noFill/>
                </a:ln>
                <a:solidFill>
                  <a:schemeClr val="tx1"/>
                </a:solidFill>
                <a:effectLst/>
                <a:latin typeface="Arial" panose="020B0604020202020204" pitchFamily="34" charset="0"/>
              </a:rPr>
              <a:t>WiFi</a:t>
            </a:r>
            <a:r>
              <a:rPr kumimoji="0" lang="en-US" altLang="en-US" sz="1600" i="0" u="none" strike="noStrike" cap="none" normalizeH="0" baseline="0" dirty="0">
                <a:ln>
                  <a:noFill/>
                </a:ln>
                <a:solidFill>
                  <a:schemeClr val="tx1"/>
                </a:solidFill>
                <a:effectLst/>
                <a:latin typeface="Arial" panose="020B0604020202020204" pitchFamily="34" charset="0"/>
              </a:rPr>
              <a:t> Network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err="1">
                <a:ln>
                  <a:noFill/>
                </a:ln>
                <a:solidFill>
                  <a:schemeClr val="tx1"/>
                </a:solidFill>
                <a:effectLst/>
                <a:latin typeface="Arial" panose="020B0604020202020204" pitchFamily="34" charset="0"/>
              </a:rPr>
              <a:t>HiveMQ</a:t>
            </a:r>
            <a:r>
              <a:rPr kumimoji="0" lang="en-US" altLang="en-US" sz="1600" i="0" u="none" strike="noStrike" cap="none" normalizeH="0" baseline="0" dirty="0">
                <a:ln>
                  <a:noFill/>
                </a:ln>
                <a:solidFill>
                  <a:schemeClr val="tx1"/>
                </a:solidFill>
                <a:effectLst/>
                <a:latin typeface="Arial" panose="020B0604020202020204" pitchFamily="34" charset="0"/>
              </a:rPr>
              <a:t> MQTT Broker (</a:t>
            </a:r>
            <a:r>
              <a:rPr kumimoji="0" lang="en-US" altLang="en-US" sz="1600" i="0" u="none" strike="noStrike" cap="none" normalizeH="0" baseline="0" dirty="0">
                <a:ln>
                  <a:noFill/>
                </a:ln>
                <a:solidFill>
                  <a:schemeClr val="tx1"/>
                </a:solidFill>
                <a:effectLst/>
                <a:latin typeface="Arial Unicode MS"/>
              </a:rPr>
              <a:t>broker.hivemq.com</a:t>
            </a:r>
            <a:r>
              <a:rPr kumimoji="0" lang="en-US" altLang="en-US" sz="1600" i="0" u="none" strike="noStrike" cap="none" normalizeH="0" baseline="0" dirty="0">
                <a:ln>
                  <a:noFill/>
                </a:ln>
                <a:solidFill>
                  <a:schemeClr val="tx1"/>
                </a:solidFill>
                <a:effectLst/>
              </a:rPr>
              <a:t>)</a:t>
            </a:r>
            <a:endParaRPr kumimoji="0" lang="en-US" altLang="en-US" sz="16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i="0" u="none" strike="noStrike" cap="none" normalizeH="0" baseline="0" dirty="0" err="1">
                <a:ln>
                  <a:noFill/>
                </a:ln>
                <a:solidFill>
                  <a:schemeClr val="tx1"/>
                </a:solidFill>
                <a:effectLst/>
                <a:latin typeface="Arial" panose="020B0604020202020204" pitchFamily="34" charset="0"/>
              </a:rPr>
              <a:t>ThingSpeak</a:t>
            </a:r>
            <a:r>
              <a:rPr kumimoji="0" lang="en-US" altLang="en-US" sz="1600" i="0" u="none" strike="noStrike" cap="none" normalizeH="0" baseline="0" dirty="0">
                <a:ln>
                  <a:noFill/>
                </a:ln>
                <a:solidFill>
                  <a:schemeClr val="tx1"/>
                </a:solidFill>
                <a:effectLst/>
                <a:latin typeface="Arial" panose="020B0604020202020204" pitchFamily="34" charset="0"/>
              </a:rPr>
              <a:t> Channel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6" name="Rectangle 30">
            <a:extLst>
              <a:ext uri="{FF2B5EF4-FFF2-40B4-BE49-F238E27FC236}">
                <a16:creationId xmlns:a16="http://schemas.microsoft.com/office/drawing/2014/main" id="{3C31986E-D5DB-574B-5C49-4E0ED4AFB0B8}"/>
              </a:ext>
            </a:extLst>
          </p:cNvPr>
          <p:cNvSpPr>
            <a:spLocks noChangeArrowheads="1"/>
          </p:cNvSpPr>
          <p:nvPr/>
        </p:nvSpPr>
        <p:spPr bwMode="auto">
          <a:xfrm>
            <a:off x="1199536" y="5122718"/>
            <a:ext cx="4159793"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Multitasking begins with: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Unicode MS"/>
              </a:rPr>
              <a:t>mqttTask</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a:ln>
                  <a:noFill/>
                </a:ln>
                <a:solidFill>
                  <a:schemeClr val="tx1"/>
                </a:solidFill>
                <a:effectLst/>
              </a:rPr>
              <a:t> → Listens for MQTT commands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Unicode MS"/>
              </a:rPr>
              <a:t>energyMonitoringTask</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a:ln>
                  <a:noFill/>
                </a:ln>
                <a:solidFill>
                  <a:schemeClr val="tx1"/>
                </a:solidFill>
                <a:effectLst/>
              </a:rPr>
              <a:t> → Calculates power</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err="1">
                <a:ln>
                  <a:noFill/>
                </a:ln>
                <a:solidFill>
                  <a:schemeClr val="tx1"/>
                </a:solidFill>
                <a:effectLst/>
                <a:latin typeface="Arial Unicode MS"/>
              </a:rPr>
              <a:t>thingSpeakTask</a:t>
            </a:r>
            <a:r>
              <a:rPr kumimoji="0" lang="en-US" altLang="en-US" sz="1600" b="0" i="0" u="none" strike="noStrike" cap="none" normalizeH="0" baseline="0" dirty="0">
                <a:ln>
                  <a:noFill/>
                </a:ln>
                <a:solidFill>
                  <a:schemeClr val="tx1"/>
                </a:solidFill>
                <a:effectLst/>
                <a:latin typeface="Arial Unicode MS"/>
              </a:rPr>
              <a:t>()</a:t>
            </a:r>
            <a:r>
              <a:rPr kumimoji="0" lang="en-US" altLang="en-US" sz="1600" b="0" i="0" u="none" strike="noStrike" cap="none" normalizeH="0" baseline="0" dirty="0">
                <a:ln>
                  <a:noFill/>
                </a:ln>
                <a:solidFill>
                  <a:schemeClr val="tx1"/>
                </a:solidFill>
                <a:effectLst/>
              </a:rPr>
              <a:t> → Publishes data every 20s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32659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6E075-7E44-7CCD-C193-8B68C0166279}"/>
              </a:ext>
            </a:extLst>
          </p:cNvPr>
          <p:cNvSpPr>
            <a:spLocks noGrp="1"/>
          </p:cNvSpPr>
          <p:nvPr>
            <p:ph type="title"/>
          </p:nvPr>
        </p:nvSpPr>
        <p:spPr/>
        <p:txBody>
          <a:bodyPr>
            <a:normAutofit/>
          </a:bodyPr>
          <a:lstStyle/>
          <a:p>
            <a:r>
              <a:rPr lang="en-US" sz="2000" b="1" dirty="0">
                <a:solidFill>
                  <a:schemeClr val="accent2"/>
                </a:solidFill>
                <a:latin typeface="Times New Roman" panose="02020603050405020304" pitchFamily="18" charset="0"/>
                <a:cs typeface="Times New Roman" panose="02020603050405020304" pitchFamily="18" charset="0"/>
              </a:rPr>
              <a:t>Process of Project:</a:t>
            </a:r>
            <a:endParaRPr lang="en-IN" sz="2000" dirty="0"/>
          </a:p>
        </p:txBody>
      </p:sp>
      <p:pic>
        <p:nvPicPr>
          <p:cNvPr id="19" name="Picture 18">
            <a:extLst>
              <a:ext uri="{FF2B5EF4-FFF2-40B4-BE49-F238E27FC236}">
                <a16:creationId xmlns:a16="http://schemas.microsoft.com/office/drawing/2014/main" id="{FCBB4383-4270-5CC3-2394-91CACD23FFD1}"/>
              </a:ext>
            </a:extLst>
          </p:cNvPr>
          <p:cNvPicPr>
            <a:picLocks noChangeAspect="1"/>
          </p:cNvPicPr>
          <p:nvPr/>
        </p:nvPicPr>
        <p:blipFill>
          <a:blip r:embed="rId2"/>
          <a:stretch>
            <a:fillRect/>
          </a:stretch>
        </p:blipFill>
        <p:spPr>
          <a:xfrm>
            <a:off x="525384" y="2066078"/>
            <a:ext cx="4144939" cy="4177406"/>
          </a:xfrm>
          <a:prstGeom prst="rect">
            <a:avLst/>
          </a:prstGeom>
        </p:spPr>
      </p:pic>
      <p:pic>
        <p:nvPicPr>
          <p:cNvPr id="20" name="Picture 19">
            <a:extLst>
              <a:ext uri="{FF2B5EF4-FFF2-40B4-BE49-F238E27FC236}">
                <a16:creationId xmlns:a16="http://schemas.microsoft.com/office/drawing/2014/main" id="{6D853825-F6D8-213F-EBAD-4B47516E376D}"/>
              </a:ext>
            </a:extLst>
          </p:cNvPr>
          <p:cNvPicPr>
            <a:picLocks noChangeAspect="1"/>
          </p:cNvPicPr>
          <p:nvPr/>
        </p:nvPicPr>
        <p:blipFill>
          <a:blip r:embed="rId3"/>
          <a:stretch>
            <a:fillRect/>
          </a:stretch>
        </p:blipFill>
        <p:spPr>
          <a:xfrm>
            <a:off x="5029080" y="2032441"/>
            <a:ext cx="3819952" cy="4177406"/>
          </a:xfrm>
          <a:prstGeom prst="rect">
            <a:avLst/>
          </a:prstGeom>
        </p:spPr>
      </p:pic>
    </p:spTree>
    <p:extLst>
      <p:ext uri="{BB962C8B-B14F-4D97-AF65-F5344CB8AC3E}">
        <p14:creationId xmlns:p14="http://schemas.microsoft.com/office/powerpoint/2010/main" val="3944771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981CD-6A43-CBBF-B27D-98F68A2D2D00}"/>
              </a:ext>
            </a:extLst>
          </p:cNvPr>
          <p:cNvSpPr>
            <a:spLocks noGrp="1"/>
          </p:cNvSpPr>
          <p:nvPr>
            <p:ph type="title"/>
          </p:nvPr>
        </p:nvSpPr>
        <p:spPr/>
        <p:txBody>
          <a:bodyPr>
            <a:normAutofit/>
          </a:bodyPr>
          <a:lstStyle/>
          <a:p>
            <a:r>
              <a:rPr lang="en-US" sz="2000" b="1" dirty="0">
                <a:solidFill>
                  <a:schemeClr val="accent2"/>
                </a:solidFill>
                <a:latin typeface="Times New Roman" panose="02020603050405020304" pitchFamily="18" charset="0"/>
                <a:cs typeface="Times New Roman" panose="02020603050405020304" pitchFamily="18" charset="0"/>
              </a:rPr>
              <a:t>Process of Project:</a:t>
            </a:r>
            <a:endParaRPr lang="en-IN" sz="2000" b="1" dirty="0">
              <a:solidFill>
                <a:schemeClr val="accent2"/>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719B508-0290-E2EC-DFB9-29B680B38F58}"/>
              </a:ext>
            </a:extLst>
          </p:cNvPr>
          <p:cNvSpPr txBox="1"/>
          <p:nvPr/>
        </p:nvSpPr>
        <p:spPr>
          <a:xfrm>
            <a:off x="904568" y="1858297"/>
            <a:ext cx="7543800" cy="4524315"/>
          </a:xfrm>
          <a:prstGeom prst="rect">
            <a:avLst/>
          </a:prstGeom>
          <a:noFill/>
        </p:spPr>
        <p:txBody>
          <a:bodyPr wrap="square" rtlCol="0">
            <a:spAutoFit/>
          </a:bodyPr>
          <a:lstStyle/>
          <a:p>
            <a:r>
              <a:rPr lang="en-US" b="1" dirty="0"/>
              <a:t>1. Initialization </a:t>
            </a:r>
            <a:r>
              <a:rPr lang="en-US" dirty="0"/>
              <a:t>- The system initializes by setting up required parameters, including Wi-Fi, MQTT, and sensor </a:t>
            </a:r>
            <a:r>
              <a:rPr lang="en-US" dirty="0" err="1"/>
              <a:t>conFigureureurations</a:t>
            </a:r>
            <a:r>
              <a:rPr lang="en-US" dirty="0"/>
              <a:t>.</a:t>
            </a:r>
          </a:p>
          <a:p>
            <a:endParaRPr lang="en-US" dirty="0"/>
          </a:p>
          <a:p>
            <a:r>
              <a:rPr lang="en-US" b="1" dirty="0"/>
              <a:t> 2. Data Collection from Appliances Network </a:t>
            </a:r>
            <a:r>
              <a:rPr lang="en-US" dirty="0"/>
              <a:t>- The ESP32 collects real-time data from connected appliances. </a:t>
            </a:r>
          </a:p>
          <a:p>
            <a:endParaRPr lang="en-US" dirty="0"/>
          </a:p>
          <a:p>
            <a:r>
              <a:rPr lang="en-US" b="1" dirty="0"/>
              <a:t>3. Data Verification </a:t>
            </a:r>
            <a:r>
              <a:rPr lang="en-US" dirty="0"/>
              <a:t>- If data is received, it is processed further; otherwise, the system waits for new data.</a:t>
            </a:r>
          </a:p>
          <a:p>
            <a:endParaRPr lang="en-US" dirty="0"/>
          </a:p>
          <a:p>
            <a:r>
              <a:rPr lang="en-US" dirty="0"/>
              <a:t> </a:t>
            </a:r>
            <a:r>
              <a:rPr lang="en-US" b="1" dirty="0"/>
              <a:t>4. Display Data on LCD </a:t>
            </a:r>
            <a:r>
              <a:rPr lang="en-US" dirty="0"/>
              <a:t>- The collected data is displayed on the LCD screen for local monitoring. </a:t>
            </a:r>
          </a:p>
          <a:p>
            <a:endParaRPr lang="en-US" b="1" dirty="0"/>
          </a:p>
          <a:p>
            <a:r>
              <a:rPr lang="en-US" b="1" dirty="0"/>
              <a:t>5. Data Transmission to EMS - </a:t>
            </a:r>
            <a:r>
              <a:rPr lang="en-US" dirty="0"/>
              <a:t>The data is sent to the Energy Management System (EMS) for logging and analysis. </a:t>
            </a:r>
          </a:p>
          <a:p>
            <a:endParaRPr lang="en-US" dirty="0"/>
          </a:p>
          <a:p>
            <a:r>
              <a:rPr lang="en-US" dirty="0"/>
              <a:t>. </a:t>
            </a:r>
            <a:endParaRPr lang="en-IN" dirty="0"/>
          </a:p>
        </p:txBody>
      </p:sp>
    </p:spTree>
    <p:extLst>
      <p:ext uri="{BB962C8B-B14F-4D97-AF65-F5344CB8AC3E}">
        <p14:creationId xmlns:p14="http://schemas.microsoft.com/office/powerpoint/2010/main" val="8234571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1FE5B-8167-886E-E7FC-EB4953F1746B}"/>
              </a:ext>
            </a:extLst>
          </p:cNvPr>
          <p:cNvSpPr>
            <a:spLocks noGrp="1"/>
          </p:cNvSpPr>
          <p:nvPr>
            <p:ph type="title"/>
          </p:nvPr>
        </p:nvSpPr>
        <p:spPr>
          <a:xfrm>
            <a:off x="822959" y="904972"/>
            <a:ext cx="7698872" cy="1036949"/>
          </a:xfrm>
        </p:spPr>
        <p:txBody>
          <a:bodyPr>
            <a:normAutofit fontScale="90000"/>
          </a:bodyPr>
          <a:lstStyle/>
          <a:p>
            <a:br>
              <a:rPr lang="en-US" sz="2000" b="1" dirty="0">
                <a:solidFill>
                  <a:schemeClr val="accent2"/>
                </a:solidFill>
                <a:latin typeface="Times New Roman" panose="02020603050405020304" pitchFamily="18" charset="0"/>
                <a:cs typeface="Times New Roman" panose="02020603050405020304" pitchFamily="18" charset="0"/>
              </a:rPr>
            </a:br>
            <a:br>
              <a:rPr lang="en-US" sz="2000" b="1" dirty="0">
                <a:solidFill>
                  <a:schemeClr val="accent2"/>
                </a:solidFill>
                <a:latin typeface="Times New Roman" panose="02020603050405020304" pitchFamily="18" charset="0"/>
                <a:cs typeface="Times New Roman" panose="02020603050405020304" pitchFamily="18" charset="0"/>
              </a:rPr>
            </a:br>
            <a:r>
              <a:rPr lang="en-US" sz="2000" b="1" dirty="0">
                <a:solidFill>
                  <a:schemeClr val="accent2"/>
                </a:solidFill>
                <a:latin typeface="Times New Roman" panose="02020603050405020304" pitchFamily="18" charset="0"/>
                <a:cs typeface="Times New Roman" panose="02020603050405020304" pitchFamily="18" charset="0"/>
              </a:rPr>
              <a:t>Arduino Uno Platform:</a:t>
            </a:r>
            <a:br>
              <a:rPr lang="en-US" sz="2000" b="1" dirty="0">
                <a:solidFill>
                  <a:schemeClr val="accent2"/>
                </a:solidFill>
                <a:latin typeface="Times New Roman" panose="02020603050405020304" pitchFamily="18" charset="0"/>
                <a:cs typeface="Times New Roman" panose="02020603050405020304" pitchFamily="18" charset="0"/>
              </a:rPr>
            </a:br>
            <a:endParaRPr lang="en-IN" sz="2000" dirty="0">
              <a:solidFill>
                <a:schemeClr val="accent2"/>
              </a:solidFill>
            </a:endParaRPr>
          </a:p>
        </p:txBody>
      </p:sp>
      <p:pic>
        <p:nvPicPr>
          <p:cNvPr id="6" name="Picture 5">
            <a:extLst>
              <a:ext uri="{FF2B5EF4-FFF2-40B4-BE49-F238E27FC236}">
                <a16:creationId xmlns:a16="http://schemas.microsoft.com/office/drawing/2014/main" id="{AE71228B-D1A9-239E-85F2-4914CEFB68E4}"/>
              </a:ext>
            </a:extLst>
          </p:cNvPr>
          <p:cNvPicPr>
            <a:picLocks noChangeAspect="1"/>
          </p:cNvPicPr>
          <p:nvPr/>
        </p:nvPicPr>
        <p:blipFill>
          <a:blip r:embed="rId2"/>
          <a:stretch>
            <a:fillRect/>
          </a:stretch>
        </p:blipFill>
        <p:spPr>
          <a:xfrm>
            <a:off x="822959" y="1941921"/>
            <a:ext cx="7757771" cy="3652257"/>
          </a:xfrm>
          <a:prstGeom prst="rect">
            <a:avLst/>
          </a:prstGeom>
        </p:spPr>
      </p:pic>
    </p:spTree>
    <p:extLst>
      <p:ext uri="{BB962C8B-B14F-4D97-AF65-F5344CB8AC3E}">
        <p14:creationId xmlns:p14="http://schemas.microsoft.com/office/powerpoint/2010/main" val="9719303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D9E75-C67F-B748-1A8D-24403EC7B654}"/>
              </a:ext>
            </a:extLst>
          </p:cNvPr>
          <p:cNvSpPr>
            <a:spLocks noGrp="1"/>
          </p:cNvSpPr>
          <p:nvPr>
            <p:ph type="title"/>
          </p:nvPr>
        </p:nvSpPr>
        <p:spPr>
          <a:xfrm>
            <a:off x="465803" y="99791"/>
            <a:ext cx="7543800" cy="1450757"/>
          </a:xfrm>
        </p:spPr>
        <p:txBody>
          <a:bodyPr>
            <a:normAutofit/>
          </a:bodyPr>
          <a:lstStyle/>
          <a:p>
            <a:r>
              <a:rPr lang="en-US" sz="2000" dirty="0">
                <a:solidFill>
                  <a:schemeClr val="accent2"/>
                </a:solidFill>
                <a:latin typeface="Times New Roman" panose="02020603050405020304" pitchFamily="18" charset="0"/>
                <a:cs typeface="Times New Roman" panose="02020603050405020304" pitchFamily="18" charset="0"/>
              </a:rPr>
              <a:t>Node-red Interface:</a:t>
            </a:r>
            <a:endParaRPr lang="en-IN" sz="2000" dirty="0">
              <a:solidFill>
                <a:schemeClr val="accent2"/>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3B05438-765A-1A34-5308-D39CC82B36B2}"/>
              </a:ext>
            </a:extLst>
          </p:cNvPr>
          <p:cNvPicPr>
            <a:picLocks noChangeAspect="1"/>
          </p:cNvPicPr>
          <p:nvPr/>
        </p:nvPicPr>
        <p:blipFill>
          <a:blip r:embed="rId2"/>
          <a:stretch>
            <a:fillRect/>
          </a:stretch>
        </p:blipFill>
        <p:spPr>
          <a:xfrm>
            <a:off x="4237703" y="1620848"/>
            <a:ext cx="4768645" cy="4524314"/>
          </a:xfrm>
          <a:prstGeom prst="rect">
            <a:avLst/>
          </a:prstGeom>
        </p:spPr>
      </p:pic>
      <p:sp>
        <p:nvSpPr>
          <p:cNvPr id="7" name="TextBox 6">
            <a:extLst>
              <a:ext uri="{FF2B5EF4-FFF2-40B4-BE49-F238E27FC236}">
                <a16:creationId xmlns:a16="http://schemas.microsoft.com/office/drawing/2014/main" id="{D73005D9-61D5-17D6-C553-979AFAEBA1BC}"/>
              </a:ext>
            </a:extLst>
          </p:cNvPr>
          <p:cNvSpPr txBox="1"/>
          <p:nvPr/>
        </p:nvSpPr>
        <p:spPr>
          <a:xfrm>
            <a:off x="285134" y="1776690"/>
            <a:ext cx="3834581" cy="4524315"/>
          </a:xfrm>
          <a:prstGeom prst="rect">
            <a:avLst/>
          </a:prstGeom>
          <a:noFill/>
        </p:spPr>
        <p:txBody>
          <a:bodyPr wrap="square" rtlCol="0">
            <a:spAutoFit/>
          </a:bodyPr>
          <a:lstStyle/>
          <a:p>
            <a:r>
              <a:rPr lang="en-US" sz="1600" dirty="0"/>
              <a:t>The user interface for the smart home automation system was developed using Node- RED, enabling seamless control and monitoring of connected devices. The dashboard provides real-time status updates, allowing users to toggle appliances on/off, visualize power consumption trends, and analyze the relationship between date, time, and energy usage through integrated </a:t>
            </a:r>
            <a:r>
              <a:rPr lang="en-US" sz="1600" dirty="0" err="1"/>
              <a:t>ThingSpeak</a:t>
            </a:r>
            <a:r>
              <a:rPr lang="en-US" sz="1600" dirty="0"/>
              <a:t> charts and graphs. Additionally, it supports multiple control mechanisms, including voice commands via Google Assistant, manual switches, and mobile-based toggles. The UI enhances user experience with automated alerts, ensuring efficient energy management while maintaining ease of access and control from any device.</a:t>
            </a:r>
            <a:endParaRPr lang="en-IN" sz="1600" dirty="0"/>
          </a:p>
        </p:txBody>
      </p:sp>
    </p:spTree>
    <p:extLst>
      <p:ext uri="{BB962C8B-B14F-4D97-AF65-F5344CB8AC3E}">
        <p14:creationId xmlns:p14="http://schemas.microsoft.com/office/powerpoint/2010/main" val="2048348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B8CA3-EEE6-0528-DD2F-D3319AE73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D0C54E-D239-A7A2-BD70-3737441C6255}"/>
              </a:ext>
            </a:extLst>
          </p:cNvPr>
          <p:cNvSpPr>
            <a:spLocks noGrp="1"/>
          </p:cNvSpPr>
          <p:nvPr>
            <p:ph type="title"/>
          </p:nvPr>
        </p:nvSpPr>
        <p:spPr/>
        <p:txBody>
          <a:bodyPr>
            <a:normAutofit/>
          </a:bodyPr>
          <a:lstStyle/>
          <a:p>
            <a:r>
              <a:rPr lang="en-US" sz="2000" b="1" dirty="0">
                <a:solidFill>
                  <a:schemeClr val="accent2"/>
                </a:solidFill>
                <a:latin typeface="Times New Roman" panose="02020603050405020304" pitchFamily="18" charset="0"/>
                <a:cs typeface="Times New Roman" panose="02020603050405020304" pitchFamily="18" charset="0"/>
              </a:rPr>
              <a:t>Process of Project:</a:t>
            </a:r>
            <a:endParaRPr lang="en-IN" sz="2000" b="1" dirty="0">
              <a:solidFill>
                <a:schemeClr val="accent2"/>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15C3E55-F66E-2F21-FAEA-36473E846555}"/>
              </a:ext>
            </a:extLst>
          </p:cNvPr>
          <p:cNvSpPr txBox="1"/>
          <p:nvPr/>
        </p:nvSpPr>
        <p:spPr>
          <a:xfrm>
            <a:off x="904568" y="1858297"/>
            <a:ext cx="7543800" cy="1754326"/>
          </a:xfrm>
          <a:prstGeom prst="rect">
            <a:avLst/>
          </a:prstGeom>
          <a:noFill/>
        </p:spPr>
        <p:txBody>
          <a:bodyPr wrap="square" rtlCol="0">
            <a:spAutoFit/>
          </a:bodyPr>
          <a:lstStyle/>
          <a:p>
            <a:r>
              <a:rPr lang="en-US" b="1" dirty="0"/>
              <a:t>7. User Input Verification - </a:t>
            </a:r>
            <a:r>
              <a:rPr lang="en-US" dirty="0"/>
              <a:t>If user input is detected, the corresponding action is executed; otherwise, the system continues monitoring.</a:t>
            </a:r>
          </a:p>
          <a:p>
            <a:endParaRPr lang="en-US" dirty="0"/>
          </a:p>
          <a:p>
            <a:r>
              <a:rPr lang="en-US" b="1" dirty="0"/>
              <a:t> 8. Data Logging - </a:t>
            </a:r>
            <a:r>
              <a:rPr lang="en-US" dirty="0"/>
              <a:t>The system maintains logs of user interactions and energy data with date and time stamps for historical analysis.</a:t>
            </a:r>
          </a:p>
          <a:p>
            <a:r>
              <a:rPr lang="en-US" dirty="0"/>
              <a:t>. </a:t>
            </a:r>
            <a:endParaRPr lang="en-IN" dirty="0"/>
          </a:p>
        </p:txBody>
      </p:sp>
      <p:pic>
        <p:nvPicPr>
          <p:cNvPr id="4" name="Picture 3">
            <a:extLst>
              <a:ext uri="{FF2B5EF4-FFF2-40B4-BE49-F238E27FC236}">
                <a16:creationId xmlns:a16="http://schemas.microsoft.com/office/drawing/2014/main" id="{1D913EB0-303D-BD69-F58B-33A0E7DE0FFD}"/>
              </a:ext>
            </a:extLst>
          </p:cNvPr>
          <p:cNvPicPr>
            <a:picLocks noChangeAspect="1"/>
          </p:cNvPicPr>
          <p:nvPr/>
        </p:nvPicPr>
        <p:blipFill>
          <a:blip r:embed="rId2"/>
          <a:stretch>
            <a:fillRect/>
          </a:stretch>
        </p:blipFill>
        <p:spPr>
          <a:xfrm>
            <a:off x="822960" y="3264309"/>
            <a:ext cx="4216439" cy="3031783"/>
          </a:xfrm>
          <a:prstGeom prst="rect">
            <a:avLst/>
          </a:prstGeom>
        </p:spPr>
      </p:pic>
      <p:sp>
        <p:nvSpPr>
          <p:cNvPr id="5" name="TextBox 4">
            <a:extLst>
              <a:ext uri="{FF2B5EF4-FFF2-40B4-BE49-F238E27FC236}">
                <a16:creationId xmlns:a16="http://schemas.microsoft.com/office/drawing/2014/main" id="{2AC1C399-2D92-97AB-1D48-4CD49E8A9632}"/>
              </a:ext>
            </a:extLst>
          </p:cNvPr>
          <p:cNvSpPr txBox="1"/>
          <p:nvPr/>
        </p:nvSpPr>
        <p:spPr>
          <a:xfrm>
            <a:off x="5039399" y="4041058"/>
            <a:ext cx="3573659" cy="646331"/>
          </a:xfrm>
          <a:prstGeom prst="rect">
            <a:avLst/>
          </a:prstGeom>
          <a:noFill/>
        </p:spPr>
        <p:txBody>
          <a:bodyPr wrap="square" rtlCol="0">
            <a:spAutoFit/>
          </a:bodyPr>
          <a:lstStyle/>
          <a:p>
            <a:r>
              <a:rPr lang="en-IN" dirty="0"/>
              <a:t>Mobile app with Internet Connection</a:t>
            </a:r>
          </a:p>
        </p:txBody>
      </p:sp>
    </p:spTree>
    <p:extLst>
      <p:ext uri="{BB962C8B-B14F-4D97-AF65-F5344CB8AC3E}">
        <p14:creationId xmlns:p14="http://schemas.microsoft.com/office/powerpoint/2010/main" val="2370293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A5307-16ED-F1C4-7ABC-047BFE02B02D}"/>
              </a:ext>
            </a:extLst>
          </p:cNvPr>
          <p:cNvSpPr>
            <a:spLocks noGrp="1"/>
          </p:cNvSpPr>
          <p:nvPr>
            <p:ph type="title"/>
          </p:nvPr>
        </p:nvSpPr>
        <p:spPr/>
        <p:txBody>
          <a:bodyPr>
            <a:normAutofit/>
          </a:bodyPr>
          <a:lstStyle/>
          <a:p>
            <a:r>
              <a:rPr lang="en-US" sz="2000" b="1" dirty="0">
                <a:solidFill>
                  <a:schemeClr val="accent2"/>
                </a:solidFill>
                <a:latin typeface="Times New Roman" panose="02020603050405020304" pitchFamily="18" charset="0"/>
                <a:cs typeface="Times New Roman" panose="02020603050405020304" pitchFamily="18" charset="0"/>
              </a:rPr>
              <a:t>Charts and Visualizations </a:t>
            </a:r>
            <a:endParaRPr lang="en-IN" sz="2000" b="1" dirty="0">
              <a:solidFill>
                <a:schemeClr val="accent2"/>
              </a:solidFill>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3932596C-E861-F99C-A755-D6D552A00972}"/>
              </a:ext>
            </a:extLst>
          </p:cNvPr>
          <p:cNvSpPr>
            <a:spLocks noGrp="1" noChangeArrowheads="1"/>
          </p:cNvSpPr>
          <p:nvPr>
            <p:ph idx="1"/>
          </p:nvPr>
        </p:nvSpPr>
        <p:spPr bwMode="auto">
          <a:xfrm>
            <a:off x="777240" y="2182283"/>
            <a:ext cx="370676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sz="1600" dirty="0"/>
              <a:t>To analyze the power consumption pattern over time, the system logs real-time energy data to </a:t>
            </a:r>
            <a:r>
              <a:rPr lang="en-US" sz="1600" dirty="0" err="1"/>
              <a:t>ThingSpeak</a:t>
            </a:r>
            <a:r>
              <a:rPr lang="en-US" sz="1600" dirty="0"/>
              <a:t>, where it is visualized through various charts and graphs. The key observations from the collected data indicate the relationship between power consumption and date/time.</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IN" sz="1600" dirty="0"/>
              <a:t>Time-Based Power Consumption Trends</a:t>
            </a:r>
            <a:endParaRPr lang="en-US" sz="1600" dirty="0">
              <a:solidFill>
                <a:schemeClr val="tx1"/>
              </a:solidFill>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R="0" lvl="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lang="en-IN" sz="1600" dirty="0"/>
              <a:t>Daily Power Usage Fluctuations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EEBF663-F7EE-C9AD-8940-166A5E74C598}"/>
              </a:ext>
            </a:extLst>
          </p:cNvPr>
          <p:cNvPicPr>
            <a:picLocks noChangeAspect="1"/>
          </p:cNvPicPr>
          <p:nvPr/>
        </p:nvPicPr>
        <p:blipFill>
          <a:blip r:embed="rId2"/>
          <a:stretch>
            <a:fillRect/>
          </a:stretch>
        </p:blipFill>
        <p:spPr>
          <a:xfrm>
            <a:off x="4594860" y="2089110"/>
            <a:ext cx="4228361" cy="3567632"/>
          </a:xfrm>
          <a:prstGeom prst="rect">
            <a:avLst/>
          </a:prstGeom>
        </p:spPr>
      </p:pic>
    </p:spTree>
    <p:extLst>
      <p:ext uri="{BB962C8B-B14F-4D97-AF65-F5344CB8AC3E}">
        <p14:creationId xmlns:p14="http://schemas.microsoft.com/office/powerpoint/2010/main" val="3824299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5521B-9DA7-49A4-B1F0-45DE021F5570}"/>
              </a:ext>
            </a:extLst>
          </p:cNvPr>
          <p:cNvSpPr>
            <a:spLocks noGrp="1"/>
          </p:cNvSpPr>
          <p:nvPr>
            <p:ph type="title"/>
          </p:nvPr>
        </p:nvSpPr>
        <p:spPr/>
        <p:txBody>
          <a:bodyPr>
            <a:normAutofit/>
          </a:bodyPr>
          <a:lstStyle/>
          <a:p>
            <a:r>
              <a:rPr lang="en-US" sz="2000" b="1" dirty="0">
                <a:solidFill>
                  <a:schemeClr val="accent2"/>
                </a:solidFill>
                <a:latin typeface="Times New Roman" panose="02020603050405020304" pitchFamily="18" charset="0"/>
                <a:cs typeface="Times New Roman" panose="02020603050405020304" pitchFamily="18" charset="0"/>
              </a:rPr>
              <a:t>Energy Tracking:</a:t>
            </a:r>
            <a:endParaRPr lang="en-IN" sz="2000" dirty="0"/>
          </a:p>
        </p:txBody>
      </p:sp>
      <p:pic>
        <p:nvPicPr>
          <p:cNvPr id="8" name="Picture 7">
            <a:extLst>
              <a:ext uri="{FF2B5EF4-FFF2-40B4-BE49-F238E27FC236}">
                <a16:creationId xmlns:a16="http://schemas.microsoft.com/office/drawing/2014/main" id="{B02FE598-C638-074D-07DC-73E3F24D79D7}"/>
              </a:ext>
            </a:extLst>
          </p:cNvPr>
          <p:cNvPicPr>
            <a:picLocks noChangeAspect="1"/>
          </p:cNvPicPr>
          <p:nvPr/>
        </p:nvPicPr>
        <p:blipFill>
          <a:blip r:embed="rId2"/>
          <a:stretch>
            <a:fillRect/>
          </a:stretch>
        </p:blipFill>
        <p:spPr>
          <a:xfrm>
            <a:off x="388586" y="1923551"/>
            <a:ext cx="4206274" cy="3574204"/>
          </a:xfrm>
          <a:prstGeom prst="rect">
            <a:avLst/>
          </a:prstGeom>
        </p:spPr>
      </p:pic>
      <p:pic>
        <p:nvPicPr>
          <p:cNvPr id="10" name="Picture 9">
            <a:extLst>
              <a:ext uri="{FF2B5EF4-FFF2-40B4-BE49-F238E27FC236}">
                <a16:creationId xmlns:a16="http://schemas.microsoft.com/office/drawing/2014/main" id="{D3D33F82-96D5-2D1E-7899-8BF5EE80F0C8}"/>
              </a:ext>
            </a:extLst>
          </p:cNvPr>
          <p:cNvPicPr>
            <a:picLocks noChangeAspect="1"/>
          </p:cNvPicPr>
          <p:nvPr/>
        </p:nvPicPr>
        <p:blipFill>
          <a:blip r:embed="rId3"/>
          <a:stretch>
            <a:fillRect/>
          </a:stretch>
        </p:blipFill>
        <p:spPr>
          <a:xfrm>
            <a:off x="4701752" y="1923551"/>
            <a:ext cx="4206274" cy="3574204"/>
          </a:xfrm>
          <a:prstGeom prst="rect">
            <a:avLst/>
          </a:prstGeom>
        </p:spPr>
      </p:pic>
    </p:spTree>
    <p:extLst>
      <p:ext uri="{BB962C8B-B14F-4D97-AF65-F5344CB8AC3E}">
        <p14:creationId xmlns:p14="http://schemas.microsoft.com/office/powerpoint/2010/main" val="41461593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a:solidFill>
                  <a:schemeClr val="accent2"/>
                </a:solidFill>
                <a:latin typeface="Times New Roman" panose="02020603050405020304" pitchFamily="18" charset="0"/>
                <a:cs typeface="Times New Roman" panose="02020603050405020304" pitchFamily="18" charset="0"/>
              </a:rPr>
              <a:t>Results And </a:t>
            </a:r>
            <a:r>
              <a:rPr sz="2000" b="1" dirty="0">
                <a:solidFill>
                  <a:schemeClr val="accent2"/>
                </a:solidFill>
                <a:latin typeface="Times New Roman" panose="02020603050405020304" pitchFamily="18" charset="0"/>
                <a:cs typeface="Times New Roman" panose="02020603050405020304" pitchFamily="18" charset="0"/>
              </a:rPr>
              <a:t>Discussion</a:t>
            </a:r>
            <a:r>
              <a:rPr lang="en-US" sz="2000" b="1" dirty="0">
                <a:solidFill>
                  <a:schemeClr val="accent2"/>
                </a:solidFill>
                <a:latin typeface="Times New Roman" panose="02020603050405020304" pitchFamily="18" charset="0"/>
                <a:cs typeface="Times New Roman" panose="02020603050405020304" pitchFamily="18" charset="0"/>
              </a:rPr>
              <a:t>:</a:t>
            </a:r>
            <a:endParaRPr sz="2000"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Ø"/>
            </a:pPr>
            <a:r>
              <a:rPr lang="en-US" sz="1600" dirty="0"/>
              <a:t> </a:t>
            </a:r>
            <a:r>
              <a:rPr lang="en-US" sz="1600" b="1" dirty="0"/>
              <a:t>Insightful Energy Analytics:</a:t>
            </a:r>
            <a:br>
              <a:rPr lang="en-US" sz="1600" dirty="0"/>
            </a:br>
            <a:r>
              <a:rPr lang="en-US" sz="1600" dirty="0"/>
              <a:t>Real-time monitoring via </a:t>
            </a:r>
            <a:r>
              <a:rPr lang="en-US" sz="1600" b="1" dirty="0" err="1"/>
              <a:t>ThingSpeak</a:t>
            </a:r>
            <a:r>
              <a:rPr lang="en-US" sz="1600" dirty="0"/>
              <a:t> enabled users to </a:t>
            </a:r>
            <a:r>
              <a:rPr lang="en-US" sz="1600" b="1" dirty="0"/>
              <a:t>track, analyze, and visualize</a:t>
            </a:r>
            <a:r>
              <a:rPr lang="en-US" sz="1600" dirty="0"/>
              <a:t> energy usage patterns, helping identify inefficiencies and optimize appliance behavior over time.</a:t>
            </a:r>
          </a:p>
          <a:p>
            <a:pPr>
              <a:buFont typeface="Wingdings" panose="05000000000000000000" pitchFamily="2" charset="2"/>
              <a:buChar char="Ø"/>
            </a:pPr>
            <a:r>
              <a:rPr lang="en-US" sz="1600" dirty="0"/>
              <a:t> </a:t>
            </a:r>
            <a:r>
              <a:rPr lang="en-US" sz="1600" b="1" dirty="0"/>
              <a:t>Seamless Remote Control with MQTT:</a:t>
            </a:r>
            <a:br>
              <a:rPr lang="en-US" sz="1600" dirty="0"/>
            </a:br>
            <a:r>
              <a:rPr lang="en-US" sz="1600" dirty="0"/>
              <a:t>Integration with the </a:t>
            </a:r>
            <a:r>
              <a:rPr lang="en-US" sz="1600" b="1" dirty="0" err="1"/>
              <a:t>HiveMQ</a:t>
            </a:r>
            <a:r>
              <a:rPr lang="en-US" sz="1600" b="1" dirty="0"/>
              <a:t> MQTT broker</a:t>
            </a:r>
            <a:r>
              <a:rPr lang="en-US" sz="1600" dirty="0"/>
              <a:t> enabled </a:t>
            </a:r>
            <a:r>
              <a:rPr lang="en-US" sz="1600" b="1" dirty="0"/>
              <a:t>instantaneous (&lt;1s)</a:t>
            </a:r>
            <a:r>
              <a:rPr lang="en-US" sz="1600" dirty="0"/>
              <a:t> response times for remote appliance control through the web dashboard or mobile interface, ensuring a </a:t>
            </a:r>
            <a:r>
              <a:rPr lang="en-US" sz="1600" b="1" dirty="0"/>
              <a:t>lag-free experience</a:t>
            </a:r>
            <a:r>
              <a:rPr lang="en-US" sz="1600" dirty="0"/>
              <a:t>.</a:t>
            </a:r>
          </a:p>
          <a:p>
            <a:pPr>
              <a:buFont typeface="Wingdings" panose="05000000000000000000" pitchFamily="2" charset="2"/>
              <a:buChar char="Ø"/>
            </a:pPr>
            <a:r>
              <a:rPr lang="en-US" sz="1600" b="1" dirty="0"/>
              <a:t>Reliable Manual Override:</a:t>
            </a:r>
            <a:br>
              <a:rPr lang="en-US" sz="1600" dirty="0"/>
            </a:br>
            <a:r>
              <a:rPr lang="en-US" sz="1600" dirty="0"/>
              <a:t>Even in the absence of internet connectivity, </a:t>
            </a:r>
            <a:r>
              <a:rPr lang="en-US" sz="1600" b="1" dirty="0"/>
              <a:t>manual push-button control</a:t>
            </a:r>
            <a:r>
              <a:rPr lang="en-US" sz="1600" dirty="0"/>
              <a:t> remained functional—ensuring </a:t>
            </a:r>
            <a:r>
              <a:rPr lang="en-US" sz="1600" b="1" dirty="0"/>
              <a:t>continuous usability</a:t>
            </a:r>
            <a:r>
              <a:rPr lang="en-US" sz="1600" dirty="0"/>
              <a:t> and flexibility in all scenarios.</a:t>
            </a:r>
          </a:p>
          <a:p>
            <a:pPr>
              <a:buFont typeface="Wingdings" panose="05000000000000000000" pitchFamily="2" charset="2"/>
              <a:buChar char="Ø"/>
            </a:pPr>
            <a:r>
              <a:rPr lang="en-US" sz="1600" dirty="0"/>
              <a:t> </a:t>
            </a:r>
            <a:r>
              <a:rPr lang="en-US" sz="1600" b="1" dirty="0"/>
              <a:t>Cost-Effective &amp; User-Centric Design:</a:t>
            </a:r>
            <a:br>
              <a:rPr lang="en-US" sz="1600" dirty="0"/>
            </a:br>
            <a:r>
              <a:rPr lang="en-US" sz="1600" dirty="0"/>
              <a:t>The system strikes an ideal balance between </a:t>
            </a:r>
            <a:r>
              <a:rPr lang="en-US" sz="1600" b="1" dirty="0"/>
              <a:t>energy efficiency</a:t>
            </a:r>
            <a:r>
              <a:rPr lang="en-US" sz="1600" dirty="0"/>
              <a:t> and </a:t>
            </a:r>
            <a:r>
              <a:rPr lang="en-US" sz="1600" b="1" dirty="0"/>
              <a:t>user convenience</a:t>
            </a:r>
            <a:r>
              <a:rPr lang="en-US" sz="1600" dirty="0"/>
              <a:t>, enabling automation for </a:t>
            </a:r>
            <a:r>
              <a:rPr lang="en-US" sz="1600" b="1" dirty="0"/>
              <a:t>non-smart devices</a:t>
            </a:r>
            <a:r>
              <a:rPr lang="en-US" sz="1600" dirty="0"/>
              <a:t> without the need for expensive upgrades.</a:t>
            </a:r>
          </a:p>
          <a:p>
            <a:pPr marL="0" indent="0" algn="just">
              <a:buNone/>
            </a:pP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chemeClr val="accent2"/>
                </a:solidFill>
                <a:latin typeface="Times New Roman" panose="02020603050405020304" pitchFamily="18" charset="0"/>
                <a:cs typeface="Times New Roman" panose="02020603050405020304" pitchFamily="18" charset="0"/>
              </a:rPr>
              <a:t>Conclusion</a:t>
            </a:r>
            <a:r>
              <a:rPr lang="en-US" sz="2000" b="1" dirty="0">
                <a:solidFill>
                  <a:schemeClr val="accent2"/>
                </a:solidFill>
                <a:latin typeface="Times New Roman" panose="02020603050405020304" pitchFamily="18" charset="0"/>
                <a:cs typeface="Times New Roman" panose="02020603050405020304" pitchFamily="18" charset="0"/>
              </a:rPr>
              <a:t>:</a:t>
            </a:r>
            <a:endParaRPr sz="2000"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22960" y="2224726"/>
            <a:ext cx="7543800" cy="3644368"/>
          </a:xfrm>
        </p:spPr>
        <p:txBody>
          <a:bodyPr>
            <a:normAutofit/>
          </a:bodyPr>
          <a:lstStyle/>
          <a:p>
            <a:pPr marL="0" indent="0" algn="just">
              <a:buNone/>
            </a:pPr>
            <a:r>
              <a:rPr lang="en-US" sz="1600" dirty="0"/>
              <a:t>The IoT-based smart home automation system offers a flexible, scalable, and energy-efficient solution for modern home management. By integrating manual and automated controls, real-time energy monitoring, and cloud-based analytics, it empowers users to optimize energy consumption and appliance usage. Built using the ESP32 microcontroller, Node-RED interface, and Aquila Optimization algorithm, the system demonstrated significant energy savings of up to 20% compared to manual operation. Features like remote control, real-time monitoring, and intelligent optimization enhance efficiency, convenience, and security. This system effectively addresses challenges related to peak load management and sustainable energy usage.  </a:t>
            </a:r>
            <a:endParaRPr lang="en-IN"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chemeClr val="accent2"/>
                </a:solidFill>
                <a:latin typeface="Times New Roman" panose="02020603050405020304" pitchFamily="18" charset="0"/>
                <a:cs typeface="Times New Roman" panose="02020603050405020304" pitchFamily="18" charset="0"/>
              </a:rPr>
              <a:t>Future Work</a:t>
            </a:r>
            <a:r>
              <a:rPr lang="en-US" sz="2000" b="1" dirty="0">
                <a:solidFill>
                  <a:schemeClr val="accent2"/>
                </a:solidFill>
                <a:latin typeface="Times New Roman" panose="02020603050405020304" pitchFamily="18" charset="0"/>
                <a:cs typeface="Times New Roman" panose="02020603050405020304" pitchFamily="18" charset="0"/>
              </a:rPr>
              <a:t>:</a:t>
            </a:r>
            <a:endParaRPr sz="2000" b="1" dirty="0">
              <a:solidFill>
                <a:schemeClr val="accent2"/>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5A20866-4696-7587-665D-33EB69E867DE}"/>
              </a:ext>
            </a:extLst>
          </p:cNvPr>
          <p:cNvSpPr txBox="1"/>
          <p:nvPr/>
        </p:nvSpPr>
        <p:spPr>
          <a:xfrm>
            <a:off x="914400" y="1821180"/>
            <a:ext cx="7658100" cy="3785652"/>
          </a:xfrm>
          <a:prstGeom prst="rect">
            <a:avLst/>
          </a:prstGeom>
          <a:noFill/>
        </p:spPr>
        <p:txBody>
          <a:bodyPr wrap="square" rtlCol="0">
            <a:spAutoFit/>
          </a:bodyPr>
          <a:lstStyle/>
          <a:p>
            <a:r>
              <a:rPr lang="en-IN" sz="1600" dirty="0"/>
              <a:t>To enhance system capabilities and meet evolving smart home standards, the following improvements are proposed:</a:t>
            </a:r>
          </a:p>
          <a:p>
            <a:endParaRPr lang="en-IN" sz="1600" dirty="0"/>
          </a:p>
          <a:p>
            <a:r>
              <a:rPr lang="en-IN" sz="1600" dirty="0"/>
              <a:t> </a:t>
            </a:r>
            <a:r>
              <a:rPr lang="en-IN" sz="1600" b="1" dirty="0"/>
              <a:t>AI-Based Predictive Automation: </a:t>
            </a:r>
            <a:r>
              <a:rPr lang="en-IN" sz="1600" dirty="0"/>
              <a:t>Integration of machine learning algorithms to forecast usage patterns and automate control accordingly. Smart appliance learning based on user habits</a:t>
            </a:r>
          </a:p>
          <a:p>
            <a:endParaRPr lang="en-IN" sz="1600" dirty="0"/>
          </a:p>
          <a:p>
            <a:r>
              <a:rPr lang="en-IN" sz="1600" b="1" dirty="0"/>
              <a:t>Enhanced Security Features: </a:t>
            </a:r>
            <a:r>
              <a:rPr lang="en-IN" sz="1600" dirty="0"/>
              <a:t>Incorporating MQTT over TLS/SSL for encrypted communication. User authentication and access control for web/mobile dashboards.</a:t>
            </a:r>
          </a:p>
          <a:p>
            <a:endParaRPr lang="en-IN" sz="1600" b="1" dirty="0"/>
          </a:p>
          <a:p>
            <a:r>
              <a:rPr lang="en-IN" sz="1600" b="1" dirty="0"/>
              <a:t> Mobile Notifications:  </a:t>
            </a:r>
            <a:r>
              <a:rPr lang="en-IN" sz="1600" dirty="0"/>
              <a:t>Push alerts for abnormal energy usage, connectivity issues, or device malfunctions. </a:t>
            </a:r>
          </a:p>
          <a:p>
            <a:endParaRPr lang="en-IN" sz="1600" b="1" dirty="0"/>
          </a:p>
          <a:p>
            <a:r>
              <a:rPr lang="en-IN" sz="1600" b="1" dirty="0"/>
              <a:t>Renewable Energy Integration:  </a:t>
            </a:r>
            <a:r>
              <a:rPr lang="en-IN" sz="1600" dirty="0"/>
              <a:t>Adding support for solar panels or battery storage systems to optimize renewable energy consumption.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000" b="1" dirty="0">
                <a:solidFill>
                  <a:schemeClr val="accent2"/>
                </a:solidFill>
                <a:latin typeface="Times New Roman" panose="02020603050405020304" pitchFamily="18" charset="0"/>
                <a:cs typeface="Times New Roman" panose="02020603050405020304" pitchFamily="18" charset="0"/>
              </a:rPr>
              <a:t>Acknowledgments</a:t>
            </a:r>
            <a:r>
              <a:rPr lang="en-US" sz="2000" b="1" dirty="0">
                <a:solidFill>
                  <a:schemeClr val="accent2"/>
                </a:solidFill>
                <a:latin typeface="Times New Roman" panose="02020603050405020304" pitchFamily="18" charset="0"/>
                <a:cs typeface="Times New Roman" panose="02020603050405020304" pitchFamily="18" charset="0"/>
              </a:rPr>
              <a:t>:</a:t>
            </a:r>
            <a:endParaRPr sz="2000" b="1" dirty="0">
              <a:solidFill>
                <a:schemeClr val="accent2"/>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21080" y="2026920"/>
            <a:ext cx="6522720" cy="1790700"/>
          </a:xfrm>
        </p:spPr>
        <p:txBody>
          <a:bodyPr>
            <a:noAutofit/>
          </a:bodyPr>
          <a:lstStyle/>
          <a:p>
            <a:pPr>
              <a:buNone/>
            </a:pPr>
            <a:r>
              <a:rPr lang="en-US" sz="1600" dirty="0">
                <a:latin typeface="Times New Roman" panose="02020603050405020304" pitchFamily="18" charset="0"/>
                <a:cs typeface="Times New Roman" panose="02020603050405020304" pitchFamily="18" charset="0"/>
              </a:rPr>
              <a:t>I would like to express my sincere gratitude to the following individuals and institutions whose support was instrumental in completing this project:</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Faculty Advisors and Project Mentors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For their continuous guidance, technical insights, and encouragement throughout the development process.</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Lakireddy Bali Reddy College of Engineering</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For providing the infrastructure, resources, and a collaborative environment essential for hands-on experimentation and innovation.</a:t>
            </a:r>
          </a:p>
          <a:p>
            <a:pPr>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Open-source Communities and Developers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Whose tools and libraries—especially Arduino Uno, Node-red, and </a:t>
            </a:r>
            <a:r>
              <a:rPr lang="en-US" sz="1600" dirty="0" err="1">
                <a:latin typeface="Times New Roman" panose="02020603050405020304" pitchFamily="18" charset="0"/>
                <a:cs typeface="Times New Roman" panose="02020603050405020304" pitchFamily="18" charset="0"/>
              </a:rPr>
              <a:t>ThingSpeak</a:t>
            </a:r>
            <a:r>
              <a:rPr lang="en-US" sz="1600" dirty="0">
                <a:latin typeface="Times New Roman" panose="02020603050405020304" pitchFamily="18" charset="0"/>
                <a:cs typeface="Times New Roman" panose="02020603050405020304" pitchFamily="18" charset="0"/>
              </a:rPr>
              <a:t> , documentations—played a vital role in implementation.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solidFill>
                  <a:schemeClr val="accent2"/>
                </a:solidFill>
                <a:latin typeface="Times New Roman" panose="02020603050405020304" pitchFamily="18" charset="0"/>
                <a:cs typeface="Times New Roman" panose="02020603050405020304" pitchFamily="18" charset="0"/>
              </a:rPr>
              <a:t>Thank You!</a:t>
            </a:r>
          </a:p>
        </p:txBody>
      </p:sp>
      <p:sp>
        <p:nvSpPr>
          <p:cNvPr id="3" name="Subtitle 2"/>
          <p:cNvSpPr>
            <a:spLocks noGrp="1"/>
          </p:cNvSpPr>
          <p:nvPr>
            <p:ph type="subTitle" idx="1"/>
          </p:nvPr>
        </p:nvSpPr>
        <p:spPr>
          <a:xfrm>
            <a:off x="946958" y="4597861"/>
            <a:ext cx="7543800" cy="1143000"/>
          </a:xfrm>
        </p:spPr>
        <p:txBody>
          <a:bodyPr>
            <a:normAutofit fontScale="47500" lnSpcReduction="20000"/>
          </a:bodyPr>
          <a:lstStyle/>
          <a:p>
            <a:r>
              <a:rPr lang="en-IN" dirty="0">
                <a:latin typeface="Times New Roman" panose="02020603050405020304" pitchFamily="18" charset="0"/>
                <a:cs typeface="Times New Roman" panose="02020603050405020304" pitchFamily="18" charset="0"/>
              </a:rPr>
              <a:t>SAIKUMAR IKA</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Email: </a:t>
            </a:r>
            <a:r>
              <a:rPr lang="en-US" dirty="0">
                <a:latin typeface="Times New Roman" panose="02020603050405020304" pitchFamily="18" charset="0"/>
                <a:cs typeface="Times New Roman" panose="02020603050405020304" pitchFamily="18" charset="0"/>
              </a:rPr>
              <a:t>ika.saikumar111@gmail.com</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Paper ID: 13</a:t>
            </a:r>
            <a:r>
              <a:rPr lang="en-IN" dirty="0">
                <a:latin typeface="Times New Roman" panose="02020603050405020304" pitchFamily="18" charset="0"/>
                <a:cs typeface="Times New Roman" panose="02020603050405020304" pitchFamily="18" charset="0"/>
              </a:rPr>
              <a:t>7</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Questions and discussions welcome!</a:t>
            </a:r>
          </a:p>
        </p:txBody>
      </p:sp>
      <p:pic>
        <p:nvPicPr>
          <p:cNvPr id="3074" name="Picture 2">
            <a:extLst>
              <a:ext uri="{FF2B5EF4-FFF2-40B4-BE49-F238E27FC236}">
                <a16:creationId xmlns:a16="http://schemas.microsoft.com/office/drawing/2014/main" id="{54CCB886-CAC0-09C8-6B97-548E636030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5250" y="1"/>
            <a:ext cx="1428750" cy="133860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263</TotalTime>
  <Words>2260</Words>
  <Application>Microsoft Office PowerPoint</Application>
  <PresentationFormat>On-screen Show (4:3)</PresentationFormat>
  <Paragraphs>196</Paragraphs>
  <Slides>25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Arial Unicode MS</vt:lpstr>
      <vt:lpstr>Calibri</vt:lpstr>
      <vt:lpstr>Calibri Light</vt:lpstr>
      <vt:lpstr>Söhne</vt:lpstr>
      <vt:lpstr>Times New Roman</vt:lpstr>
      <vt:lpstr>Wingdings</vt:lpstr>
      <vt:lpstr>Retrospect</vt:lpstr>
      <vt:lpstr>Efficient Scheduling of Smart Home Appliances Using Aquila Optimization Algorithm and Energy Monitoring using ThingSpeak</vt:lpstr>
      <vt:lpstr>Introduction / Motivation</vt:lpstr>
      <vt:lpstr>Problem Statement</vt:lpstr>
      <vt:lpstr>Objectives</vt:lpstr>
      <vt:lpstr>Background / Literature Review:</vt:lpstr>
      <vt:lpstr>Background / Literature Review:</vt:lpstr>
      <vt:lpstr>Methodology / Approach:</vt:lpstr>
      <vt:lpstr>Implementation:</vt:lpstr>
      <vt:lpstr>Implementation:</vt:lpstr>
      <vt:lpstr>System Architecture</vt:lpstr>
      <vt:lpstr>Circuit Diagram</vt:lpstr>
      <vt:lpstr>Implementation:</vt:lpstr>
      <vt:lpstr>Implementation Flow:</vt:lpstr>
      <vt:lpstr>Process of Project:</vt:lpstr>
      <vt:lpstr>Process of Project:</vt:lpstr>
      <vt:lpstr>  Arduino Uno Platform: </vt:lpstr>
      <vt:lpstr>Node-red Interface:</vt:lpstr>
      <vt:lpstr>Process of Project:</vt:lpstr>
      <vt:lpstr>Charts and Visualizations </vt:lpstr>
      <vt:lpstr>Energy Tracking:</vt:lpstr>
      <vt:lpstr>Results And Discussion:</vt:lpstr>
      <vt:lpstr>Conclusion:</vt:lpstr>
      <vt:lpstr>Future Work:</vt:lpstr>
      <vt:lpstr>Acknowledgments: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Bhavya Sri</dc:creator>
  <cp:keywords/>
  <dc:description>generated using python-pptx</dc:description>
  <cp:lastModifiedBy>Saikumar Ika</cp:lastModifiedBy>
  <cp:revision>8</cp:revision>
  <dcterms:created xsi:type="dcterms:W3CDTF">2013-01-27T09:14:16Z</dcterms:created>
  <dcterms:modified xsi:type="dcterms:W3CDTF">2025-04-18T18:42:23Z</dcterms:modified>
  <cp:category/>
</cp:coreProperties>
</file>