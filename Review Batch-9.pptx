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731" r:id="rId2"/>
    <p:sldMasterId id="2147483833" r:id="rId3"/>
  </p:sldMasterIdLst>
  <p:notesMasterIdLst>
    <p:notesMasterId r:id="rId27"/>
  </p:notesMasterIdLst>
  <p:sldIdLst>
    <p:sldId id="256" r:id="rId4"/>
    <p:sldId id="284" r:id="rId5"/>
    <p:sldId id="258" r:id="rId6"/>
    <p:sldId id="278" r:id="rId7"/>
    <p:sldId id="259" r:id="rId8"/>
    <p:sldId id="283" r:id="rId9"/>
    <p:sldId id="262" r:id="rId10"/>
    <p:sldId id="302" r:id="rId11"/>
    <p:sldId id="304" r:id="rId12"/>
    <p:sldId id="279" r:id="rId13"/>
    <p:sldId id="297" r:id="rId14"/>
    <p:sldId id="280" r:id="rId15"/>
    <p:sldId id="282" r:id="rId16"/>
    <p:sldId id="285" r:id="rId17"/>
    <p:sldId id="295" r:id="rId18"/>
    <p:sldId id="293" r:id="rId19"/>
    <p:sldId id="296" r:id="rId20"/>
    <p:sldId id="294" r:id="rId21"/>
    <p:sldId id="264" r:id="rId22"/>
    <p:sldId id="299" r:id="rId23"/>
    <p:sldId id="300" r:id="rId24"/>
    <p:sldId id="265" r:id="rId25"/>
    <p:sldId id="277" r:id="rId26"/>
  </p:sldIdLst>
  <p:sldSz cx="9144000" cy="5143500" type="screen16x9"/>
  <p:notesSz cx="6858000" cy="9144000"/>
  <p:embeddedFontLst>
    <p:embeddedFont>
      <p:font typeface="Black Han Sans" panose="020B0604020202020204" charset="-127"/>
      <p:regular r:id="rId28"/>
    </p:embeddedFont>
    <p:embeddedFont>
      <p:font typeface="ABeeZee" panose="020B0604020202020204" charset="0"/>
      <p:regular r:id="rId29"/>
      <p:italic r:id="rId30"/>
    </p:embeddedFont>
    <p:embeddedFont>
      <p:font typeface="Calisto MT" panose="02040603050505030304" pitchFamily="18" charset="0"/>
      <p:regular r:id="rId31"/>
      <p:bold r:id="rId32"/>
      <p:italic r:id="rId33"/>
      <p:boldItalic r:id="rId34"/>
    </p:embeddedFont>
    <p:embeddedFont>
      <p:font typeface="Century Schoolbook" panose="02040604050505020304" pitchFamily="18" charset="0"/>
      <p:regular r:id="rId35"/>
      <p:bold r:id="rId36"/>
      <p:italic r:id="rId37"/>
      <p:boldItalic r:id="rId38"/>
    </p:embeddedFont>
    <p:embeddedFont>
      <p:font typeface="Consolas" panose="020B0609020204030204" pitchFamily="49" charset="0"/>
      <p:regular r:id="rId39"/>
      <p:bold r:id="rId40"/>
      <p:italic r:id="rId41"/>
      <p:boldItalic r:id="rId42"/>
    </p:embeddedFont>
    <p:embeddedFont>
      <p:font typeface="Garamond" panose="02020404030301010803" pitchFamily="18" charset="0"/>
      <p:regular r:id="rId43"/>
      <p:bold r:id="rId44"/>
      <p:italic r:id="rId45"/>
    </p:embeddedFont>
    <p:embeddedFont>
      <p:font typeface="Roboto Condensed Light" panose="02000000000000000000" pitchFamily="2" charset="0"/>
      <p:regular r:id="rId46"/>
      <p:italic r:id="rId47"/>
    </p:embeddedFont>
    <p:embeddedFont>
      <p:font typeface="Wingdings 2" panose="05020102010507070707" pitchFamily="18" charset="2"/>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329FF0-5012-4546-9E4F-AC3A30E49BC8}">
  <a:tblStyle styleId="{9A329FF0-5012-4546-9E4F-AC3A30E49B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103" d="100"/>
          <a:sy n="103" d="100"/>
        </p:scale>
        <p:origin x="101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2.fntdata"/><Relationship Id="rId21" Type="http://schemas.openxmlformats.org/officeDocument/2006/relationships/slide" Target="slides/slide18.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2.fntdata"/><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microsoft.com/office/2016/11/relationships/changesInfo" Target="changesInfos/changesInfo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4" Type="http://schemas.openxmlformats.org/officeDocument/2006/relationships/font" Target="fonts/font17.fntdata"/><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7.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na Chintalapudi" userId="717c49da7b8de969" providerId="LiveId" clId="{16935BF8-A274-4585-A8A5-F34AEEC39546}"/>
    <pc:docChg chg="custSel modSld">
      <pc:chgData name="Joshna Chintalapudi" userId="717c49da7b8de969" providerId="LiveId" clId="{16935BF8-A274-4585-A8A5-F34AEEC39546}" dt="2025-04-02T16:51:29.152" v="371" actId="20577"/>
      <pc:docMkLst>
        <pc:docMk/>
      </pc:docMkLst>
      <pc:sldChg chg="modSp mod">
        <pc:chgData name="Joshna Chintalapudi" userId="717c49da7b8de969" providerId="LiveId" clId="{16935BF8-A274-4585-A8A5-F34AEEC39546}" dt="2025-04-02T16:50:06.595" v="208" actId="20577"/>
        <pc:sldMkLst>
          <pc:docMk/>
          <pc:sldMk cId="0" sldId="256"/>
        </pc:sldMkLst>
        <pc:spChg chg="mod">
          <ac:chgData name="Joshna Chintalapudi" userId="717c49da7b8de969" providerId="LiveId" clId="{16935BF8-A274-4585-A8A5-F34AEEC39546}" dt="2025-04-02T16:50:06.595" v="208" actId="20577"/>
          <ac:spMkLst>
            <pc:docMk/>
            <pc:sldMk cId="0" sldId="256"/>
            <ac:spMk id="4336" creationId="{00000000-0000-0000-0000-000000000000}"/>
          </ac:spMkLst>
        </pc:spChg>
      </pc:sldChg>
      <pc:sldChg chg="modSp mod">
        <pc:chgData name="Joshna Chintalapudi" userId="717c49da7b8de969" providerId="LiveId" clId="{16935BF8-A274-4585-A8A5-F34AEEC39546}" dt="2025-04-02T16:51:29.152" v="371" actId="20577"/>
        <pc:sldMkLst>
          <pc:docMk/>
          <pc:sldMk cId="1742795355" sldId="284"/>
        </pc:sldMkLst>
        <pc:spChg chg="mod">
          <ac:chgData name="Joshna Chintalapudi" userId="717c49da7b8de969" providerId="LiveId" clId="{16935BF8-A274-4585-A8A5-F34AEEC39546}" dt="2025-04-02T16:51:29.152" v="371" actId="20577"/>
          <ac:spMkLst>
            <pc:docMk/>
            <pc:sldMk cId="1742795355" sldId="284"/>
            <ac:spMk id="7" creationId="{1E04710C-D27E-CCFA-97B1-76A443CFB17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9T09:11:07.242"/>
    </inkml:context>
    <inkml:brush xml:id="br0">
      <inkml:brushProperty name="width" value="0.05" units="cm"/>
      <inkml:brushProperty name="height" value="0.05" units="cm"/>
      <inkml:brushProperty name="color" value="#849398"/>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9T09:11:10.383"/>
    </inkml:context>
    <inkml:brush xml:id="br0">
      <inkml:brushProperty name="width" value="0.05" units="cm"/>
      <inkml:brushProperty name="height" value="0.05" units="cm"/>
      <inkml:brushProperty name="color" value="#849398"/>
    </inkml:brush>
  </inkml:definitions>
  <inkml:trace contextRef="#ctx0" brushRef="#br0">99 77 24575,'-3'-4'0,"1"1"0,0-1 0,0 0 0,0 0 0,0 0 0,1 0 0,0 0 0,0 0 0,0-1 0,0 1 0,1 0 0,-1-8 0,0 0 0,0 12 0,0-1 0,0 1 0,0-1 0,1 1 0,-1 0 0,0-1 0,0 1 0,0 0 0,0-1 0,0 1 0,0 0 0,0 0 0,0 0 0,0 0 0,0 0 0,0 0 0,0 0 0,0 0 0,0 0 0,0 1 0,0-1 0,0 0 0,1 1 0,-1-1 0,-2 1 0,-27 10 0,28-9 0,0 0 0,0 0 0,0 0 0,0 0 0,0 1 0,1-1 0,-1 0 0,1 1 0,0-1 0,-2 4 0,3-6 0,0 1 0,-1-1 0,1 1 0,0 0 0,-1-1 0,1 1 0,0-1 0,0 1 0,-1-1 0,1 1 0,0 0 0,0-1 0,0 1 0,0-1 0,0 1 0,0 0 0,0-1 0,0 1 0,0 0 0,0-1 0,1 1 0,-1-1 0,0 1 0,0 0 0,0-1 0,1 1 0,-1-1 0,0 1 0,1-1 0,-1 1 0,0-1 0,1 1 0,-1-1 0,1 1 0,-1-1 0,1 0 0,-1 1 0,1-1 0,-1 0 0,1 1 0,-1-1 0,1 0 0,-1 0 0,1 1 0,0-1 0,-1 0 0,1 0 0,-1 0 0,2 0 0,6-2-1365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9T09:11:16.599"/>
    </inkml:context>
    <inkml:brush xml:id="br0">
      <inkml:brushProperty name="width" value="0.05" units="cm"/>
      <inkml:brushProperty name="height" value="0.05" units="cm"/>
      <inkml:brushProperty name="color" value="#849398"/>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9T09:11:19.881"/>
    </inkml:context>
    <inkml:brush xml:id="br0">
      <inkml:brushProperty name="width" value="0.05" units="cm"/>
      <inkml:brushProperty name="height" value="0.05" units="cm"/>
      <inkml:brushProperty name="color" value="#849398"/>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9T09:11:21.634"/>
    </inkml:context>
    <inkml:brush xml:id="br0">
      <inkml:brushProperty name="width" value="0.05" units="cm"/>
      <inkml:brushProperty name="height" value="0.05" units="cm"/>
      <inkml:brushProperty name="color" value="#849398"/>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2"/>
        <p:cNvGrpSpPr/>
        <p:nvPr/>
      </p:nvGrpSpPr>
      <p:grpSpPr>
        <a:xfrm>
          <a:off x="0" y="0"/>
          <a:ext cx="0" cy="0"/>
          <a:chOff x="0" y="0"/>
          <a:chExt cx="0" cy="0"/>
        </a:xfrm>
      </p:grpSpPr>
      <p:sp>
        <p:nvSpPr>
          <p:cNvPr id="4333" name="Google Shape;4333;g100fd3d694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4" name="Google Shape;4334;g100fd3d694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6"/>
        <p:cNvGrpSpPr/>
        <p:nvPr/>
      </p:nvGrpSpPr>
      <p:grpSpPr>
        <a:xfrm>
          <a:off x="0" y="0"/>
          <a:ext cx="0" cy="0"/>
          <a:chOff x="0" y="0"/>
          <a:chExt cx="0" cy="0"/>
        </a:xfrm>
      </p:grpSpPr>
      <p:sp>
        <p:nvSpPr>
          <p:cNvPr id="4347" name="Google Shape;4347;gf23b9993d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8" name="Google Shape;4348;gf23b9993d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6">
          <a:extLst>
            <a:ext uri="{FF2B5EF4-FFF2-40B4-BE49-F238E27FC236}">
              <a16:creationId xmlns:a16="http://schemas.microsoft.com/office/drawing/2014/main" id="{98D979C4-FFC6-45C6-1316-00031D0FB4D5}"/>
            </a:ext>
          </a:extLst>
        </p:cNvPr>
        <p:cNvGrpSpPr/>
        <p:nvPr/>
      </p:nvGrpSpPr>
      <p:grpSpPr>
        <a:xfrm>
          <a:off x="0" y="0"/>
          <a:ext cx="0" cy="0"/>
          <a:chOff x="0" y="0"/>
          <a:chExt cx="0" cy="0"/>
        </a:xfrm>
      </p:grpSpPr>
      <p:sp>
        <p:nvSpPr>
          <p:cNvPr id="4347" name="Google Shape;4347;gf23b9993dc_1_0:notes">
            <a:extLst>
              <a:ext uri="{FF2B5EF4-FFF2-40B4-BE49-F238E27FC236}">
                <a16:creationId xmlns:a16="http://schemas.microsoft.com/office/drawing/2014/main" id="{69C49CA6-E6CC-203D-D108-97F10C7D24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8" name="Google Shape;4348;gf23b9993dc_1_0:notes">
            <a:extLst>
              <a:ext uri="{FF2B5EF4-FFF2-40B4-BE49-F238E27FC236}">
                <a16:creationId xmlns:a16="http://schemas.microsoft.com/office/drawing/2014/main" id="{864B045E-11EB-338C-01C4-CA5161E7FA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3043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9"/>
        <p:cNvGrpSpPr/>
        <p:nvPr/>
      </p:nvGrpSpPr>
      <p:grpSpPr>
        <a:xfrm>
          <a:off x="0" y="0"/>
          <a:ext cx="0" cy="0"/>
          <a:chOff x="0" y="0"/>
          <a:chExt cx="0" cy="0"/>
        </a:xfrm>
      </p:grpSpPr>
      <p:sp>
        <p:nvSpPr>
          <p:cNvPr id="4370" name="Google Shape;4370;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1" name="Google Shape;4371;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6"/>
        <p:cNvGrpSpPr/>
        <p:nvPr/>
      </p:nvGrpSpPr>
      <p:grpSpPr>
        <a:xfrm>
          <a:off x="0" y="0"/>
          <a:ext cx="0" cy="0"/>
          <a:chOff x="0" y="0"/>
          <a:chExt cx="0" cy="0"/>
        </a:xfrm>
      </p:grpSpPr>
      <p:sp>
        <p:nvSpPr>
          <p:cNvPr id="4427" name="Google Shape;4427;gbd6c00e730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8" name="Google Shape;4428;gbd6c00e730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6">
          <a:extLst>
            <a:ext uri="{FF2B5EF4-FFF2-40B4-BE49-F238E27FC236}">
              <a16:creationId xmlns:a16="http://schemas.microsoft.com/office/drawing/2014/main" id="{0E015731-D338-2734-BBE1-EB9632E1358E}"/>
            </a:ext>
          </a:extLst>
        </p:cNvPr>
        <p:cNvGrpSpPr/>
        <p:nvPr/>
      </p:nvGrpSpPr>
      <p:grpSpPr>
        <a:xfrm>
          <a:off x="0" y="0"/>
          <a:ext cx="0" cy="0"/>
          <a:chOff x="0" y="0"/>
          <a:chExt cx="0" cy="0"/>
        </a:xfrm>
      </p:grpSpPr>
      <p:sp>
        <p:nvSpPr>
          <p:cNvPr id="4347" name="Google Shape;4347;gf23b9993dc_1_0:notes">
            <a:extLst>
              <a:ext uri="{FF2B5EF4-FFF2-40B4-BE49-F238E27FC236}">
                <a16:creationId xmlns:a16="http://schemas.microsoft.com/office/drawing/2014/main" id="{D7DFE1F8-85CB-E8F5-8080-043ADC94FF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8" name="Google Shape;4348;gf23b9993dc_1_0:notes">
            <a:extLst>
              <a:ext uri="{FF2B5EF4-FFF2-40B4-BE49-F238E27FC236}">
                <a16:creationId xmlns:a16="http://schemas.microsoft.com/office/drawing/2014/main" id="{3141DA73-5A37-6255-74A5-A9487909A4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8801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2"/>
        <p:cNvGrpSpPr/>
        <p:nvPr/>
      </p:nvGrpSpPr>
      <p:grpSpPr>
        <a:xfrm>
          <a:off x="0" y="0"/>
          <a:ext cx="0" cy="0"/>
          <a:chOff x="0" y="0"/>
          <a:chExt cx="0" cy="0"/>
        </a:xfrm>
      </p:grpSpPr>
      <p:sp>
        <p:nvSpPr>
          <p:cNvPr id="4473" name="Google Shape;4473;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4" name="Google Shape;4474;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2">
          <a:extLst>
            <a:ext uri="{FF2B5EF4-FFF2-40B4-BE49-F238E27FC236}">
              <a16:creationId xmlns:a16="http://schemas.microsoft.com/office/drawing/2014/main" id="{6529010F-B9B8-D5C3-28ED-ED113BB41649}"/>
            </a:ext>
          </a:extLst>
        </p:cNvPr>
        <p:cNvGrpSpPr/>
        <p:nvPr/>
      </p:nvGrpSpPr>
      <p:grpSpPr>
        <a:xfrm>
          <a:off x="0" y="0"/>
          <a:ext cx="0" cy="0"/>
          <a:chOff x="0" y="0"/>
          <a:chExt cx="0" cy="0"/>
        </a:xfrm>
      </p:grpSpPr>
      <p:sp>
        <p:nvSpPr>
          <p:cNvPr id="4473" name="Google Shape;4473;g99f2f57a71_0_115:notes">
            <a:extLst>
              <a:ext uri="{FF2B5EF4-FFF2-40B4-BE49-F238E27FC236}">
                <a16:creationId xmlns:a16="http://schemas.microsoft.com/office/drawing/2014/main" id="{3C061180-096F-8C27-BDEE-58E33057ED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4" name="Google Shape;4474;g99f2f57a71_0_115:notes">
            <a:extLst>
              <a:ext uri="{FF2B5EF4-FFF2-40B4-BE49-F238E27FC236}">
                <a16:creationId xmlns:a16="http://schemas.microsoft.com/office/drawing/2014/main" id="{557C32BF-BD81-1D8F-2302-D79217FD4D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927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2">
          <a:extLst>
            <a:ext uri="{FF2B5EF4-FFF2-40B4-BE49-F238E27FC236}">
              <a16:creationId xmlns:a16="http://schemas.microsoft.com/office/drawing/2014/main" id="{5D9426EC-7CC7-D2DF-6B3F-19E93E6B0FB2}"/>
            </a:ext>
          </a:extLst>
        </p:cNvPr>
        <p:cNvGrpSpPr/>
        <p:nvPr/>
      </p:nvGrpSpPr>
      <p:grpSpPr>
        <a:xfrm>
          <a:off x="0" y="0"/>
          <a:ext cx="0" cy="0"/>
          <a:chOff x="0" y="0"/>
          <a:chExt cx="0" cy="0"/>
        </a:xfrm>
      </p:grpSpPr>
      <p:sp>
        <p:nvSpPr>
          <p:cNvPr id="4473" name="Google Shape;4473;g99f2f57a71_0_115:notes">
            <a:extLst>
              <a:ext uri="{FF2B5EF4-FFF2-40B4-BE49-F238E27FC236}">
                <a16:creationId xmlns:a16="http://schemas.microsoft.com/office/drawing/2014/main" id="{01FAFA80-E3F7-E6DF-44C6-950759764E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4" name="Google Shape;4474;g99f2f57a71_0_115:notes">
            <a:extLst>
              <a:ext uri="{FF2B5EF4-FFF2-40B4-BE49-F238E27FC236}">
                <a16:creationId xmlns:a16="http://schemas.microsoft.com/office/drawing/2014/main" id="{63D6FEEF-1149-6F34-6932-BDDE2323C7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280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8"/>
        <p:cNvGrpSpPr/>
        <p:nvPr/>
      </p:nvGrpSpPr>
      <p:grpSpPr>
        <a:xfrm>
          <a:off x="0" y="0"/>
          <a:ext cx="0" cy="0"/>
          <a:chOff x="0" y="0"/>
          <a:chExt cx="0" cy="0"/>
        </a:xfrm>
      </p:grpSpPr>
      <p:sp>
        <p:nvSpPr>
          <p:cNvPr id="4479" name="Google Shape;4479;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0" name="Google Shape;4480;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6"/>
        <p:cNvGrpSpPr/>
        <p:nvPr/>
      </p:nvGrpSpPr>
      <p:grpSpPr>
        <a:xfrm>
          <a:off x="0" y="0"/>
          <a:ext cx="0" cy="0"/>
          <a:chOff x="0" y="0"/>
          <a:chExt cx="0" cy="0"/>
        </a:xfrm>
      </p:grpSpPr>
      <p:sp>
        <p:nvSpPr>
          <p:cNvPr id="4927" name="Google Shape;4927;gbd6c00e73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8" name="Google Shape;4928;gbd6c00e73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327155"/>
            <a:ext cx="7080026" cy="1371601"/>
          </a:xfrm>
        </p:spPr>
        <p:txBody>
          <a:bodyPr anchor="b">
            <a:normAutofit/>
          </a:bodyPr>
          <a:lstStyle>
            <a:lvl1pPr algn="ctr">
              <a:defRPr sz="4050"/>
            </a:lvl1pPr>
          </a:lstStyle>
          <a:p>
            <a:r>
              <a:rPr lang="en-US"/>
              <a:t>Click to edit Master title style</a:t>
            </a:r>
            <a:endParaRPr lang="en-US" dirty="0"/>
          </a:p>
        </p:txBody>
      </p:sp>
      <p:sp>
        <p:nvSpPr>
          <p:cNvPr id="3" name="Subtitle 2"/>
          <p:cNvSpPr>
            <a:spLocks noGrp="1"/>
          </p:cNvSpPr>
          <p:nvPr>
            <p:ph type="subTitle" idx="1"/>
          </p:nvPr>
        </p:nvSpPr>
        <p:spPr>
          <a:xfrm>
            <a:off x="1028020" y="2698755"/>
            <a:ext cx="7080026" cy="787400"/>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78020834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28675404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320801"/>
            <a:ext cx="7192913" cy="1371610"/>
          </a:xfrm>
        </p:spPr>
        <p:txBody>
          <a:bodyPr anchor="b"/>
          <a:lstStyle>
            <a:lvl1pPr algn="ct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2692409"/>
            <a:ext cx="7192913" cy="1130291"/>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92669328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299337"/>
            <a:ext cx="3795373"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299337"/>
            <a:ext cx="3798499"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5173085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300880"/>
            <a:ext cx="3816804" cy="3111577"/>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864" y="1300880"/>
            <a:ext cx="3816804" cy="3111577"/>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376441"/>
            <a:ext cx="3657258" cy="40866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54404" y="1785103"/>
            <a:ext cx="365725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376441"/>
            <a:ext cx="3671498" cy="408662"/>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21225" y="1785103"/>
            <a:ext cx="367149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6781393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78686094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65726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2780167" cy="1366439"/>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641725" y="457200"/>
            <a:ext cx="4808943" cy="3886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1823639"/>
            <a:ext cx="2780167" cy="251976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65422816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9" y="457200"/>
            <a:ext cx="2688125" cy="3903624"/>
          </a:xfrm>
          <a:prstGeom prst="rect">
            <a:avLst/>
          </a:prstGeom>
        </p:spPr>
      </p:pic>
      <p:sp>
        <p:nvSpPr>
          <p:cNvPr id="2" name="Title 1"/>
          <p:cNvSpPr>
            <a:spLocks noGrp="1"/>
          </p:cNvSpPr>
          <p:nvPr>
            <p:ph type="title"/>
          </p:nvPr>
        </p:nvSpPr>
        <p:spPr>
          <a:xfrm>
            <a:off x="685347" y="457442"/>
            <a:ext cx="4451212" cy="1372004"/>
          </a:xfrm>
        </p:spPr>
        <p:txBody>
          <a:bodyPr anchor="b">
            <a:no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81914" y="572776"/>
            <a:ext cx="2456813" cy="3684617"/>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347" y="1829445"/>
            <a:ext cx="4451212" cy="253210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8472032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13" y="410855"/>
            <a:ext cx="7606349" cy="2862605"/>
          </a:xfrm>
          <a:prstGeom prst="rect">
            <a:avLst/>
          </a:prstGeom>
        </p:spPr>
      </p:pic>
      <p:sp>
        <p:nvSpPr>
          <p:cNvPr id="2" name="Title 1"/>
          <p:cNvSpPr>
            <a:spLocks noGrp="1"/>
          </p:cNvSpPr>
          <p:nvPr>
            <p:ph type="title"/>
          </p:nvPr>
        </p:nvSpPr>
        <p:spPr>
          <a:xfrm>
            <a:off x="685354" y="3423941"/>
            <a:ext cx="7766495" cy="407604"/>
          </a:xfrm>
        </p:spPr>
        <p:txBody>
          <a:bodyPr anchor="b">
            <a:normAutofit/>
          </a:bodyPr>
          <a:lstStyle>
            <a:lvl1pPr algn="ct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77012" y="521257"/>
            <a:ext cx="7384010" cy="2644253"/>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65322" cy="51185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2055158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6328"/>
            <a:ext cx="7765322"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221385"/>
            <a:ext cx="7765322" cy="112637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7218005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9956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6" y="3228265"/>
            <a:ext cx="7765322" cy="1117122"/>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742950" y="66359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878537" y="219619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1135666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1595207"/>
            <a:ext cx="7765322"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9" y="3487917"/>
            <a:ext cx="776414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402572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5033"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7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4929"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4929"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1221240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2" y="1363661"/>
            <a:ext cx="2504979" cy="1385888"/>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850" y="1363661"/>
            <a:ext cx="2504979" cy="1385888"/>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038" y="1363661"/>
            <a:ext cx="2504979" cy="1385888"/>
          </a:xfrm>
          <a:prstGeom prst="rect">
            <a:avLst/>
          </a:prstGeom>
        </p:spPr>
      </p:pic>
      <p:sp>
        <p:nvSpPr>
          <p:cNvPr id="30"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763577" y="1454188"/>
            <a:ext cx="2319276" cy="120221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91"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09307" y="1454321"/>
            <a:ext cx="2319276" cy="1206123"/>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7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5023"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56774" y="1450824"/>
            <a:ext cx="2319276" cy="120547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4929" y="3360274"/>
            <a:ext cx="2475738" cy="98312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5931607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0128855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457200"/>
            <a:ext cx="1713365"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457200"/>
            <a:ext cx="5937654" cy="38862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05501453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5"/>
        <p:cNvGrpSpPr/>
        <p:nvPr/>
      </p:nvGrpSpPr>
      <p:grpSpPr>
        <a:xfrm>
          <a:off x="0" y="0"/>
          <a:ext cx="0" cy="0"/>
          <a:chOff x="0" y="0"/>
          <a:chExt cx="0" cy="0"/>
        </a:xfrm>
      </p:grpSpPr>
      <p:sp>
        <p:nvSpPr>
          <p:cNvPr id="375" name="Google Shape;37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6" name="Google Shape;376;p4"/>
          <p:cNvSpPr txBox="1">
            <a:spLocks noGrp="1"/>
          </p:cNvSpPr>
          <p:nvPr>
            <p:ph type="body" idx="1"/>
          </p:nvPr>
        </p:nvSpPr>
        <p:spPr>
          <a:xfrm>
            <a:off x="720000" y="109710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Tree>
    <p:extLst>
      <p:ext uri="{BB962C8B-B14F-4D97-AF65-F5344CB8AC3E}">
        <p14:creationId xmlns:p14="http://schemas.microsoft.com/office/powerpoint/2010/main" val="4231871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569214"/>
            <a:ext cx="7063740" cy="3031236"/>
          </a:xfrm>
        </p:spPr>
        <p:txBody>
          <a:bodyPr anchor="b">
            <a:normAutofit/>
          </a:bodyPr>
          <a:lstStyle>
            <a:lvl1pPr algn="l">
              <a:lnSpc>
                <a:spcPct val="85000"/>
              </a:lnSpc>
              <a:defRPr sz="54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3600450"/>
            <a:ext cx="7063740" cy="1268730"/>
          </a:xfrm>
        </p:spPr>
        <p:txBody>
          <a:bodyPr>
            <a:normAutofit/>
          </a:bodyPr>
          <a:lstStyle>
            <a:lvl1pPr marL="0" indent="0" algn="l">
              <a:buNone/>
              <a:defRPr sz="1650" baseline="0">
                <a:solidFill>
                  <a:schemeClr val="tx1">
                    <a:lumMod val="75000"/>
                  </a:schemeClr>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4/19/2025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3429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56677872"/>
      </p:ext>
    </p:extLst>
  </p:cSld>
  <p:clrMapOvr>
    <a:overrideClrMapping bg1="dk1" tx1="lt1" bg2="dk2" tx2="lt2" accent1="accent1" accent2="accent2" accent3="accent3" accent4="accent4" accent5="accent5" accent6="accent6" hlink="hlink" folHlink="folHlink"/>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518012864"/>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569214"/>
            <a:ext cx="7063740" cy="3031236"/>
          </a:xfrm>
        </p:spPr>
        <p:txBody>
          <a:bodyPr anchor="b">
            <a:normAutofit/>
          </a:bodyPr>
          <a:lstStyle>
            <a:lvl1pPr>
              <a:lnSpc>
                <a:spcPct val="85000"/>
              </a:lnSpc>
              <a:defRPr sz="5400" b="0"/>
            </a:lvl1pPr>
          </a:lstStyle>
          <a:p>
            <a:r>
              <a:rPr lang="en-US"/>
              <a:t>Click to edit Master title style</a:t>
            </a:r>
            <a:endParaRPr lang="en-US" dirty="0"/>
          </a:p>
        </p:txBody>
      </p:sp>
      <p:sp>
        <p:nvSpPr>
          <p:cNvPr id="3" name="Text Placeholder 2"/>
          <p:cNvSpPr>
            <a:spLocks noGrp="1"/>
          </p:cNvSpPr>
          <p:nvPr>
            <p:ph type="body" idx="1"/>
          </p:nvPr>
        </p:nvSpPr>
        <p:spPr>
          <a:xfrm>
            <a:off x="946404" y="3600450"/>
            <a:ext cx="7063740" cy="1268730"/>
          </a:xfrm>
        </p:spPr>
        <p:txBody>
          <a:bodyPr anchor="t">
            <a:normAutofit/>
          </a:bodyPr>
          <a:lstStyle>
            <a:lvl1pPr marL="0" indent="0">
              <a:buNone/>
              <a:defRPr sz="16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3429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79374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371600"/>
            <a:ext cx="3360420" cy="3263503"/>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371600"/>
            <a:ext cx="3360420" cy="3263503"/>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28300946"/>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285241"/>
            <a:ext cx="3360420" cy="548640"/>
          </a:xfrm>
        </p:spPr>
        <p:txBody>
          <a:bodyPr anchor="b">
            <a:normAutofit/>
          </a:bodyPr>
          <a:lstStyle>
            <a:lvl1pPr marL="0" indent="0">
              <a:spcBef>
                <a:spcPts val="0"/>
              </a:spcBef>
              <a:buNone/>
              <a:defRPr sz="1500" b="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46404" y="1880662"/>
            <a:ext cx="3360420" cy="2748488"/>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94860" y="1285241"/>
            <a:ext cx="3360420" cy="548640"/>
          </a:xfrm>
        </p:spPr>
        <p:txBody>
          <a:bodyPr anchor="b">
            <a:normAutofit/>
          </a:bodyPr>
          <a:lstStyle>
            <a:lvl1pPr marL="0" indent="0">
              <a:lnSpc>
                <a:spcPct val="95000"/>
              </a:lnSpc>
              <a:spcBef>
                <a:spcPts val="0"/>
              </a:spcBef>
              <a:buNone/>
              <a:defRPr lang="en-US" sz="1500" b="0" kern="1200" dirty="0">
                <a:solidFill>
                  <a:schemeClr val="tx2"/>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500"/>
              </a:spcBef>
              <a:buFontTx/>
              <a:buNone/>
            </a:pPr>
            <a:r>
              <a:rPr lang="en-US"/>
              <a:t>Click to edit Master text styles</a:t>
            </a:r>
          </a:p>
        </p:txBody>
      </p:sp>
      <p:sp>
        <p:nvSpPr>
          <p:cNvPr id="6" name="Content Placeholder 5"/>
          <p:cNvSpPr>
            <a:spLocks noGrp="1"/>
          </p:cNvSpPr>
          <p:nvPr>
            <p:ph sz="quarter" idx="4"/>
          </p:nvPr>
        </p:nvSpPr>
        <p:spPr>
          <a:xfrm>
            <a:off x="4594860" y="1880662"/>
            <a:ext cx="3360420" cy="2748488"/>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3079014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43493184"/>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69922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342900"/>
            <a:ext cx="2400300" cy="1200148"/>
          </a:xfrm>
        </p:spPr>
        <p:txBody>
          <a:bodyPr anchor="b">
            <a:normAutofit/>
          </a:bodyPr>
          <a:lstStyle>
            <a:lvl1pPr>
              <a:defRPr sz="2400" b="0" baseline="0"/>
            </a:lvl1pPr>
          </a:lstStyle>
          <a:p>
            <a:r>
              <a:rPr lang="en-US"/>
              <a:t>Click to edit Master title style</a:t>
            </a:r>
            <a:endParaRPr lang="en-US" dirty="0"/>
          </a:p>
        </p:txBody>
      </p:sp>
      <p:sp>
        <p:nvSpPr>
          <p:cNvPr id="3" name="Content Placeholder 2"/>
          <p:cNvSpPr>
            <a:spLocks noGrp="1"/>
          </p:cNvSpPr>
          <p:nvPr>
            <p:ph idx="1"/>
          </p:nvPr>
        </p:nvSpPr>
        <p:spPr>
          <a:xfrm>
            <a:off x="3378200" y="514350"/>
            <a:ext cx="4559300" cy="411480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1574801"/>
            <a:ext cx="2400300" cy="2857501"/>
          </a:xfrm>
        </p:spPr>
        <p:txBody>
          <a:bodyPr>
            <a:normAutofit/>
          </a:bodyPr>
          <a:lstStyle>
            <a:lvl1pPr marL="0" indent="0">
              <a:lnSpc>
                <a:spcPct val="114000"/>
              </a:lnSpc>
              <a:spcBef>
                <a:spcPts val="600"/>
              </a:spcBef>
              <a:buNone/>
              <a:defRPr sz="9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7948506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29050"/>
            <a:ext cx="8469630" cy="131445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3943350"/>
            <a:ext cx="7486650" cy="685800"/>
          </a:xfrm>
        </p:spPr>
        <p:txBody>
          <a:bodyPr anchor="b">
            <a:normAutofit/>
          </a:bodyPr>
          <a:lstStyle>
            <a:lvl1pPr>
              <a:defRPr sz="21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3846692"/>
          </a:xfrm>
          <a:solidFill>
            <a:schemeClr val="accent1"/>
          </a:solidFill>
        </p:spPr>
        <p:txBody>
          <a:bodyPr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800" y="4581442"/>
            <a:ext cx="7486650" cy="447758"/>
          </a:xfrm>
        </p:spPr>
        <p:txBody>
          <a:bodyPr>
            <a:normAutofit/>
          </a:bodyPr>
          <a:lstStyle>
            <a:lvl1pPr marL="0" indent="0">
              <a:lnSpc>
                <a:spcPct val="100000"/>
              </a:lnSpc>
              <a:spcBef>
                <a:spcPts val="600"/>
              </a:spcBef>
              <a:buNone/>
              <a:defRPr sz="975">
                <a:solidFill>
                  <a:schemeClr val="bg1">
                    <a:lumMod val="8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83349841"/>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6068476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285750"/>
            <a:ext cx="1857375" cy="442317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285750"/>
            <a:ext cx="5800725" cy="442317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8630767"/>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619"/>
        <p:cNvGrpSpPr/>
        <p:nvPr/>
      </p:nvGrpSpPr>
      <p:grpSpPr>
        <a:xfrm>
          <a:off x="0" y="0"/>
          <a:ext cx="0" cy="0"/>
          <a:chOff x="0" y="0"/>
          <a:chExt cx="0" cy="0"/>
        </a:xfrm>
      </p:grpSpPr>
      <p:sp>
        <p:nvSpPr>
          <p:cNvPr id="1755" name="Google Shape;1755;p14"/>
          <p:cNvSpPr txBox="1">
            <a:spLocks noGrp="1"/>
          </p:cNvSpPr>
          <p:nvPr>
            <p:ph type="title"/>
          </p:nvPr>
        </p:nvSpPr>
        <p:spPr>
          <a:xfrm>
            <a:off x="4463450" y="1732314"/>
            <a:ext cx="3812100" cy="738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56" name="Google Shape;1756;p14"/>
          <p:cNvSpPr txBox="1">
            <a:spLocks noGrp="1"/>
          </p:cNvSpPr>
          <p:nvPr>
            <p:ph type="subTitle" idx="1"/>
          </p:nvPr>
        </p:nvSpPr>
        <p:spPr>
          <a:xfrm>
            <a:off x="4463450" y="2497400"/>
            <a:ext cx="3812100" cy="11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solidFill>
                  <a:schemeClr val="dk1"/>
                </a:solidFill>
              </a:defRPr>
            </a:lvl1pPr>
            <a:lvl2pPr lvl="1" algn="ctr" rtl="0">
              <a:lnSpc>
                <a:spcPct val="100000"/>
              </a:lnSpc>
              <a:spcBef>
                <a:spcPts val="160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extLst>
      <p:ext uri="{BB962C8B-B14F-4D97-AF65-F5344CB8AC3E}">
        <p14:creationId xmlns:p14="http://schemas.microsoft.com/office/powerpoint/2010/main" val="8353047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019299" y="2641598"/>
            <a:ext cx="5111751"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766917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96549670"/>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509542" y="2782939"/>
            <a:ext cx="6122535"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8086410"/>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352538421"/>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0406108"/>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5430385"/>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1324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047127" y="2184400"/>
            <a:ext cx="26358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0478297"/>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2856580"/>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2742376"/>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5763557"/>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2160704"/>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5124000"/>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4392790"/>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173084"/>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923389"/>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6647918" y="742950"/>
            <a:ext cx="0" cy="36576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7628238"/>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413"/>
        <p:cNvGrpSpPr/>
        <p:nvPr/>
      </p:nvGrpSpPr>
      <p:grpSpPr>
        <a:xfrm>
          <a:off x="0" y="0"/>
          <a:ext cx="0" cy="0"/>
          <a:chOff x="0" y="0"/>
          <a:chExt cx="0" cy="0"/>
        </a:xfrm>
      </p:grpSpPr>
      <p:sp>
        <p:nvSpPr>
          <p:cNvPr id="1600" name="Google Shape;160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01" name="Google Shape;1601;p13"/>
          <p:cNvSpPr txBox="1">
            <a:spLocks noGrp="1"/>
          </p:cNvSpPr>
          <p:nvPr>
            <p:ph type="title" idx="2"/>
          </p:nvPr>
        </p:nvSpPr>
        <p:spPr>
          <a:xfrm>
            <a:off x="1601409" y="1318225"/>
            <a:ext cx="29706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2" name="Google Shape;1602;p13"/>
          <p:cNvSpPr txBox="1">
            <a:spLocks noGrp="1"/>
          </p:cNvSpPr>
          <p:nvPr>
            <p:ph type="subTitle" idx="1"/>
          </p:nvPr>
        </p:nvSpPr>
        <p:spPr>
          <a:xfrm>
            <a:off x="1601413" y="16318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3" name="Google Shape;1603;p13"/>
          <p:cNvSpPr txBox="1">
            <a:spLocks noGrp="1"/>
          </p:cNvSpPr>
          <p:nvPr>
            <p:ph type="title" idx="3"/>
          </p:nvPr>
        </p:nvSpPr>
        <p:spPr>
          <a:xfrm>
            <a:off x="1601250" y="3553850"/>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4" name="Google Shape;1604;p13"/>
          <p:cNvSpPr txBox="1">
            <a:spLocks noGrp="1"/>
          </p:cNvSpPr>
          <p:nvPr>
            <p:ph type="subTitle" idx="4"/>
          </p:nvPr>
        </p:nvSpPr>
        <p:spPr>
          <a:xfrm>
            <a:off x="1601263" y="386750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5" name="Google Shape;1605;p13"/>
          <p:cNvSpPr txBox="1">
            <a:spLocks noGrp="1"/>
          </p:cNvSpPr>
          <p:nvPr>
            <p:ph type="title" idx="5"/>
          </p:nvPr>
        </p:nvSpPr>
        <p:spPr>
          <a:xfrm>
            <a:off x="1601444" y="2436025"/>
            <a:ext cx="34341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6" name="Google Shape;1606;p13"/>
          <p:cNvSpPr txBox="1">
            <a:spLocks noGrp="1"/>
          </p:cNvSpPr>
          <p:nvPr>
            <p:ph type="subTitle" idx="6"/>
          </p:nvPr>
        </p:nvSpPr>
        <p:spPr>
          <a:xfrm>
            <a:off x="1601413" y="27496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7" name="Google Shape;1607;p13"/>
          <p:cNvSpPr txBox="1">
            <a:spLocks noGrp="1"/>
          </p:cNvSpPr>
          <p:nvPr>
            <p:ph type="title" idx="7"/>
          </p:nvPr>
        </p:nvSpPr>
        <p:spPr>
          <a:xfrm>
            <a:off x="5750098" y="1337025"/>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8" name="Google Shape;1608;p13"/>
          <p:cNvSpPr txBox="1">
            <a:spLocks noGrp="1"/>
          </p:cNvSpPr>
          <p:nvPr>
            <p:ph type="subTitle" idx="8"/>
          </p:nvPr>
        </p:nvSpPr>
        <p:spPr>
          <a:xfrm>
            <a:off x="5750100" y="165558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9" name="Google Shape;1609;p13"/>
          <p:cNvSpPr txBox="1">
            <a:spLocks noGrp="1"/>
          </p:cNvSpPr>
          <p:nvPr>
            <p:ph type="title" idx="9" hasCustomPrompt="1"/>
          </p:nvPr>
        </p:nvSpPr>
        <p:spPr>
          <a:xfrm>
            <a:off x="767250" y="14812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0" name="Google Shape;1610;p13"/>
          <p:cNvSpPr txBox="1">
            <a:spLocks noGrp="1"/>
          </p:cNvSpPr>
          <p:nvPr>
            <p:ph type="title" idx="13" hasCustomPrompt="1"/>
          </p:nvPr>
        </p:nvSpPr>
        <p:spPr>
          <a:xfrm>
            <a:off x="767250" y="3716900"/>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1" name="Google Shape;1611;p13"/>
          <p:cNvSpPr txBox="1">
            <a:spLocks noGrp="1"/>
          </p:cNvSpPr>
          <p:nvPr>
            <p:ph type="title" idx="14" hasCustomPrompt="1"/>
          </p:nvPr>
        </p:nvSpPr>
        <p:spPr>
          <a:xfrm>
            <a:off x="767250" y="25990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2" name="Google Shape;1612;p13"/>
          <p:cNvSpPr txBox="1">
            <a:spLocks noGrp="1"/>
          </p:cNvSpPr>
          <p:nvPr>
            <p:ph type="title" idx="15" hasCustomPrompt="1"/>
          </p:nvPr>
        </p:nvSpPr>
        <p:spPr>
          <a:xfrm>
            <a:off x="4916088" y="1500063"/>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3" name="Google Shape;1613;p13"/>
          <p:cNvSpPr txBox="1">
            <a:spLocks noGrp="1"/>
          </p:cNvSpPr>
          <p:nvPr>
            <p:ph type="title" idx="16"/>
          </p:nvPr>
        </p:nvSpPr>
        <p:spPr>
          <a:xfrm>
            <a:off x="5750098" y="3553850"/>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4" name="Google Shape;1614;p13"/>
          <p:cNvSpPr txBox="1">
            <a:spLocks noGrp="1"/>
          </p:cNvSpPr>
          <p:nvPr>
            <p:ph type="subTitle" idx="17"/>
          </p:nvPr>
        </p:nvSpPr>
        <p:spPr>
          <a:xfrm>
            <a:off x="5750100" y="386750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15" name="Google Shape;1615;p13"/>
          <p:cNvSpPr txBox="1">
            <a:spLocks noGrp="1"/>
          </p:cNvSpPr>
          <p:nvPr>
            <p:ph type="title" idx="18"/>
          </p:nvPr>
        </p:nvSpPr>
        <p:spPr>
          <a:xfrm>
            <a:off x="5750237" y="2436032"/>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6" name="Google Shape;1616;p13"/>
          <p:cNvSpPr txBox="1">
            <a:spLocks noGrp="1"/>
          </p:cNvSpPr>
          <p:nvPr>
            <p:ph type="subTitle" idx="19"/>
          </p:nvPr>
        </p:nvSpPr>
        <p:spPr>
          <a:xfrm>
            <a:off x="5750250" y="27496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17" name="Google Shape;1617;p13"/>
          <p:cNvSpPr txBox="1">
            <a:spLocks noGrp="1"/>
          </p:cNvSpPr>
          <p:nvPr>
            <p:ph type="title" idx="20" hasCustomPrompt="1"/>
          </p:nvPr>
        </p:nvSpPr>
        <p:spPr>
          <a:xfrm>
            <a:off x="4916088" y="3716900"/>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8" name="Google Shape;1618;p13"/>
          <p:cNvSpPr txBox="1">
            <a:spLocks noGrp="1"/>
          </p:cNvSpPr>
          <p:nvPr>
            <p:ph type="title" idx="21" hasCustomPrompt="1"/>
          </p:nvPr>
        </p:nvSpPr>
        <p:spPr>
          <a:xfrm>
            <a:off x="4916088" y="25990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Tree>
    <p:extLst>
      <p:ext uri="{BB962C8B-B14F-4D97-AF65-F5344CB8AC3E}">
        <p14:creationId xmlns:p14="http://schemas.microsoft.com/office/powerpoint/2010/main" val="40905071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060"/>
        <p:cNvGrpSpPr/>
        <p:nvPr/>
      </p:nvGrpSpPr>
      <p:grpSpPr>
        <a:xfrm>
          <a:off x="0" y="0"/>
          <a:ext cx="0" cy="0"/>
          <a:chOff x="0" y="0"/>
          <a:chExt cx="0" cy="0"/>
        </a:xfrm>
      </p:grpSpPr>
      <p:sp>
        <p:nvSpPr>
          <p:cNvPr id="1165" name="Google Shape;1165;p9"/>
          <p:cNvSpPr txBox="1">
            <a:spLocks noGrp="1"/>
          </p:cNvSpPr>
          <p:nvPr>
            <p:ph type="title"/>
          </p:nvPr>
        </p:nvSpPr>
        <p:spPr>
          <a:xfrm>
            <a:off x="4000475" y="937050"/>
            <a:ext cx="4645200" cy="1495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66" name="Google Shape;1166;p9"/>
          <p:cNvSpPr txBox="1">
            <a:spLocks noGrp="1"/>
          </p:cNvSpPr>
          <p:nvPr>
            <p:ph type="subTitle" idx="1"/>
          </p:nvPr>
        </p:nvSpPr>
        <p:spPr>
          <a:xfrm>
            <a:off x="4000625" y="2575550"/>
            <a:ext cx="4423500" cy="137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solidFill>
                  <a:schemeClr val="dk1"/>
                </a:solidFill>
              </a:defRPr>
            </a:lvl1pPr>
            <a:lvl2pPr lvl="1" algn="ctr" rtl="0">
              <a:lnSpc>
                <a:spcPct val="100000"/>
              </a:lnSpc>
              <a:spcBef>
                <a:spcPts val="160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extLst>
      <p:ext uri="{BB962C8B-B14F-4D97-AF65-F5344CB8AC3E}">
        <p14:creationId xmlns:p14="http://schemas.microsoft.com/office/powerpoint/2010/main" val="1076541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483"/>
        <p:cNvGrpSpPr/>
        <p:nvPr/>
      </p:nvGrpSpPr>
      <p:grpSpPr>
        <a:xfrm>
          <a:off x="0" y="0"/>
          <a:ext cx="0" cy="0"/>
          <a:chOff x="0" y="0"/>
          <a:chExt cx="0" cy="0"/>
        </a:xfrm>
      </p:grpSpPr>
      <p:sp>
        <p:nvSpPr>
          <p:cNvPr id="2682" name="Google Shape;2682;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83" name="Google Shape;2683;p20"/>
          <p:cNvSpPr txBox="1">
            <a:spLocks noGrp="1"/>
          </p:cNvSpPr>
          <p:nvPr>
            <p:ph type="title" idx="2"/>
          </p:nvPr>
        </p:nvSpPr>
        <p:spPr>
          <a:xfrm>
            <a:off x="844350"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4" name="Google Shape;2684;p20"/>
          <p:cNvSpPr txBox="1">
            <a:spLocks noGrp="1"/>
          </p:cNvSpPr>
          <p:nvPr>
            <p:ph type="subTitle" idx="1"/>
          </p:nvPr>
        </p:nvSpPr>
        <p:spPr>
          <a:xfrm>
            <a:off x="844300"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2685" name="Google Shape;2685;p20"/>
          <p:cNvSpPr txBox="1">
            <a:spLocks noGrp="1"/>
          </p:cNvSpPr>
          <p:nvPr>
            <p:ph type="title" idx="3"/>
          </p:nvPr>
        </p:nvSpPr>
        <p:spPr>
          <a:xfrm>
            <a:off x="3391125"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6" name="Google Shape;2686;p20"/>
          <p:cNvSpPr txBox="1">
            <a:spLocks noGrp="1"/>
          </p:cNvSpPr>
          <p:nvPr>
            <p:ph type="subTitle" idx="4"/>
          </p:nvPr>
        </p:nvSpPr>
        <p:spPr>
          <a:xfrm>
            <a:off x="3391052"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2687" name="Google Shape;2687;p20"/>
          <p:cNvSpPr txBox="1">
            <a:spLocks noGrp="1"/>
          </p:cNvSpPr>
          <p:nvPr>
            <p:ph type="title" idx="5"/>
          </p:nvPr>
        </p:nvSpPr>
        <p:spPr>
          <a:xfrm>
            <a:off x="5937850"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8" name="Google Shape;2688;p20"/>
          <p:cNvSpPr txBox="1">
            <a:spLocks noGrp="1"/>
          </p:cNvSpPr>
          <p:nvPr>
            <p:ph type="subTitle" idx="6"/>
          </p:nvPr>
        </p:nvSpPr>
        <p:spPr>
          <a:xfrm>
            <a:off x="5937804"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extLst>
      <p:ext uri="{BB962C8B-B14F-4D97-AF65-F5344CB8AC3E}">
        <p14:creationId xmlns:p14="http://schemas.microsoft.com/office/powerpoint/2010/main" val="547122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67"/>
        <p:cNvGrpSpPr/>
        <p:nvPr/>
      </p:nvGrpSpPr>
      <p:grpSpPr>
        <a:xfrm>
          <a:off x="0" y="0"/>
          <a:ext cx="0" cy="0"/>
          <a:chOff x="0" y="0"/>
          <a:chExt cx="0" cy="0"/>
        </a:xfrm>
      </p:grpSpPr>
      <p:sp>
        <p:nvSpPr>
          <p:cNvPr id="1951" name="Google Shape;1951;p16"/>
          <p:cNvSpPr txBox="1">
            <a:spLocks noGrp="1"/>
          </p:cNvSpPr>
          <p:nvPr>
            <p:ph type="title"/>
          </p:nvPr>
        </p:nvSpPr>
        <p:spPr>
          <a:xfrm>
            <a:off x="2036875" y="3100300"/>
            <a:ext cx="50703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952" name="Google Shape;1952;p16"/>
          <p:cNvSpPr txBox="1">
            <a:spLocks noGrp="1"/>
          </p:cNvSpPr>
          <p:nvPr>
            <p:ph type="subTitle" idx="1"/>
          </p:nvPr>
        </p:nvSpPr>
        <p:spPr>
          <a:xfrm>
            <a:off x="1055075" y="1511325"/>
            <a:ext cx="7033800" cy="147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000"/>
              <a:buNone/>
              <a:defRPr sz="3000">
                <a:solidFill>
                  <a:schemeClr val="dk1"/>
                </a:solidFill>
              </a:defRPr>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extLst>
      <p:ext uri="{BB962C8B-B14F-4D97-AF65-F5344CB8AC3E}">
        <p14:creationId xmlns:p14="http://schemas.microsoft.com/office/powerpoint/2010/main" val="37884843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11"/>
        <p:cNvGrpSpPr/>
        <p:nvPr/>
      </p:nvGrpSpPr>
      <p:grpSpPr>
        <a:xfrm>
          <a:off x="0" y="0"/>
          <a:ext cx="0" cy="0"/>
          <a:chOff x="0" y="0"/>
          <a:chExt cx="0" cy="0"/>
        </a:xfrm>
      </p:grpSpPr>
      <p:sp>
        <p:nvSpPr>
          <p:cNvPr id="1059" name="Google Shape;1059;p8"/>
          <p:cNvSpPr txBox="1">
            <a:spLocks noGrp="1"/>
          </p:cNvSpPr>
          <p:nvPr>
            <p:ph type="title"/>
          </p:nvPr>
        </p:nvSpPr>
        <p:spPr>
          <a:xfrm>
            <a:off x="925900" y="1307100"/>
            <a:ext cx="7292100" cy="2529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316628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image" Target="../media/image8.png"/><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theme" Target="../theme/theme3.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457200"/>
            <a:ext cx="7765322" cy="727838"/>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299337"/>
            <a:ext cx="7765322" cy="3044063"/>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4/19/2025</a:t>
            </a:fld>
            <a:endParaRPr lang="en-US" dirty="0"/>
          </a:p>
        </p:txBody>
      </p:sp>
      <p:sp>
        <p:nvSpPr>
          <p:cNvPr id="5" name="Footer Placeholder 4"/>
          <p:cNvSpPr>
            <a:spLocks noGrp="1"/>
          </p:cNvSpPr>
          <p:nvPr>
            <p:ph type="ftr" sz="quarter" idx="3"/>
          </p:nvPr>
        </p:nvSpPr>
        <p:spPr>
          <a:xfrm>
            <a:off x="685347" y="4412457"/>
            <a:ext cx="5004649" cy="273844"/>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649248694"/>
      </p:ext>
    </p:extLst>
  </p:cSld>
  <p:clrMap bg1="dk1" tx1="lt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hf hdr="0" ftr="0" dt="0"/>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69630" y="0"/>
            <a:ext cx="685800" cy="51435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274320"/>
            <a:ext cx="7269480" cy="99417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371600"/>
            <a:ext cx="6446520"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8098157" y="748903"/>
            <a:ext cx="1428749" cy="273844"/>
          </a:xfrm>
          <a:prstGeom prst="rect">
            <a:avLst/>
          </a:prstGeom>
        </p:spPr>
        <p:txBody>
          <a:bodyPr vert="horz" lIns="91440" tIns="45720" rIns="91440" bIns="45720" rtlCol="0" anchor="ctr"/>
          <a:lstStyle>
            <a:lvl1pPr algn="r">
              <a:defRPr sz="788" b="0">
                <a:solidFill>
                  <a:schemeClr val="tx2">
                    <a:lumMod val="20000"/>
                    <a:lumOff val="80000"/>
                  </a:schemeClr>
                </a:solidFill>
              </a:defRPr>
            </a:lvl1pPr>
          </a:lstStyle>
          <a:p>
            <a:fld id="{0E59FD0C-5451-4CA0-86AF-E70AE3279989}" type="datetimeFigureOut">
              <a:rPr lang="en-US" dirty="0"/>
              <a:t>4/19/2025</a:t>
            </a:fld>
            <a:endParaRPr lang="en-US" dirty="0"/>
          </a:p>
        </p:txBody>
      </p:sp>
      <p:sp>
        <p:nvSpPr>
          <p:cNvPr id="5" name="Footer Placeholder 4"/>
          <p:cNvSpPr>
            <a:spLocks noGrp="1"/>
          </p:cNvSpPr>
          <p:nvPr>
            <p:ph type="ftr" sz="quarter" idx="3"/>
          </p:nvPr>
        </p:nvSpPr>
        <p:spPr>
          <a:xfrm rot="16200000">
            <a:off x="7469506" y="3034903"/>
            <a:ext cx="2686050" cy="273844"/>
          </a:xfrm>
          <a:prstGeom prst="rect">
            <a:avLst/>
          </a:prstGeom>
        </p:spPr>
        <p:txBody>
          <a:bodyPr vert="horz" lIns="91440" tIns="45720" rIns="91440" bIns="45720" rtlCol="0" anchor="ctr"/>
          <a:lstStyle>
            <a:lvl1pPr algn="l">
              <a:defRPr sz="788">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8469630" y="4629150"/>
            <a:ext cx="685800" cy="445294"/>
          </a:xfrm>
          <a:prstGeom prst="rect">
            <a:avLst/>
          </a:prstGeom>
        </p:spPr>
        <p:txBody>
          <a:bodyPr vert="horz" lIns="45720" tIns="45720" rIns="45720" bIns="45720" rtlCol="0" anchor="ctr">
            <a:normAutofit/>
          </a:bodyPr>
          <a:lstStyle>
            <a:lvl1pPr algn="ctr">
              <a:defRPr sz="2700">
                <a:solidFill>
                  <a:schemeClr val="tx2">
                    <a:lumMod val="60000"/>
                    <a:lumOff val="40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32959134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hdr="0" ftr="0" dt="0"/>
  <p:txStyles>
    <p:titleStyle>
      <a:lvl1pPr algn="l" defTabSz="685800" rtl="0" eaLnBrk="1" latinLnBrk="0" hangingPunct="1">
        <a:lnSpc>
          <a:spcPct val="90000"/>
        </a:lnSpc>
        <a:spcBef>
          <a:spcPct val="0"/>
        </a:spcBef>
        <a:buNone/>
        <a:defRPr sz="3300" kern="1200" spc="-38" baseline="0">
          <a:solidFill>
            <a:schemeClr val="tx1"/>
          </a:solidFill>
          <a:latin typeface="+mj-lt"/>
          <a:ea typeface="+mj-ea"/>
          <a:cs typeface="+mj-cs"/>
        </a:defRPr>
      </a:lvl1pPr>
    </p:titleStyle>
    <p:bodyStyle>
      <a:lvl1pPr marL="137160" indent="-137160" algn="l" defTabSz="685800" rtl="0" eaLnBrk="1" latinLnBrk="0" hangingPunct="1">
        <a:lnSpc>
          <a:spcPct val="95000"/>
        </a:lnSpc>
        <a:spcBef>
          <a:spcPts val="1050"/>
        </a:spcBef>
        <a:spcAft>
          <a:spcPts val="150"/>
        </a:spcAft>
        <a:buClr>
          <a:schemeClr val="accent1"/>
        </a:buClr>
        <a:buSzPct val="80000"/>
        <a:buFont typeface="Arial" pitchFamily="34" charset="0"/>
        <a:buChar char="•"/>
        <a:defRPr sz="1350" kern="1200" spc="8" baseline="0">
          <a:solidFill>
            <a:schemeClr val="tx1"/>
          </a:solidFill>
          <a:latin typeface="+mn-lt"/>
          <a:ea typeface="+mn-ea"/>
          <a:cs typeface="+mn-cs"/>
        </a:defRPr>
      </a:lvl1pPr>
      <a:lvl2pPr marL="34290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200" kern="1200">
          <a:solidFill>
            <a:schemeClr val="tx1">
              <a:lumMod val="85000"/>
              <a:lumOff val="15000"/>
            </a:schemeClr>
          </a:solidFill>
          <a:latin typeface="+mn-lt"/>
          <a:ea typeface="+mn-ea"/>
          <a:cs typeface="+mn-cs"/>
        </a:defRPr>
      </a:lvl2pPr>
      <a:lvl3pPr marL="54864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3pPr>
      <a:lvl4pPr marL="75438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4pPr>
      <a:lvl5pPr marL="960120" indent="-13716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5pPr>
      <a:lvl6pPr marL="120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6pPr>
      <a:lvl7pPr marL="142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7pPr>
      <a:lvl8pPr marL="1650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8pPr>
      <a:lvl9pPr marL="1875000" indent="-171450" algn="l" defTabSz="685800" rtl="0" eaLnBrk="1" latinLnBrk="0" hangingPunct="1">
        <a:lnSpc>
          <a:spcPct val="90000"/>
        </a:lnSpc>
        <a:spcBef>
          <a:spcPts val="225"/>
        </a:spcBef>
        <a:spcAft>
          <a:spcPts val="225"/>
        </a:spcAft>
        <a:buClr>
          <a:schemeClr val="accent1"/>
        </a:buClr>
        <a:buFont typeface="Wingdings 2" pitchFamily="18" charset="2"/>
        <a:buChar char=""/>
        <a:defRPr sz="10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8E36636D-D922-432D-A958-524484B5923D}" type="datetimeFigureOut">
              <a:rPr lang="en-US" smtClean="0"/>
              <a:pPr/>
              <a:t>4/19/2025</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922245432"/>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 id="2147483855" r:id="rId21"/>
    <p:sldLayoutId id="2147483856" r:id="rId22"/>
  </p:sldLayoutIdLst>
  <p:hf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3390/iot5010005" TargetMode="External"/><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37.xml"/><Relationship Id="rId6" Type="http://schemas.openxmlformats.org/officeDocument/2006/relationships/customXml" Target="../ink/ink3.xml"/><Relationship Id="rId5" Type="http://schemas.openxmlformats.org/officeDocument/2006/relationships/image" Target="../media/image12.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8" Type="http://schemas.openxmlformats.org/officeDocument/2006/relationships/hyperlink" Target="https://scholar.google.com/scholar_lookup?title=PSO+based+optimized+ensemble+learning+and+feature+selection+approach+for+efficient+energy+forecast&amp;author=Shafqat,+W.&amp;author=Malik,+S.&amp;author=Lee,+K.T.&amp;author=Kim,+D.H.&amp;publication_year=2021&amp;journal=Electronics&amp;volume=10&amp;pages=2188&amp;doi=10.3390/electronics10182188" TargetMode="External"/><Relationship Id="rId13" Type="http://schemas.openxmlformats.org/officeDocument/2006/relationships/hyperlink" Target="https://doi.org/10.1016/j.enbuild.2015.11.071" TargetMode="External"/><Relationship Id="rId18" Type="http://schemas.openxmlformats.org/officeDocument/2006/relationships/hyperlink" Target="https://scholar.google.com/scholar_lookup?title=Optimal+control+based+on+scheduling+for+comfortable+smart+home+environment&amp;author=Malik,+S.&amp;author=Lee,+K.&amp;author=Kim,+D.&amp;publication_year=2020&amp;journal=IEEE+Access&amp;volume=8&amp;pages=218245%E2%80%93218256&amp;doi=10.1109/ACCESS.2020.3042534" TargetMode="External"/><Relationship Id="rId3" Type="http://schemas.openxmlformats.org/officeDocument/2006/relationships/image" Target="../media/image23.jpeg"/><Relationship Id="rId7" Type="http://schemas.openxmlformats.org/officeDocument/2006/relationships/hyperlink" Target="https://doi.org/10.32604/cmc.2021.017528" TargetMode="External"/><Relationship Id="rId12" Type="http://schemas.openxmlformats.org/officeDocument/2006/relationships/hyperlink" Target="https://scholar.google.com/scholar_lookup?title=Accurate+occupancy+detection+of+an+office+room+from+light,+temperature,+humidity+and+CO2+measurements+using+statistical+learning+models&amp;author=Candanedo,+L.M.&amp;author=Feldheim,+V.&amp;publication_year=2016&amp;journal=Energy+Build.&amp;volume=112&amp;pages=28%E2%80%9339&amp;doi=10.1016/j.enbuild.2015.11.071" TargetMode="External"/><Relationship Id="rId17" Type="http://schemas.openxmlformats.org/officeDocument/2006/relationships/hyperlink" Target="https://doi.org/10.3390/act10040084" TargetMode="External"/><Relationship Id="rId2" Type="http://schemas.openxmlformats.org/officeDocument/2006/relationships/notesSlide" Target="../notesSlides/notesSlide10.xml"/><Relationship Id="rId16" Type="http://schemas.openxmlformats.org/officeDocument/2006/relationships/hyperlink" Target="https://scholar.google.com/scholar_lookup?title=A+Feature+Selection-Based+Predictive-Learning+Framework+for+Optimal+Actuator+Control+in+Smart+Homes&amp;author=Malik,+S.&amp;author=Shafqat,+W.&amp;author=Lee,+K.T.&amp;author=Kim,+D.H.&amp;publication_year=2021&amp;journal=Actuators&amp;volume=10&amp;pages=84&amp;doi=10.3390/act10040084" TargetMode="External"/><Relationship Id="rId20" Type="http://schemas.openxmlformats.org/officeDocument/2006/relationships/hyperlink" Target="http://sedc-coalition.eu/wp-content/uploads/2011/06/McKinsey-10-08-05-Smart-Grid-Benefits.pdf" TargetMode="External"/><Relationship Id="rId1" Type="http://schemas.openxmlformats.org/officeDocument/2006/relationships/slideLayout" Target="../slideLayouts/slideLayout30.xml"/><Relationship Id="rId6" Type="http://schemas.openxmlformats.org/officeDocument/2006/relationships/hyperlink" Target="https://scholar.google.com/scholar_lookup?title=Towards+a+dynamic+virtual+iot+network+based+on+user+requirements&amp;author=Mehmood,+F.&amp;author=Ahmad,+S.&amp;author=Ullah,+I.&amp;author=Jamil,+F.&amp;author=Kim,+D.&amp;publication_year=2021&amp;journal=Comput.+Mater.+Contin.&amp;volume=69&amp;pages=2231%E2%80%932244&amp;doi=10.32604/cmc.2021.017528" TargetMode="External"/><Relationship Id="rId11" Type="http://schemas.openxmlformats.org/officeDocument/2006/relationships/hyperlink" Target="https://doi.org/10.1016/j.asej.2020.07.011" TargetMode="External"/><Relationship Id="rId5" Type="http://schemas.openxmlformats.org/officeDocument/2006/relationships/hyperlink" Target="https://doi.org/10.1016/j.enbuild.2017.01.083" TargetMode="External"/><Relationship Id="rId15" Type="http://schemas.openxmlformats.org/officeDocument/2006/relationships/hyperlink" Target="https://doi.org/10.1109/ACCESS.2022.3193643" TargetMode="External"/><Relationship Id="rId10" Type="http://schemas.openxmlformats.org/officeDocument/2006/relationships/hyperlink" Target="https://scholar.google.com/scholar_lookup?title=A+novel+hybrid+GWO-PSO+optimization+technique+for+optimal+reactive+power+dispatch+problem+solution&amp;author=Shaheen,+M.A.&amp;author=Hasanien,+H.M.&amp;author=Alkuhayli,+A.&amp;publication_year=2021&amp;journal=Ain+Shams+Eng.+J.&amp;volume=12&amp;pages=621%E2%80%93630&amp;doi=10.1016/j.asej.2020.07.011" TargetMode="External"/><Relationship Id="rId19" Type="http://schemas.openxmlformats.org/officeDocument/2006/relationships/hyperlink" Target="https://doi.org/10.1109/ACCESS.2020.3042534" TargetMode="External"/><Relationship Id="rId4" Type="http://schemas.openxmlformats.org/officeDocument/2006/relationships/hyperlink" Target="https://scholar.google.com/scholar_lookup?title=Data+driven+prediction+models+of+energy+use+of+appliances+in+a+low-energy+house&amp;author=Candanedo,+L.M.&amp;author=Feldheim,+V.&amp;author=Deramaix,+D.&amp;publication_year=2017&amp;journal=Energy+Build.&amp;volume=140&amp;pages=81%E2%80%9397&amp;doi=10.1016/j.enbuild.2017.01.083" TargetMode="External"/><Relationship Id="rId9" Type="http://schemas.openxmlformats.org/officeDocument/2006/relationships/hyperlink" Target="https://doi.org/10.3390/electronics10182188" TargetMode="External"/><Relationship Id="rId14" Type="http://schemas.openxmlformats.org/officeDocument/2006/relationships/hyperlink" Target="https://scholar.google.com/scholar_lookup?title=Robust+LSTM+with+Tuned-PSO+and+Bifold-Attention+Mechanism+for+Analyzing+Multivariate+Time-Series&amp;author=Pranolo,+A.&amp;author=Mao,+Y.&amp;author=Wibawa,+A.P.&amp;author=Utama,+A.B.P.&amp;author=Dwiyanto,+F.A.&amp;publication_year=2022&amp;journal=IEEE+Access&amp;volume=10&amp;pages=78423%E2%80%9378434&amp;doi=10.1109/ACCESS.2022.3193643"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5"/>
        <p:cNvGrpSpPr/>
        <p:nvPr/>
      </p:nvGrpSpPr>
      <p:grpSpPr>
        <a:xfrm>
          <a:off x="0" y="0"/>
          <a:ext cx="0" cy="0"/>
          <a:chOff x="0" y="0"/>
          <a:chExt cx="0" cy="0"/>
        </a:xfrm>
      </p:grpSpPr>
      <p:sp>
        <p:nvSpPr>
          <p:cNvPr id="4336" name="Google Shape;4336;p33"/>
          <p:cNvSpPr txBox="1">
            <a:spLocks noGrp="1"/>
          </p:cNvSpPr>
          <p:nvPr>
            <p:ph type="ctrTitle"/>
          </p:nvPr>
        </p:nvSpPr>
        <p:spPr>
          <a:xfrm>
            <a:off x="1696324" y="1305031"/>
            <a:ext cx="6549483" cy="110323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latin typeface="ABeeZee" panose="020B0604020202020204" charset="0"/>
              </a:rPr>
              <a:t>Efficient Energy Tracking and Monitoring in IoT </a:t>
            </a:r>
            <a:br>
              <a:rPr lang="en-US" sz="2000" b="1" dirty="0">
                <a:latin typeface="ABeeZee" panose="020B0604020202020204" charset="0"/>
              </a:rPr>
            </a:br>
            <a:r>
              <a:rPr lang="en-US" sz="2000" b="1" dirty="0">
                <a:latin typeface="ABeeZee" panose="020B0604020202020204" charset="0"/>
              </a:rPr>
              <a:t>  Enabled Smart Homes Using MQTT Protocol</a:t>
            </a:r>
            <a:endParaRPr sz="2000" b="1" dirty="0">
              <a:latin typeface="ABeeZee" panose="020B0604020202020204" charset="0"/>
            </a:endParaRPr>
          </a:p>
        </p:txBody>
      </p:sp>
      <p:sp>
        <p:nvSpPr>
          <p:cNvPr id="4339" name="Google Shape;4339;p33"/>
          <p:cNvSpPr/>
          <p:nvPr/>
        </p:nvSpPr>
        <p:spPr>
          <a:xfrm>
            <a:off x="-743415" y="2489300"/>
            <a:ext cx="2807100" cy="2807100"/>
          </a:xfrm>
          <a:prstGeom prst="arc">
            <a:avLst>
              <a:gd name="adj1" fmla="val 16200000"/>
              <a:gd name="adj2" fmla="val 21236055"/>
            </a:avLst>
          </a:prstGeom>
          <a:solidFill>
            <a:schemeClr val="accent2">
              <a:lumMod val="60000"/>
              <a:lumOff val="40000"/>
            </a:schemeClr>
          </a:solid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 name="object 7">
            <a:extLst>
              <a:ext uri="{FF2B5EF4-FFF2-40B4-BE49-F238E27FC236}">
                <a16:creationId xmlns:a16="http://schemas.microsoft.com/office/drawing/2014/main" id="{FB156437-F58E-CEB1-78AB-39D26DDD9419}"/>
              </a:ext>
            </a:extLst>
          </p:cNvPr>
          <p:cNvPicPr/>
          <p:nvPr/>
        </p:nvPicPr>
        <p:blipFill>
          <a:blip r:embed="rId3" cstate="print"/>
          <a:stretch>
            <a:fillRect/>
          </a:stretch>
        </p:blipFill>
        <p:spPr>
          <a:xfrm>
            <a:off x="0" y="2879975"/>
            <a:ext cx="1785534" cy="15342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TextBox 2">
            <a:extLst>
              <a:ext uri="{FF2B5EF4-FFF2-40B4-BE49-F238E27FC236}">
                <a16:creationId xmlns:a16="http://schemas.microsoft.com/office/drawing/2014/main" id="{662F0718-3F96-C986-8ABC-FCB34EF0E8D4}"/>
              </a:ext>
            </a:extLst>
          </p:cNvPr>
          <p:cNvSpPr txBox="1"/>
          <p:nvPr/>
        </p:nvSpPr>
        <p:spPr>
          <a:xfrm>
            <a:off x="2478577" y="2798272"/>
            <a:ext cx="1672683" cy="1231106"/>
          </a:xfrm>
          <a:prstGeom prst="rect">
            <a:avLst/>
          </a:prstGeom>
          <a:noFill/>
        </p:spPr>
        <p:txBody>
          <a:bodyPr wrap="square" rtlCol="0">
            <a:spAutoFit/>
          </a:bodyPr>
          <a:lstStyle/>
          <a:p>
            <a:r>
              <a:rPr lang="en-IN" sz="1200" b="1" dirty="0"/>
              <a:t>Team Members:</a:t>
            </a:r>
          </a:p>
          <a:p>
            <a:endParaRPr lang="en-IN" sz="1200" b="1" dirty="0"/>
          </a:p>
          <a:p>
            <a:r>
              <a:rPr lang="en-IN" sz="1000" dirty="0"/>
              <a:t>I. Sai Kumar</a:t>
            </a:r>
          </a:p>
          <a:p>
            <a:endParaRPr lang="en-IN" sz="1000" dirty="0"/>
          </a:p>
          <a:p>
            <a:r>
              <a:rPr lang="en-IN" sz="1000" dirty="0"/>
              <a:t>Ch. Joshna</a:t>
            </a:r>
          </a:p>
          <a:p>
            <a:endParaRPr lang="en-IN" sz="1000" dirty="0"/>
          </a:p>
          <a:p>
            <a:r>
              <a:rPr lang="en-IN" sz="1000" dirty="0"/>
              <a:t>S. </a:t>
            </a:r>
            <a:r>
              <a:rPr lang="en-IN" sz="1000" dirty="0" err="1"/>
              <a:t>Jyothika</a:t>
            </a:r>
            <a:endParaRPr lang="en-IN" sz="1000" dirty="0"/>
          </a:p>
        </p:txBody>
      </p:sp>
      <p:sp>
        <p:nvSpPr>
          <p:cNvPr id="4" name="TextBox 3">
            <a:extLst>
              <a:ext uri="{FF2B5EF4-FFF2-40B4-BE49-F238E27FC236}">
                <a16:creationId xmlns:a16="http://schemas.microsoft.com/office/drawing/2014/main" id="{471DFA8D-C389-438D-03B5-0C0F8A5B1DD6}"/>
              </a:ext>
            </a:extLst>
          </p:cNvPr>
          <p:cNvSpPr txBox="1"/>
          <p:nvPr/>
        </p:nvSpPr>
        <p:spPr>
          <a:xfrm>
            <a:off x="5597911" y="2798272"/>
            <a:ext cx="1583474" cy="1184940"/>
          </a:xfrm>
          <a:prstGeom prst="rect">
            <a:avLst/>
          </a:prstGeom>
          <a:noFill/>
        </p:spPr>
        <p:txBody>
          <a:bodyPr wrap="square" rtlCol="0">
            <a:spAutoFit/>
          </a:bodyPr>
          <a:lstStyle/>
          <a:p>
            <a:r>
              <a:rPr lang="en-IN" sz="1100" b="1" dirty="0"/>
              <a:t>Project Guide:</a:t>
            </a:r>
          </a:p>
          <a:p>
            <a:endParaRPr lang="en-IN" sz="1000" dirty="0"/>
          </a:p>
          <a:p>
            <a:r>
              <a:rPr lang="en-IN" sz="1000" dirty="0"/>
              <a:t>Mr. R. Ashok</a:t>
            </a:r>
          </a:p>
          <a:p>
            <a:endParaRPr lang="en-IN" sz="1000" dirty="0"/>
          </a:p>
          <a:p>
            <a:r>
              <a:rPr lang="en-IN" sz="1000" dirty="0"/>
              <a:t>Sr. Assistant Professor</a:t>
            </a:r>
          </a:p>
          <a:p>
            <a:endParaRPr lang="en-IN" sz="1000" dirty="0"/>
          </a:p>
          <a:p>
            <a:r>
              <a:rPr lang="en-IN" sz="1000" dirty="0"/>
              <a:t>Dept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1DF577-E992-D814-FD8D-D2AF915C0359}"/>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3" name="TextBox 2">
            <a:extLst>
              <a:ext uri="{FF2B5EF4-FFF2-40B4-BE49-F238E27FC236}">
                <a16:creationId xmlns:a16="http://schemas.microsoft.com/office/drawing/2014/main" id="{2E341BB6-9BCE-CF54-E963-B61BC36E374E}"/>
              </a:ext>
            </a:extLst>
          </p:cNvPr>
          <p:cNvSpPr txBox="1"/>
          <p:nvPr/>
        </p:nvSpPr>
        <p:spPr>
          <a:xfrm>
            <a:off x="1858537" y="319668"/>
            <a:ext cx="4995746" cy="584775"/>
          </a:xfrm>
          <a:prstGeom prst="rect">
            <a:avLst/>
          </a:prstGeom>
          <a:noFill/>
        </p:spPr>
        <p:txBody>
          <a:bodyPr wrap="square" rtlCol="0">
            <a:spAutoFit/>
          </a:bodyPr>
          <a:lstStyle/>
          <a:p>
            <a:pPr algn="ctr"/>
            <a:r>
              <a:rPr lang="en-IN" sz="3200" b="1" dirty="0">
                <a:latin typeface="+mj-lt"/>
              </a:rPr>
              <a:t>Abstract</a:t>
            </a:r>
          </a:p>
        </p:txBody>
      </p:sp>
      <p:cxnSp>
        <p:nvCxnSpPr>
          <p:cNvPr id="5" name="Straight Connector 4">
            <a:extLst>
              <a:ext uri="{FF2B5EF4-FFF2-40B4-BE49-F238E27FC236}">
                <a16:creationId xmlns:a16="http://schemas.microsoft.com/office/drawing/2014/main" id="{3629AE1C-0578-5C76-A1B0-18B2119E0635}"/>
              </a:ext>
            </a:extLst>
          </p:cNvPr>
          <p:cNvCxnSpPr/>
          <p:nvPr/>
        </p:nvCxnSpPr>
        <p:spPr>
          <a:xfrm>
            <a:off x="579863" y="904443"/>
            <a:ext cx="7850459"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E04710C-D27E-CCFA-97B1-76A443CFB17F}"/>
              </a:ext>
            </a:extLst>
          </p:cNvPr>
          <p:cNvSpPr txBox="1"/>
          <p:nvPr/>
        </p:nvSpPr>
        <p:spPr>
          <a:xfrm>
            <a:off x="818122" y="1017478"/>
            <a:ext cx="7947103" cy="3108543"/>
          </a:xfrm>
          <a:prstGeom prst="rect">
            <a:avLst/>
          </a:prstGeom>
          <a:noFill/>
        </p:spPr>
        <p:txBody>
          <a:bodyPr wrap="square" rtlCol="0">
            <a:spAutoFit/>
          </a:bodyPr>
          <a:lstStyle/>
          <a:p>
            <a:pPr marL="152400" indent="0" algn="just">
              <a:buNone/>
            </a:pPr>
            <a:endParaRPr lang="en-US" sz="1400" dirty="0">
              <a:solidFill>
                <a:schemeClr val="tx1"/>
              </a:solidFill>
              <a:latin typeface="Times New Roman" panose="02020603050405020304" pitchFamily="18" charset="0"/>
              <a:cs typeface="Times New Roman" panose="02020603050405020304" pitchFamily="18" charset="0"/>
            </a:endParaRPr>
          </a:p>
          <a:p>
            <a:r>
              <a:rPr lang="en-US" dirty="0"/>
              <a:t>The “Efficient Energy Tracking and Monitoring in IoT Enabled Smart Home Using MQTT Protocol" is a cutting-edge IoT solution designed to transform traditional households into intelligent, energy-efficient living spaces. Leveraging the powerful ESP32 microcontroller as the central hub, this system integrates multiple control mechanisms, including manual switches, MQTT-based remote control, and real-time energy monitoring. The project focuses on providing seamless control over home appliances while offering users detailed insights into energy consumption patterns.</a:t>
            </a:r>
          </a:p>
          <a:p>
            <a:endParaRPr lang="en-US" dirty="0"/>
          </a:p>
          <a:p>
            <a:r>
              <a:rPr lang="en-US" dirty="0"/>
              <a:t>By integrating cloud-based data logging through </a:t>
            </a:r>
            <a:r>
              <a:rPr lang="en-US" dirty="0" err="1"/>
              <a:t>ThingSpeak</a:t>
            </a:r>
            <a:r>
              <a:rPr lang="en-US" dirty="0"/>
              <a:t> and MQTT protocols, the system ensures reliable communication and analytics for energy usage and device management. The local LCD interface delivers instant feedback, enhancing accessibility and user experience. The combination of manual and automated control empowers users to operate appliances flexibly, catering to both tech-savvy and traditional preferences.</a:t>
            </a:r>
          </a:p>
          <a:p>
            <a:pPr marL="152400" indent="0" algn="just">
              <a:buNone/>
            </a:pPr>
            <a:endParaRPr lang="en-IN" dirty="0"/>
          </a:p>
        </p:txBody>
      </p:sp>
    </p:spTree>
    <p:extLst>
      <p:ext uri="{BB962C8B-B14F-4D97-AF65-F5344CB8AC3E}">
        <p14:creationId xmlns:p14="http://schemas.microsoft.com/office/powerpoint/2010/main" val="1742795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49"/>
        <p:cNvGrpSpPr/>
        <p:nvPr/>
      </p:nvGrpSpPr>
      <p:grpSpPr>
        <a:xfrm>
          <a:off x="0" y="0"/>
          <a:ext cx="0" cy="0"/>
          <a:chOff x="0" y="0"/>
          <a:chExt cx="0" cy="0"/>
        </a:xfrm>
      </p:grpSpPr>
      <p:sp>
        <p:nvSpPr>
          <p:cNvPr id="4350" name="Google Shape;4350;p35"/>
          <p:cNvSpPr txBox="1">
            <a:spLocks noGrp="1"/>
          </p:cNvSpPr>
          <p:nvPr>
            <p:ph type="title"/>
          </p:nvPr>
        </p:nvSpPr>
        <p:spPr>
          <a:xfrm>
            <a:off x="467240" y="28147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Introduction</a:t>
            </a:r>
            <a:endParaRPr b="1" dirty="0"/>
          </a:p>
        </p:txBody>
      </p:sp>
      <p:sp>
        <p:nvSpPr>
          <p:cNvPr id="38" name="TextBox 37">
            <a:extLst>
              <a:ext uri="{FF2B5EF4-FFF2-40B4-BE49-F238E27FC236}">
                <a16:creationId xmlns:a16="http://schemas.microsoft.com/office/drawing/2014/main" id="{7AD2DEFA-CF54-4595-0ED6-9E05FECEB39E}"/>
              </a:ext>
            </a:extLst>
          </p:cNvPr>
          <p:cNvSpPr txBox="1"/>
          <p:nvPr/>
        </p:nvSpPr>
        <p:spPr>
          <a:xfrm>
            <a:off x="866077" y="1070517"/>
            <a:ext cx="7278029" cy="3885679"/>
          </a:xfrm>
          <a:prstGeom prst="rect">
            <a:avLst/>
          </a:prstGeom>
          <a:noFill/>
        </p:spPr>
        <p:txBody>
          <a:bodyPr wrap="square" rtlCol="0">
            <a:spAutoFit/>
          </a:bodyPr>
          <a:lstStyle/>
          <a:p>
            <a:pPr algn="just">
              <a:buFont typeface="Wingdings" panose="05000000000000000000" pitchFamily="2" charset="2"/>
              <a:buChar char="Ø"/>
            </a:pPr>
            <a:r>
              <a:rPr lang="en-US" sz="1400" dirty="0"/>
              <a:t>The rapid rise in </a:t>
            </a:r>
            <a:r>
              <a:rPr lang="en-US" sz="1400" b="1" dirty="0"/>
              <a:t>automation</a:t>
            </a:r>
            <a:r>
              <a:rPr lang="en-US" sz="1400" dirty="0"/>
              <a:t> has led to increased </a:t>
            </a:r>
            <a:r>
              <a:rPr lang="en-US" sz="1400" b="1" dirty="0"/>
              <a:t>electricity consumption</a:t>
            </a:r>
            <a:r>
              <a:rPr lang="en-US" sz="1400" dirty="0"/>
              <a:t> in modern households. Traditional home systems lack the </a:t>
            </a:r>
            <a:r>
              <a:rPr lang="en-US" sz="1400" b="1" dirty="0"/>
              <a:t>intelligence and flexibility</a:t>
            </a:r>
            <a:r>
              <a:rPr lang="en-US" sz="1400" dirty="0"/>
              <a:t> to optimize appliance usage and reduce energy waste.</a:t>
            </a:r>
          </a:p>
          <a:p>
            <a:pPr algn="just"/>
            <a:endParaRPr lang="en-US" sz="1400" dirty="0"/>
          </a:p>
          <a:p>
            <a:pPr algn="just">
              <a:buFont typeface="Wingdings" panose="05000000000000000000" pitchFamily="2" charset="2"/>
              <a:buChar char="Ø"/>
            </a:pPr>
            <a:r>
              <a:rPr lang="en-US" sz="1400" dirty="0"/>
              <a:t>The </a:t>
            </a:r>
            <a:r>
              <a:rPr lang="en-US" sz="1400" b="1" dirty="0"/>
              <a:t>depletion of fossil fuels</a:t>
            </a:r>
            <a:r>
              <a:rPr lang="en-US" sz="1400" dirty="0"/>
              <a:t> and rising energy costs have made </a:t>
            </a:r>
            <a:r>
              <a:rPr lang="en-US" sz="1400" b="1" dirty="0"/>
              <a:t>efficient energy management</a:t>
            </a:r>
            <a:r>
              <a:rPr lang="en-US" sz="1400" dirty="0"/>
              <a:t> a pressing concern.</a:t>
            </a:r>
            <a:r>
              <a:rPr lang="en-US" sz="1400" b="1" dirty="0"/>
              <a:t> Smart Home Energy Management Systems (SHEMS)</a:t>
            </a:r>
            <a:r>
              <a:rPr lang="en-US" sz="1400" dirty="0"/>
              <a:t>, powered by </a:t>
            </a:r>
            <a:r>
              <a:rPr lang="en-US" sz="1400" b="1" dirty="0"/>
              <a:t>IoT</a:t>
            </a:r>
            <a:r>
              <a:rPr lang="en-US" sz="1400" dirty="0"/>
              <a:t>, can monitor, control, and optimize power usage in real time.</a:t>
            </a:r>
          </a:p>
          <a:p>
            <a:pPr algn="just"/>
            <a:endParaRPr lang="en-US" sz="1400" dirty="0"/>
          </a:p>
          <a:p>
            <a:pPr algn="just">
              <a:buFont typeface="Wingdings" panose="05000000000000000000" pitchFamily="2" charset="2"/>
              <a:buChar char="Ø"/>
            </a:pPr>
            <a:r>
              <a:rPr lang="en-US" sz="1400" dirty="0"/>
              <a:t>By combining manual switches, and mobile app control, we aim to provide a versatile and user-friendly solution for managing both smart and non-smart home devices. Our system also works smoothly with your current home setup, making it easy to upgrade.</a:t>
            </a:r>
          </a:p>
          <a:p>
            <a:pPr marL="285750" indent="-285750" algn="just">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t>This proje</a:t>
            </a:r>
            <a:r>
              <a:rPr lang="en-US" dirty="0"/>
              <a:t>ct</a:t>
            </a:r>
            <a:r>
              <a:rPr lang="en-US" sz="1400" dirty="0"/>
              <a:t> aims to design a </a:t>
            </a:r>
            <a:r>
              <a:rPr lang="en-US" sz="1400" b="1" dirty="0"/>
              <a:t>cost-effective, scalable, and intelligent system</a:t>
            </a:r>
            <a:r>
              <a:rPr lang="en-US" sz="1400" dirty="0"/>
              <a:t> using:</a:t>
            </a:r>
          </a:p>
          <a:p>
            <a:pPr marL="285750" lvl="4" indent="-285750">
              <a:buFont typeface="Wingdings" panose="05000000000000000000" pitchFamily="2" charset="2"/>
              <a:buChar char="§"/>
            </a:pPr>
            <a:r>
              <a:rPr lang="en-US" dirty="0"/>
              <a:t>ESP32 microcontroller</a:t>
            </a:r>
          </a:p>
          <a:p>
            <a:pPr marL="285750" lvl="4" indent="-285750">
              <a:buFont typeface="Wingdings" panose="05000000000000000000" pitchFamily="2" charset="2"/>
              <a:buChar char="§"/>
            </a:pPr>
            <a:r>
              <a:rPr lang="en-US" dirty="0" err="1"/>
              <a:t>ThingSpeak</a:t>
            </a:r>
            <a:r>
              <a:rPr lang="en-US" dirty="0"/>
              <a:t> for energy monitoring</a:t>
            </a:r>
          </a:p>
          <a:p>
            <a:pPr marL="285750" lvl="4" indent="-285750">
              <a:buFont typeface="Wingdings" panose="05000000000000000000" pitchFamily="2" charset="2"/>
              <a:buChar char="§"/>
            </a:pPr>
            <a:r>
              <a:rPr lang="en-US" dirty="0"/>
              <a:t>Node-RED for control interface</a:t>
            </a:r>
          </a:p>
          <a:p>
            <a:pPr algn="just">
              <a:buFont typeface="Wingdings" panose="05000000000000000000" pitchFamily="2" charset="2"/>
              <a:buChar char="Ø"/>
            </a:pPr>
            <a:endParaRPr lang="en-US" sz="1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05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D1E391B7-32BC-BB33-7F15-922F5E3FF39C}"/>
              </a:ext>
            </a:extLst>
          </p:cNvPr>
          <p:cNvCxnSpPr/>
          <p:nvPr/>
        </p:nvCxnSpPr>
        <p:spPr>
          <a:xfrm>
            <a:off x="866077" y="921081"/>
            <a:ext cx="715164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9">
          <a:extLst>
            <a:ext uri="{FF2B5EF4-FFF2-40B4-BE49-F238E27FC236}">
              <a16:creationId xmlns:a16="http://schemas.microsoft.com/office/drawing/2014/main" id="{E809AE13-98A8-54DB-D730-F76C80ABC26F}"/>
            </a:ext>
          </a:extLst>
        </p:cNvPr>
        <p:cNvGrpSpPr/>
        <p:nvPr/>
      </p:nvGrpSpPr>
      <p:grpSpPr>
        <a:xfrm>
          <a:off x="0" y="0"/>
          <a:ext cx="0" cy="0"/>
          <a:chOff x="0" y="0"/>
          <a:chExt cx="0" cy="0"/>
        </a:xfrm>
      </p:grpSpPr>
      <p:sp>
        <p:nvSpPr>
          <p:cNvPr id="4350" name="Google Shape;4350;p35">
            <a:extLst>
              <a:ext uri="{FF2B5EF4-FFF2-40B4-BE49-F238E27FC236}">
                <a16:creationId xmlns:a16="http://schemas.microsoft.com/office/drawing/2014/main" id="{4431DB96-93CE-161F-F431-51665E75C977}"/>
              </a:ext>
            </a:extLst>
          </p:cNvPr>
          <p:cNvSpPr txBox="1">
            <a:spLocks noGrp="1"/>
          </p:cNvSpPr>
          <p:nvPr>
            <p:ph type="title"/>
          </p:nvPr>
        </p:nvSpPr>
        <p:spPr>
          <a:xfrm>
            <a:off x="601053" y="-118946"/>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br>
              <a:rPr lang="en-IN" sz="2400" dirty="0"/>
            </a:br>
            <a:r>
              <a:rPr lang="en-IN" sz="2800" b="1" dirty="0"/>
              <a:t>Objectives</a:t>
            </a:r>
            <a:br>
              <a:rPr lang="en-IN" sz="2400" dirty="0"/>
            </a:br>
            <a:endParaRPr sz="2400" dirty="0"/>
          </a:p>
        </p:txBody>
      </p:sp>
      <p:sp>
        <p:nvSpPr>
          <p:cNvPr id="38" name="TextBox 37">
            <a:extLst>
              <a:ext uri="{FF2B5EF4-FFF2-40B4-BE49-F238E27FC236}">
                <a16:creationId xmlns:a16="http://schemas.microsoft.com/office/drawing/2014/main" id="{BAFF8ED4-0220-B048-2AF1-6823FD69495C}"/>
              </a:ext>
            </a:extLst>
          </p:cNvPr>
          <p:cNvSpPr txBox="1"/>
          <p:nvPr/>
        </p:nvSpPr>
        <p:spPr>
          <a:xfrm>
            <a:off x="932984" y="847493"/>
            <a:ext cx="7278029" cy="4185761"/>
          </a:xfrm>
          <a:prstGeom prst="rect">
            <a:avLst/>
          </a:prstGeom>
          <a:noFill/>
        </p:spPr>
        <p:txBody>
          <a:bodyPr wrap="square" rtlCol="0">
            <a:spAutoFit/>
          </a:bodyPr>
          <a:lstStyle/>
          <a:p>
            <a:pPr algn="l"/>
            <a:endParaRPr lang="en-US" b="1" i="0" dirty="0">
              <a:solidFill>
                <a:srgbClr val="0D0D0D"/>
              </a:solidFill>
              <a:effectLst/>
              <a:latin typeface="Söhne"/>
            </a:endParaRPr>
          </a:p>
          <a:p>
            <a:pPr marL="285750" indent="-285750">
              <a:buFont typeface="Wingdings" panose="05000000000000000000" pitchFamily="2" charset="2"/>
              <a:buChar char="Ø"/>
            </a:pPr>
            <a:r>
              <a:rPr lang="en-IN" b="1" dirty="0"/>
              <a:t>Real Time Energy Monitoring:</a:t>
            </a:r>
          </a:p>
          <a:p>
            <a:r>
              <a:rPr lang="en-IN" b="1" dirty="0"/>
              <a:t>   </a:t>
            </a:r>
            <a:r>
              <a:rPr lang="en-US" dirty="0"/>
              <a:t>Real-time tracking of power usage and energy consumption for enhanced energy efficiency.</a:t>
            </a:r>
          </a:p>
          <a:p>
            <a:endParaRPr lang="en-IN" b="1" dirty="0"/>
          </a:p>
          <a:p>
            <a:pPr marL="285750" indent="-285750" algn="l">
              <a:buFont typeface="Wingdings" panose="05000000000000000000" pitchFamily="2" charset="2"/>
              <a:buChar char="Ø"/>
            </a:pPr>
            <a:r>
              <a:rPr lang="en-IN" b="1" dirty="0"/>
              <a:t>Automation and Control:</a:t>
            </a:r>
            <a:endParaRPr lang="en-US" b="1" dirty="0">
              <a:solidFill>
                <a:srgbClr val="0D0D0D"/>
              </a:solidFill>
              <a:latin typeface="Söhne"/>
            </a:endParaRPr>
          </a:p>
          <a:p>
            <a:pPr algn="l"/>
            <a:r>
              <a:rPr lang="en-US" dirty="0"/>
              <a:t>  Designing the system to control traditional non-smart appliances using IoT technology.</a:t>
            </a:r>
          </a:p>
          <a:p>
            <a:pPr marL="285750" indent="-285750" algn="l">
              <a:buFont typeface="Wingdings" panose="05000000000000000000" pitchFamily="2" charset="2"/>
              <a:buChar char="Ø"/>
            </a:pPr>
            <a:endParaRPr lang="en-US" b="1" dirty="0">
              <a:solidFill>
                <a:srgbClr val="0D0D0D"/>
              </a:solidFill>
              <a:latin typeface="Söhne"/>
            </a:endParaRPr>
          </a:p>
          <a:p>
            <a:pPr marL="285750" indent="-285750" algn="l">
              <a:buFont typeface="Wingdings" panose="05000000000000000000" pitchFamily="2" charset="2"/>
              <a:buChar char="Ø"/>
            </a:pPr>
            <a:r>
              <a:rPr lang="en-IN" b="1" dirty="0"/>
              <a:t>Data Logging and Visualization:</a:t>
            </a:r>
            <a:r>
              <a:rPr lang="en-IN" dirty="0"/>
              <a:t> </a:t>
            </a:r>
          </a:p>
          <a:p>
            <a:pPr algn="l"/>
            <a:r>
              <a:rPr lang="en-US" dirty="0"/>
              <a:t>Uploading energy data and appliance states to </a:t>
            </a:r>
            <a:r>
              <a:rPr lang="en-US" dirty="0" err="1"/>
              <a:t>ThingSpeak</a:t>
            </a:r>
            <a:r>
              <a:rPr lang="en-US" dirty="0"/>
              <a:t> for analytics. Providing an intuitive LCD interface for instant feedback.</a:t>
            </a:r>
          </a:p>
          <a:p>
            <a:pPr algn="l"/>
            <a:endParaRPr lang="en-US" b="1" dirty="0"/>
          </a:p>
          <a:p>
            <a:pPr marL="285750" indent="-285750" algn="l">
              <a:buFont typeface="Wingdings" panose="05000000000000000000" pitchFamily="2" charset="2"/>
              <a:buChar char="Ø"/>
            </a:pPr>
            <a:r>
              <a:rPr lang="en-US" b="1" dirty="0"/>
              <a:t>Ensure Seamless Integration Across Platforms:</a:t>
            </a:r>
            <a:endParaRPr lang="en-US" dirty="0"/>
          </a:p>
          <a:p>
            <a:pPr algn="l"/>
            <a:r>
              <a:rPr lang="en-US" dirty="0"/>
              <a:t>Develop a unified system architecture that allows seamless communication and control across various platforms</a:t>
            </a:r>
            <a:endParaRPr lang="en-US" b="1" dirty="0"/>
          </a:p>
          <a:p>
            <a:pPr algn="l"/>
            <a:endParaRPr lang="en-US" b="1" dirty="0"/>
          </a:p>
          <a:p>
            <a:pPr algn="l"/>
            <a:endParaRPr lang="en-US" b="0" i="0" dirty="0">
              <a:solidFill>
                <a:srgbClr val="0D0D0D"/>
              </a:solidFill>
              <a:effectLst/>
              <a:latin typeface="Söhne"/>
            </a:endParaRPr>
          </a:p>
          <a:p>
            <a:pPr algn="l"/>
            <a:endParaRPr lang="en-US" b="0" i="0" dirty="0">
              <a:solidFill>
                <a:srgbClr val="0D0D0D"/>
              </a:solidFill>
              <a:effectLst/>
              <a:latin typeface="Söhne"/>
            </a:endParaRPr>
          </a:p>
          <a:p>
            <a:endParaRPr lang="en-IN" dirty="0"/>
          </a:p>
        </p:txBody>
      </p:sp>
      <p:cxnSp>
        <p:nvCxnSpPr>
          <p:cNvPr id="3" name="Straight Connector 2">
            <a:extLst>
              <a:ext uri="{FF2B5EF4-FFF2-40B4-BE49-F238E27FC236}">
                <a16:creationId xmlns:a16="http://schemas.microsoft.com/office/drawing/2014/main" id="{93B0CFC8-6F7F-76A9-42AE-13207BBD2A10}"/>
              </a:ext>
            </a:extLst>
          </p:cNvPr>
          <p:cNvCxnSpPr/>
          <p:nvPr/>
        </p:nvCxnSpPr>
        <p:spPr>
          <a:xfrm>
            <a:off x="1025911" y="847493"/>
            <a:ext cx="709217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67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72"/>
        <p:cNvGrpSpPr/>
        <p:nvPr/>
      </p:nvGrpSpPr>
      <p:grpSpPr>
        <a:xfrm>
          <a:off x="0" y="0"/>
          <a:ext cx="0" cy="0"/>
          <a:chOff x="0" y="0"/>
          <a:chExt cx="0" cy="0"/>
        </a:xfrm>
      </p:grpSpPr>
      <p:sp>
        <p:nvSpPr>
          <p:cNvPr id="4374" name="Google Shape;4374;p36"/>
          <p:cNvSpPr txBox="1">
            <a:spLocks noGrp="1"/>
          </p:cNvSpPr>
          <p:nvPr>
            <p:ph type="title"/>
          </p:nvPr>
        </p:nvSpPr>
        <p:spPr>
          <a:xfrm>
            <a:off x="2075031" y="-156116"/>
            <a:ext cx="4645200" cy="46835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800" b="1" dirty="0">
                <a:solidFill>
                  <a:srgbClr val="A50021"/>
                </a:solidFill>
              </a:rPr>
              <a:t>Existing Methods</a:t>
            </a:r>
            <a:endParaRPr sz="2800" b="1" dirty="0">
              <a:solidFill>
                <a:srgbClr val="A50021"/>
              </a:solidFill>
            </a:endParaRPr>
          </a:p>
        </p:txBody>
      </p:sp>
      <p:sp>
        <p:nvSpPr>
          <p:cNvPr id="2" name="TextBox 1">
            <a:extLst>
              <a:ext uri="{FF2B5EF4-FFF2-40B4-BE49-F238E27FC236}">
                <a16:creationId xmlns:a16="http://schemas.microsoft.com/office/drawing/2014/main" id="{D71B5554-1313-935B-6008-BF1A3F25B11D}"/>
              </a:ext>
            </a:extLst>
          </p:cNvPr>
          <p:cNvSpPr txBox="1"/>
          <p:nvPr/>
        </p:nvSpPr>
        <p:spPr>
          <a:xfrm>
            <a:off x="550127" y="550127"/>
            <a:ext cx="8028878" cy="523220"/>
          </a:xfrm>
          <a:prstGeom prst="rect">
            <a:avLst/>
          </a:prstGeom>
          <a:noFill/>
        </p:spPr>
        <p:txBody>
          <a:bodyPr wrap="square" rtlCol="0">
            <a:spAutoFit/>
          </a:bodyPr>
          <a:lstStyle/>
          <a:p>
            <a:endParaRPr lang="en-US" dirty="0"/>
          </a:p>
          <a:p>
            <a:pPr algn="l"/>
            <a:endParaRPr lang="en-IN" dirty="0"/>
          </a:p>
        </p:txBody>
      </p:sp>
      <p:graphicFrame>
        <p:nvGraphicFramePr>
          <p:cNvPr id="4" name="Table 3">
            <a:extLst>
              <a:ext uri="{FF2B5EF4-FFF2-40B4-BE49-F238E27FC236}">
                <a16:creationId xmlns:a16="http://schemas.microsoft.com/office/drawing/2014/main" id="{9E208AF5-60C9-A2F7-4110-F3A056C51435}"/>
              </a:ext>
            </a:extLst>
          </p:cNvPr>
          <p:cNvGraphicFramePr>
            <a:graphicFrameLocks noGrp="1"/>
          </p:cNvGraphicFramePr>
          <p:nvPr>
            <p:extLst>
              <p:ext uri="{D42A27DB-BD31-4B8C-83A1-F6EECF244321}">
                <p14:modId xmlns:p14="http://schemas.microsoft.com/office/powerpoint/2010/main" val="4008839185"/>
              </p:ext>
            </p:extLst>
          </p:nvPr>
        </p:nvGraphicFramePr>
        <p:xfrm>
          <a:off x="564995" y="371716"/>
          <a:ext cx="8095785" cy="5045546"/>
        </p:xfrm>
        <a:graphic>
          <a:graphicData uri="http://schemas.openxmlformats.org/drawingml/2006/table">
            <a:tbl>
              <a:tblPr firstRow="1" bandRow="1">
                <a:tableStyleId>{5FD0F851-EC5A-4D38-B0AD-8093EC10F338}</a:tableStyleId>
              </a:tblPr>
              <a:tblGrid>
                <a:gridCol w="2743201">
                  <a:extLst>
                    <a:ext uri="{9D8B030D-6E8A-4147-A177-3AD203B41FA5}">
                      <a16:colId xmlns:a16="http://schemas.microsoft.com/office/drawing/2014/main" val="187323758"/>
                    </a:ext>
                  </a:extLst>
                </a:gridCol>
                <a:gridCol w="2646555">
                  <a:extLst>
                    <a:ext uri="{9D8B030D-6E8A-4147-A177-3AD203B41FA5}">
                      <a16:colId xmlns:a16="http://schemas.microsoft.com/office/drawing/2014/main" val="3655558630"/>
                    </a:ext>
                  </a:extLst>
                </a:gridCol>
                <a:gridCol w="2706029">
                  <a:extLst>
                    <a:ext uri="{9D8B030D-6E8A-4147-A177-3AD203B41FA5}">
                      <a16:colId xmlns:a16="http://schemas.microsoft.com/office/drawing/2014/main" val="3418582853"/>
                    </a:ext>
                  </a:extLst>
                </a:gridCol>
              </a:tblGrid>
              <a:tr h="262247">
                <a:tc>
                  <a:txBody>
                    <a:bodyPr/>
                    <a:lstStyle/>
                    <a:p>
                      <a:r>
                        <a:rPr lang="en-IN" b="1" dirty="0"/>
                        <a:t>Paper</a:t>
                      </a:r>
                    </a:p>
                  </a:txBody>
                  <a:tcPr/>
                </a:tc>
                <a:tc>
                  <a:txBody>
                    <a:bodyPr/>
                    <a:lstStyle/>
                    <a:p>
                      <a:r>
                        <a:rPr lang="en-IN" b="1" dirty="0"/>
                        <a:t>Features and System</a:t>
                      </a:r>
                    </a:p>
                  </a:txBody>
                  <a:tcPr/>
                </a:tc>
                <a:tc>
                  <a:txBody>
                    <a:bodyPr/>
                    <a:lstStyle/>
                    <a:p>
                      <a:r>
                        <a:rPr lang="en-IN" b="1" dirty="0"/>
                        <a:t>Limitations</a:t>
                      </a:r>
                    </a:p>
                  </a:txBody>
                  <a:tcPr/>
                </a:tc>
                <a:extLst>
                  <a:ext uri="{0D108BD9-81ED-4DB2-BD59-A6C34878D82A}">
                    <a16:rowId xmlns:a16="http://schemas.microsoft.com/office/drawing/2014/main" val="3800808138"/>
                  </a:ext>
                </a:extLst>
              </a:tr>
              <a:tr h="753121">
                <a:tc>
                  <a:txBody>
                    <a:bodyPr/>
                    <a:lstStyle/>
                    <a:p>
                      <a:r>
                        <a:rPr lang="en-US" sz="1000" b="0" kern="1200" dirty="0" err="1">
                          <a:solidFill>
                            <a:srgbClr val="000000"/>
                          </a:solidFill>
                          <a:effectLst/>
                        </a:rPr>
                        <a:t>Netinant</a:t>
                      </a:r>
                      <a:r>
                        <a:rPr lang="en-US" sz="1000" b="0" kern="1200" dirty="0">
                          <a:solidFill>
                            <a:srgbClr val="000000"/>
                          </a:solidFill>
                          <a:effectLst/>
                        </a:rPr>
                        <a:t>, P.; </a:t>
                      </a:r>
                      <a:r>
                        <a:rPr lang="en-US" sz="1000" b="0" kern="1200" dirty="0" err="1">
                          <a:solidFill>
                            <a:srgbClr val="000000"/>
                          </a:solidFill>
                          <a:effectLst/>
                        </a:rPr>
                        <a:t>Utsanok</a:t>
                      </a:r>
                      <a:r>
                        <a:rPr lang="en-US" sz="1000" b="0" kern="1200" dirty="0">
                          <a:solidFill>
                            <a:srgbClr val="000000"/>
                          </a:solidFill>
                          <a:effectLst/>
                        </a:rPr>
                        <a:t>, T.; </a:t>
                      </a:r>
                      <a:r>
                        <a:rPr lang="en-US" sz="1000" b="0" kern="1200" dirty="0" err="1">
                          <a:solidFill>
                            <a:srgbClr val="000000"/>
                          </a:solidFill>
                          <a:effectLst/>
                        </a:rPr>
                        <a:t>Rukhiran</a:t>
                      </a:r>
                      <a:r>
                        <a:rPr lang="en-US" sz="1000" b="0" kern="1200" dirty="0">
                          <a:solidFill>
                            <a:srgbClr val="000000"/>
                          </a:solidFill>
                          <a:effectLst/>
                        </a:rPr>
                        <a:t>, M.; </a:t>
                      </a:r>
                      <a:r>
                        <a:rPr lang="en-US" sz="1000" b="0" kern="1200" dirty="0" err="1">
                          <a:solidFill>
                            <a:srgbClr val="000000"/>
                          </a:solidFill>
                          <a:effectLst/>
                        </a:rPr>
                        <a:t>Klongdee</a:t>
                      </a:r>
                      <a:r>
                        <a:rPr lang="en-US" sz="1000" b="0" kern="1200" dirty="0">
                          <a:solidFill>
                            <a:srgbClr val="000000"/>
                          </a:solidFill>
                          <a:effectLst/>
                        </a:rPr>
                        <a:t>, S. Development and Assessment of Internet of Things-Driven Smart Home Security and Automation with Voice Commands. IoT 2024, 5, 79-99. </a:t>
                      </a:r>
                      <a:r>
                        <a:rPr lang="en-US" sz="1000" b="0" kern="1200" dirty="0">
                          <a:solidFill>
                            <a:srgbClr val="000000"/>
                          </a:solidFill>
                          <a:effectLst/>
                          <a:hlinkClick r:id="rId3"/>
                        </a:rPr>
                        <a:t>https://doi.org/10.3390/iot5010005</a:t>
                      </a:r>
                      <a:endParaRPr lang="en-US" sz="1000" b="0" kern="1200" dirty="0">
                        <a:solidFill>
                          <a:srgbClr val="000000"/>
                        </a:solidFill>
                        <a:effectLst/>
                      </a:endParaRPr>
                    </a:p>
                    <a:p>
                      <a:endParaRPr lang="en-IN" sz="1000" dirty="0"/>
                    </a:p>
                  </a:txBody>
                  <a:tcPr/>
                </a:tc>
                <a:tc>
                  <a:txBody>
                    <a:bodyPr/>
                    <a:lstStyle/>
                    <a:p>
                      <a:r>
                        <a:rPr lang="en-IN" sz="1100" dirty="0"/>
                        <a:t>Voice Command Integration, PIR Sensor-Based Intrusion Detection, Mobile Application Control</a:t>
                      </a:r>
                    </a:p>
                  </a:txBody>
                  <a:tcPr/>
                </a:tc>
                <a:tc>
                  <a:txBody>
                    <a:bodyPr/>
                    <a:lstStyle/>
                    <a:p>
                      <a:r>
                        <a:rPr lang="en-US" sz="1200" b="0" dirty="0"/>
                        <a:t>Dependence on Wireless Network Connectivity,</a:t>
                      </a:r>
                      <a:r>
                        <a:rPr lang="en-IN" sz="1200" b="1" dirty="0"/>
                        <a:t> </a:t>
                      </a:r>
                      <a:r>
                        <a:rPr lang="en-IN" sz="1200" b="0" dirty="0"/>
                        <a:t>Voice Recognition </a:t>
                      </a:r>
                      <a:r>
                        <a:rPr lang="en-IN" sz="1200" dirty="0"/>
                        <a:t>Authenticity</a:t>
                      </a:r>
                      <a:endParaRPr lang="en-IN" sz="1200" b="0" dirty="0"/>
                    </a:p>
                  </a:txBody>
                  <a:tcPr/>
                </a:tc>
                <a:extLst>
                  <a:ext uri="{0D108BD9-81ED-4DB2-BD59-A6C34878D82A}">
                    <a16:rowId xmlns:a16="http://schemas.microsoft.com/office/drawing/2014/main" val="663824454"/>
                  </a:ext>
                </a:extLst>
              </a:tr>
              <a:tr h="685878">
                <a:tc>
                  <a:txBody>
                    <a:bodyPr/>
                    <a:lstStyle/>
                    <a:p>
                      <a:r>
                        <a:rPr lang="en-IN" sz="900" dirty="0"/>
                        <a:t>N. Prathima, P. Sai Kumar, SK. Lal Ahmed and G. Chakradhar,, “Voice Recognition Based Home Automation System for Paralyzed People”, International Journal for Modern Trends in Science and Technology, Vol. 03, Special Issue 02, 2017, pp. 101-106. </a:t>
                      </a:r>
                    </a:p>
                    <a:p>
                      <a:endParaRPr lang="en-IN" sz="900" dirty="0"/>
                    </a:p>
                  </a:txBody>
                  <a:tcPr/>
                </a:tc>
                <a:tc>
                  <a:txBody>
                    <a:bodyPr/>
                    <a:lstStyle/>
                    <a:p>
                      <a:r>
                        <a:rPr lang="en-US" sz="1000" dirty="0"/>
                        <a:t>Voice-Controlled Home Automation wheel chair Control via Voice Commands Design Messaging System,</a:t>
                      </a:r>
                    </a:p>
                    <a:p>
                      <a:r>
                        <a:rPr lang="en-US" sz="1000" dirty="0"/>
                        <a:t>Assistive Technology for Independence</a:t>
                      </a:r>
                      <a:endParaRPr lang="en-IN" sz="1000" dirty="0"/>
                    </a:p>
                  </a:txBody>
                  <a:tcPr/>
                </a:tc>
                <a:tc>
                  <a:txBody>
                    <a:bodyPr/>
                    <a:lstStyle/>
                    <a:p>
                      <a:r>
                        <a:rPr lang="en-US" sz="1050" b="0" dirty="0"/>
                        <a:t>Limited Functionality in Power Outages,</a:t>
                      </a:r>
                      <a:r>
                        <a:rPr lang="en-IN" sz="1050" b="0" dirty="0"/>
                        <a:t> Limited Device Compatibility,</a:t>
                      </a:r>
                      <a:r>
                        <a:rPr lang="en-IN" sz="1050" dirty="0"/>
                        <a:t> Initial Setup Complexity</a:t>
                      </a:r>
                      <a:endParaRPr lang="en-IN" sz="1050" b="0" dirty="0"/>
                    </a:p>
                  </a:txBody>
                  <a:tcPr/>
                </a:tc>
                <a:extLst>
                  <a:ext uri="{0D108BD9-81ED-4DB2-BD59-A6C34878D82A}">
                    <a16:rowId xmlns:a16="http://schemas.microsoft.com/office/drawing/2014/main" val="2736940050"/>
                  </a:ext>
                </a:extLst>
              </a:tr>
              <a:tr h="795302">
                <a:tc>
                  <a:txBody>
                    <a:bodyPr/>
                    <a:lstStyle/>
                    <a:p>
                      <a:r>
                        <a:rPr lang="en-IN" sz="900" b="0" kern="1200" dirty="0">
                          <a:solidFill>
                            <a:srgbClr val="000000"/>
                          </a:solidFill>
                          <a:effectLst/>
                        </a:rPr>
                        <a:t>S. Das, S. Ganguly, S. Ghosh, R. Sarker and D. Sengupta, "A </a:t>
                      </a:r>
                      <a:r>
                        <a:rPr lang="en-IN" sz="900" b="0" kern="1200" dirty="0" err="1">
                          <a:solidFill>
                            <a:srgbClr val="000000"/>
                          </a:solidFill>
                          <a:effectLst/>
                        </a:rPr>
                        <a:t>bluetooth</a:t>
                      </a:r>
                      <a:r>
                        <a:rPr lang="en-IN" sz="900" b="0" kern="1200" dirty="0">
                          <a:solidFill>
                            <a:srgbClr val="000000"/>
                          </a:solidFill>
                          <a:effectLst/>
                        </a:rPr>
                        <a:t> based sophisticated home automation system using smartphone," 2016 International Conference on Intelligent Control Power and Instrumentation (ICICPI), 2016, pp. 236-240, </a:t>
                      </a:r>
                      <a:r>
                        <a:rPr lang="en-IN" sz="900" b="0" kern="1200" dirty="0" err="1">
                          <a:solidFill>
                            <a:srgbClr val="000000"/>
                          </a:solidFill>
                          <a:effectLst/>
                        </a:rPr>
                        <a:t>doi</a:t>
                      </a:r>
                      <a:r>
                        <a:rPr lang="en-IN" sz="900" b="0" kern="1200" dirty="0">
                          <a:solidFill>
                            <a:srgbClr val="000000"/>
                          </a:solidFill>
                          <a:effectLst/>
                        </a:rPr>
                        <a:t>: 10.1109/ICICPI.2016.7859709.</a:t>
                      </a:r>
                      <a:br>
                        <a:rPr lang="en-IN" sz="1000" dirty="0"/>
                      </a:br>
                      <a:endParaRPr lang="en-IN" sz="1000" dirty="0"/>
                    </a:p>
                  </a:txBody>
                  <a:tcPr/>
                </a:tc>
                <a:tc>
                  <a:txBody>
                    <a:bodyPr/>
                    <a:lstStyle/>
                    <a:p>
                      <a:r>
                        <a:rPr lang="en-IN" sz="1000" dirty="0"/>
                        <a:t>Smart Home Automation, Arduino-Based, Android App Control, Device Control Bluetooth,   Communication</a:t>
                      </a:r>
                    </a:p>
                  </a:txBody>
                  <a:tcPr/>
                </a:tc>
                <a:tc>
                  <a:txBody>
                    <a:bodyPr/>
                    <a:lstStyle/>
                    <a:p>
                      <a:r>
                        <a:rPr lang="en-IN" sz="1050" dirty="0"/>
                        <a:t>Dependency on Cell Phone, Compatibility issues, Limited Processing Power, Prototype Limitation, Memory Constraints</a:t>
                      </a:r>
                    </a:p>
                  </a:txBody>
                  <a:tcPr/>
                </a:tc>
                <a:extLst>
                  <a:ext uri="{0D108BD9-81ED-4DB2-BD59-A6C34878D82A}">
                    <a16:rowId xmlns:a16="http://schemas.microsoft.com/office/drawing/2014/main" val="2351076711"/>
                  </a:ext>
                </a:extLst>
              </a:tr>
              <a:tr h="1166966">
                <a:tc>
                  <a:txBody>
                    <a:bodyPr/>
                    <a:lstStyle/>
                    <a:p>
                      <a:r>
                        <a:rPr lang="en-IN" sz="900" b="0" i="0" kern="1200" dirty="0">
                          <a:solidFill>
                            <a:schemeClr val="tx1"/>
                          </a:solidFill>
                          <a:effectLst/>
                          <a:latin typeface="+mn-lt"/>
                          <a:ea typeface="+mn-ea"/>
                          <a:cs typeface="+mn-cs"/>
                        </a:rPr>
                        <a:t>M. S. </a:t>
                      </a:r>
                      <a:r>
                        <a:rPr lang="en-IN" sz="900" b="0" i="0" kern="1200" dirty="0" err="1">
                          <a:solidFill>
                            <a:schemeClr val="tx1"/>
                          </a:solidFill>
                          <a:effectLst/>
                          <a:latin typeface="+mn-lt"/>
                          <a:ea typeface="+mn-ea"/>
                          <a:cs typeface="+mn-cs"/>
                        </a:rPr>
                        <a:t>Mahamud</a:t>
                      </a:r>
                      <a:r>
                        <a:rPr lang="en-IN" sz="900" b="0" i="0" kern="1200" dirty="0">
                          <a:solidFill>
                            <a:schemeClr val="tx1"/>
                          </a:solidFill>
                          <a:effectLst/>
                          <a:latin typeface="+mn-lt"/>
                          <a:ea typeface="+mn-ea"/>
                          <a:cs typeface="+mn-cs"/>
                        </a:rPr>
                        <a:t>, M. S. R. Zishan, S. I. Ahmad, A. R. Rahman, M. Hasan and M. L. Rahman, "Domicile - An IoT Based Smart Home Automation System," </a:t>
                      </a:r>
                      <a:r>
                        <a:rPr lang="en-IN" sz="900" b="0" i="1" kern="1200" dirty="0">
                          <a:solidFill>
                            <a:schemeClr val="tx1"/>
                          </a:solidFill>
                          <a:effectLst/>
                          <a:latin typeface="+mn-lt"/>
                          <a:ea typeface="+mn-ea"/>
                          <a:cs typeface="+mn-cs"/>
                        </a:rPr>
                        <a:t>2019 International Conference on </a:t>
                      </a:r>
                      <a:r>
                        <a:rPr lang="en-IN" sz="900" b="0" i="1" kern="1200" dirty="0" err="1">
                          <a:solidFill>
                            <a:schemeClr val="tx1"/>
                          </a:solidFill>
                          <a:effectLst/>
                          <a:latin typeface="+mn-lt"/>
                          <a:ea typeface="+mn-ea"/>
                          <a:cs typeface="+mn-cs"/>
                        </a:rPr>
                        <a:t>Robotics,Electrical</a:t>
                      </a:r>
                      <a:r>
                        <a:rPr lang="en-IN" sz="900" b="0" i="1" kern="1200" dirty="0">
                          <a:solidFill>
                            <a:schemeClr val="tx1"/>
                          </a:solidFill>
                          <a:effectLst/>
                          <a:latin typeface="+mn-lt"/>
                          <a:ea typeface="+mn-ea"/>
                          <a:cs typeface="+mn-cs"/>
                        </a:rPr>
                        <a:t> and Signal Processing Techniques (ICREST)</a:t>
                      </a:r>
                      <a:r>
                        <a:rPr lang="en-IN" sz="900" b="0" i="0" kern="1200" dirty="0">
                          <a:solidFill>
                            <a:schemeClr val="tx1"/>
                          </a:solidFill>
                          <a:effectLst/>
                          <a:latin typeface="+mn-lt"/>
                          <a:ea typeface="+mn-ea"/>
                          <a:cs typeface="+mn-cs"/>
                        </a:rPr>
                        <a:t>, Dhaka, Bangladesh, 2019, pp. 493-497, </a:t>
                      </a:r>
                      <a:r>
                        <a:rPr lang="en-IN" sz="900" b="0" i="0" kern="1200" dirty="0" err="1">
                          <a:solidFill>
                            <a:schemeClr val="tx1"/>
                          </a:solidFill>
                          <a:effectLst/>
                          <a:latin typeface="+mn-lt"/>
                          <a:ea typeface="+mn-ea"/>
                          <a:cs typeface="+mn-cs"/>
                        </a:rPr>
                        <a:t>doi</a:t>
                      </a:r>
                      <a:r>
                        <a:rPr lang="en-IN" sz="900" b="0" i="0" kern="1200" dirty="0">
                          <a:solidFill>
                            <a:schemeClr val="tx1"/>
                          </a:solidFill>
                          <a:effectLst/>
                          <a:latin typeface="+mn-lt"/>
                          <a:ea typeface="+mn-ea"/>
                          <a:cs typeface="+mn-cs"/>
                        </a:rPr>
                        <a:t>: 10.1109/ICREST.2019.8644349.</a:t>
                      </a:r>
                      <a:endParaRPr lang="en-IN" sz="900" dirty="0"/>
                    </a:p>
                  </a:txBody>
                  <a:tcPr/>
                </a:tc>
                <a:tc>
                  <a:txBody>
                    <a:bodyPr/>
                    <a:lstStyle/>
                    <a:p>
                      <a:r>
                        <a:rPr lang="it-IT" sz="1050" dirty="0"/>
                        <a:t>Arduino UNO-Based System,Wi-Fi Connectivity via ESP32 Module,</a:t>
                      </a:r>
                      <a:r>
                        <a:rPr lang="en-US" sz="1050" dirty="0"/>
                        <a:t> Edge and Fog Computing Architecture,</a:t>
                      </a:r>
                      <a:r>
                        <a:rPr lang="en-IN" sz="1050" dirty="0"/>
                        <a:t> Simulation and Hardware Prototyping</a:t>
                      </a:r>
                    </a:p>
                  </a:txBody>
                  <a:tcPr/>
                </a:tc>
                <a:tc>
                  <a:txBody>
                    <a:bodyPr/>
                    <a:lstStyle/>
                    <a:p>
                      <a:r>
                        <a:rPr lang="en-US" sz="1000" dirty="0"/>
                        <a:t>Limited Processing Power of Arduino UNO, Complex Setup for Edge and Fog Computing,</a:t>
                      </a:r>
                      <a:r>
                        <a:rPr lang="en-IN" sz="1000" dirty="0"/>
                        <a:t> Memory Constraints</a:t>
                      </a:r>
                    </a:p>
                  </a:txBody>
                  <a:tcPr/>
                </a:tc>
                <a:extLst>
                  <a:ext uri="{0D108BD9-81ED-4DB2-BD59-A6C34878D82A}">
                    <a16:rowId xmlns:a16="http://schemas.microsoft.com/office/drawing/2014/main" val="3319410935"/>
                  </a:ext>
                </a:extLst>
              </a:tr>
              <a:tr h="262247">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93253823"/>
                  </a:ext>
                </a:extLst>
              </a:tr>
              <a:tr h="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524085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32AB61-D752-1F0E-4040-7687717E05CA}"/>
              </a:ext>
            </a:extLst>
          </p:cNvPr>
          <p:cNvSpPr>
            <a:spLocks noGrp="1"/>
          </p:cNvSpPr>
          <p:nvPr>
            <p:ph type="sldNum" sz="quarter" idx="12"/>
          </p:nvPr>
        </p:nvSpPr>
        <p:spPr/>
        <p:txBody>
          <a:bodyPr/>
          <a:lstStyle/>
          <a:p>
            <a:fld id="{D57F1E4F-1CFF-5643-939E-217C01CDF565}" type="slidenum">
              <a:rPr lang="en-US" smtClean="0"/>
              <a:pPr/>
              <a:t>6</a:t>
            </a:fld>
            <a:endParaRPr lang="en-US" dirty="0"/>
          </a:p>
        </p:txBody>
      </p:sp>
      <p:graphicFrame>
        <p:nvGraphicFramePr>
          <p:cNvPr id="6" name="Table 5">
            <a:extLst>
              <a:ext uri="{FF2B5EF4-FFF2-40B4-BE49-F238E27FC236}">
                <a16:creationId xmlns:a16="http://schemas.microsoft.com/office/drawing/2014/main" id="{FD638415-3E26-971E-D1FA-F2CCE7EF1739}"/>
              </a:ext>
            </a:extLst>
          </p:cNvPr>
          <p:cNvGraphicFramePr>
            <a:graphicFrameLocks noGrp="1"/>
          </p:cNvGraphicFramePr>
          <p:nvPr>
            <p:extLst>
              <p:ext uri="{D42A27DB-BD31-4B8C-83A1-F6EECF244321}">
                <p14:modId xmlns:p14="http://schemas.microsoft.com/office/powerpoint/2010/main" val="392741945"/>
              </p:ext>
            </p:extLst>
          </p:nvPr>
        </p:nvGraphicFramePr>
        <p:xfrm>
          <a:off x="531541" y="396240"/>
          <a:ext cx="8080917" cy="4747260"/>
        </p:xfrm>
        <a:graphic>
          <a:graphicData uri="http://schemas.openxmlformats.org/drawingml/2006/table">
            <a:tbl>
              <a:tblPr firstRow="1" bandRow="1">
                <a:tableStyleId>{5FD0F851-EC5A-4D38-B0AD-8093EC10F338}</a:tableStyleId>
              </a:tblPr>
              <a:tblGrid>
                <a:gridCol w="2728333">
                  <a:extLst>
                    <a:ext uri="{9D8B030D-6E8A-4147-A177-3AD203B41FA5}">
                      <a16:colId xmlns:a16="http://schemas.microsoft.com/office/drawing/2014/main" val="187323758"/>
                    </a:ext>
                  </a:extLst>
                </a:gridCol>
                <a:gridCol w="2646555">
                  <a:extLst>
                    <a:ext uri="{9D8B030D-6E8A-4147-A177-3AD203B41FA5}">
                      <a16:colId xmlns:a16="http://schemas.microsoft.com/office/drawing/2014/main" val="3655558630"/>
                    </a:ext>
                  </a:extLst>
                </a:gridCol>
                <a:gridCol w="2706029">
                  <a:extLst>
                    <a:ext uri="{9D8B030D-6E8A-4147-A177-3AD203B41FA5}">
                      <a16:colId xmlns:a16="http://schemas.microsoft.com/office/drawing/2014/main" val="3418582853"/>
                    </a:ext>
                  </a:extLst>
                </a:gridCol>
              </a:tblGrid>
              <a:tr h="268920">
                <a:tc>
                  <a:txBody>
                    <a:bodyPr/>
                    <a:lstStyle/>
                    <a:p>
                      <a:r>
                        <a:rPr lang="en-IN" b="1" dirty="0"/>
                        <a:t>Paper</a:t>
                      </a:r>
                    </a:p>
                  </a:txBody>
                  <a:tcPr/>
                </a:tc>
                <a:tc>
                  <a:txBody>
                    <a:bodyPr/>
                    <a:lstStyle/>
                    <a:p>
                      <a:r>
                        <a:rPr lang="en-IN" b="1" dirty="0"/>
                        <a:t>Features and System</a:t>
                      </a:r>
                    </a:p>
                  </a:txBody>
                  <a:tcPr/>
                </a:tc>
                <a:tc>
                  <a:txBody>
                    <a:bodyPr/>
                    <a:lstStyle/>
                    <a:p>
                      <a:r>
                        <a:rPr lang="en-IN" b="1" dirty="0"/>
                        <a:t>Limitations</a:t>
                      </a:r>
                    </a:p>
                  </a:txBody>
                  <a:tcPr/>
                </a:tc>
                <a:extLst>
                  <a:ext uri="{0D108BD9-81ED-4DB2-BD59-A6C34878D82A}">
                    <a16:rowId xmlns:a16="http://schemas.microsoft.com/office/drawing/2014/main" val="3800808138"/>
                  </a:ext>
                </a:extLst>
              </a:tr>
              <a:tr h="910190">
                <a:tc>
                  <a:txBody>
                    <a:bodyPr/>
                    <a:lstStyle/>
                    <a:p>
                      <a:r>
                        <a:rPr lang="en-IN" sz="1000" dirty="0"/>
                        <a:t>Intelligent Scheduling of Smart Home Appliances Based on Demand Response Considering the Cost and Peak-to-Average Ratio in Residential Homes Nedim </a:t>
                      </a:r>
                      <a:r>
                        <a:rPr lang="en-IN" sz="1000" dirty="0" err="1"/>
                        <a:t>Tutkun</a:t>
                      </a:r>
                      <a:r>
                        <a:rPr lang="en-IN" sz="1000" dirty="0"/>
                        <a:t> 1 , Alessandro </a:t>
                      </a:r>
                      <a:r>
                        <a:rPr lang="en-IN" sz="1000" dirty="0" err="1"/>
                        <a:t>Burgio</a:t>
                      </a:r>
                      <a:r>
                        <a:rPr lang="en-IN" sz="1000" dirty="0"/>
                        <a:t> 2 , Michal </a:t>
                      </a:r>
                      <a:r>
                        <a:rPr lang="en-IN" sz="1000" dirty="0" err="1"/>
                        <a:t>Jasinski</a:t>
                      </a:r>
                      <a:r>
                        <a:rPr lang="en-IN" sz="1000" dirty="0"/>
                        <a:t> 3,* , Zbigniew </a:t>
                      </a:r>
                      <a:r>
                        <a:rPr lang="en-IN" sz="1000" dirty="0" err="1"/>
                        <a:t>Leonowicz</a:t>
                      </a:r>
                      <a:r>
                        <a:rPr lang="en-IN" sz="1000" dirty="0"/>
                        <a:t> 3 and </a:t>
                      </a:r>
                      <a:r>
                        <a:rPr lang="en-IN" sz="1000" dirty="0" err="1"/>
                        <a:t>Elzbieta</a:t>
                      </a:r>
                      <a:r>
                        <a:rPr lang="en-IN" sz="1000" dirty="0"/>
                        <a:t> </a:t>
                      </a:r>
                      <a:r>
                        <a:rPr lang="en-IN" sz="1000" dirty="0" err="1"/>
                        <a:t>Jasinska</a:t>
                      </a:r>
                      <a:r>
                        <a:rPr lang="en-IN" sz="1000" dirty="0"/>
                        <a:t> 4</a:t>
                      </a:r>
                    </a:p>
                  </a:txBody>
                  <a:tcPr/>
                </a:tc>
                <a:tc>
                  <a:txBody>
                    <a:bodyPr/>
                    <a:lstStyle/>
                    <a:p>
                      <a:r>
                        <a:rPr lang="en-IN" sz="1100" dirty="0"/>
                        <a:t>Smart Grid Integration, Metaheuristic Techniques, Feasibility for Wide-Range Applications, Repeated Execution</a:t>
                      </a:r>
                    </a:p>
                  </a:txBody>
                  <a:tcPr/>
                </a:tc>
                <a:tc>
                  <a:txBody>
                    <a:bodyPr/>
                    <a:lstStyle/>
                    <a:p>
                      <a:r>
                        <a:rPr lang="en-IN" sz="1050" b="0" dirty="0"/>
                        <a:t>Complexity of Multi-Objective Optimization, Feasibility for Wide-Range Applications, Repeated Execution Requirement</a:t>
                      </a:r>
                    </a:p>
                  </a:txBody>
                  <a:tcPr/>
                </a:tc>
                <a:extLst>
                  <a:ext uri="{0D108BD9-81ED-4DB2-BD59-A6C34878D82A}">
                    <a16:rowId xmlns:a16="http://schemas.microsoft.com/office/drawing/2014/main" val="663824454"/>
                  </a:ext>
                </a:extLst>
              </a:tr>
              <a:tr h="786073">
                <a:tc>
                  <a:txBody>
                    <a:bodyPr/>
                    <a:lstStyle/>
                    <a:p>
                      <a:r>
                        <a:rPr lang="en-US" sz="1050" dirty="0"/>
                        <a:t>Energy Prediction and Optimization for Smart Homes with Weather Metric-Weight Coefficients Asif Mehmood 1 , Kyu-Tae Lee 1,* and Do-</a:t>
                      </a:r>
                      <a:r>
                        <a:rPr lang="en-US" sz="1050" dirty="0" err="1"/>
                        <a:t>Hyeun</a:t>
                      </a:r>
                      <a:r>
                        <a:rPr lang="en-US" sz="1050" dirty="0"/>
                        <a:t> Kim 2</a:t>
                      </a:r>
                      <a:endParaRPr lang="en-IN" sz="1050" dirty="0"/>
                    </a:p>
                    <a:p>
                      <a:endParaRPr lang="en-IN" sz="900" dirty="0"/>
                    </a:p>
                  </a:txBody>
                  <a:tcPr/>
                </a:tc>
                <a:tc>
                  <a:txBody>
                    <a:bodyPr/>
                    <a:lstStyle/>
                    <a:p>
                      <a:r>
                        <a:rPr lang="en-US" sz="1000" dirty="0"/>
                        <a:t>Voice-Controlled Home Automation wheel chair Control via Voice Commands Design Messaging System,</a:t>
                      </a:r>
                    </a:p>
                    <a:p>
                      <a:r>
                        <a:rPr lang="en-US" sz="1000" dirty="0"/>
                        <a:t>Assistive Technology for Independence</a:t>
                      </a:r>
                      <a:endParaRPr lang="en-IN" sz="1000" dirty="0"/>
                    </a:p>
                  </a:txBody>
                  <a:tcPr/>
                </a:tc>
                <a:tc>
                  <a:txBody>
                    <a:bodyPr/>
                    <a:lstStyle/>
                    <a:p>
                      <a:r>
                        <a:rPr lang="en-US" sz="1050" b="0" dirty="0"/>
                        <a:t>Limited Functionality in Power Outages,</a:t>
                      </a:r>
                      <a:r>
                        <a:rPr lang="en-IN" sz="1050" b="0" dirty="0"/>
                        <a:t> Limited Device Compatibility,</a:t>
                      </a:r>
                      <a:r>
                        <a:rPr lang="en-IN" sz="1050" dirty="0"/>
                        <a:t> Initial Setup Complexity</a:t>
                      </a:r>
                      <a:endParaRPr lang="en-IN" sz="1050" b="0" dirty="0"/>
                    </a:p>
                  </a:txBody>
                  <a:tcPr/>
                </a:tc>
                <a:extLst>
                  <a:ext uri="{0D108BD9-81ED-4DB2-BD59-A6C34878D82A}">
                    <a16:rowId xmlns:a16="http://schemas.microsoft.com/office/drawing/2014/main" val="2736940050"/>
                  </a:ext>
                </a:extLst>
              </a:tr>
              <a:tr h="965353">
                <a:tc>
                  <a:txBody>
                    <a:bodyPr/>
                    <a:lstStyle/>
                    <a:p>
                      <a:r>
                        <a:rPr lang="en-IN" sz="900" b="0" kern="1200" dirty="0">
                          <a:solidFill>
                            <a:srgbClr val="000000"/>
                          </a:solidFill>
                          <a:effectLst/>
                        </a:rPr>
                        <a:t>S. Das, S. Ganguly, S. Ghosh, R. Sarker and D. Sengupta, "A </a:t>
                      </a:r>
                      <a:r>
                        <a:rPr lang="en-IN" sz="900" b="0" kern="1200" dirty="0" err="1">
                          <a:solidFill>
                            <a:srgbClr val="000000"/>
                          </a:solidFill>
                          <a:effectLst/>
                        </a:rPr>
                        <a:t>bluetooth</a:t>
                      </a:r>
                      <a:r>
                        <a:rPr lang="en-IN" sz="900" b="0" kern="1200" dirty="0">
                          <a:solidFill>
                            <a:srgbClr val="000000"/>
                          </a:solidFill>
                          <a:effectLst/>
                        </a:rPr>
                        <a:t> based sophisticated home automation system using smartphone," 2016 International Conference on Intelligent Control Power and Instrumentation (ICICPI), 2016, pp. 236-240, </a:t>
                      </a:r>
                      <a:r>
                        <a:rPr lang="en-IN" sz="900" b="0" kern="1200" dirty="0" err="1">
                          <a:solidFill>
                            <a:srgbClr val="000000"/>
                          </a:solidFill>
                          <a:effectLst/>
                        </a:rPr>
                        <a:t>doi</a:t>
                      </a:r>
                      <a:r>
                        <a:rPr lang="en-IN" sz="900" b="0" kern="1200" dirty="0">
                          <a:solidFill>
                            <a:srgbClr val="000000"/>
                          </a:solidFill>
                          <a:effectLst/>
                        </a:rPr>
                        <a:t>: 10.1109/ICICPI.2016.7859709.</a:t>
                      </a:r>
                      <a:br>
                        <a:rPr lang="en-IN" sz="1000" dirty="0"/>
                      </a:br>
                      <a:endParaRPr lang="en-IN" sz="1000" dirty="0"/>
                    </a:p>
                  </a:txBody>
                  <a:tcPr/>
                </a:tc>
                <a:tc>
                  <a:txBody>
                    <a:bodyPr/>
                    <a:lstStyle/>
                    <a:p>
                      <a:r>
                        <a:rPr lang="en-IN" sz="1000" dirty="0"/>
                        <a:t>Hybrid Optimization Approach, Proactive Energy Optimization, Optimized Indoor Setting,</a:t>
                      </a:r>
                    </a:p>
                    <a:p>
                      <a:r>
                        <a:rPr lang="en-US" sz="1000" dirty="0"/>
                        <a:t>Inclusion of Additional Weather Metrics</a:t>
                      </a:r>
                      <a:endParaRPr lang="en-IN" sz="1000" dirty="0"/>
                    </a:p>
                  </a:txBody>
                  <a:tcPr/>
                </a:tc>
                <a:tc>
                  <a:txBody>
                    <a:bodyPr/>
                    <a:lstStyle/>
                    <a:p>
                      <a:r>
                        <a:rPr lang="en-IN" sz="1050" dirty="0"/>
                        <a:t>Complex Optimization Trade-offs, Hybrid Approach Complexity, Seasonal and Monthly Variations, User Adaptability</a:t>
                      </a:r>
                    </a:p>
                  </a:txBody>
                  <a:tcPr/>
                </a:tc>
                <a:extLst>
                  <a:ext uri="{0D108BD9-81ED-4DB2-BD59-A6C34878D82A}">
                    <a16:rowId xmlns:a16="http://schemas.microsoft.com/office/drawing/2014/main" val="2351076711"/>
                  </a:ext>
                </a:extLst>
              </a:tr>
              <a:tr h="827445">
                <a:tc>
                  <a:txBody>
                    <a:bodyPr/>
                    <a:lstStyle/>
                    <a:p>
                      <a:r>
                        <a:rPr lang="en-IN" sz="900" b="0" i="0" kern="1200" dirty="0">
                          <a:solidFill>
                            <a:schemeClr val="tx1"/>
                          </a:solidFill>
                          <a:effectLst/>
                          <a:latin typeface="+mn-lt"/>
                          <a:ea typeface="+mn-ea"/>
                          <a:cs typeface="+mn-cs"/>
                        </a:rPr>
                        <a:t>M. S. </a:t>
                      </a:r>
                      <a:r>
                        <a:rPr lang="en-IN" sz="900" b="0" i="0" kern="1200" dirty="0" err="1">
                          <a:solidFill>
                            <a:schemeClr val="tx1"/>
                          </a:solidFill>
                          <a:effectLst/>
                          <a:latin typeface="+mn-lt"/>
                          <a:ea typeface="+mn-ea"/>
                          <a:cs typeface="+mn-cs"/>
                        </a:rPr>
                        <a:t>Mahamud</a:t>
                      </a:r>
                      <a:r>
                        <a:rPr lang="en-IN" sz="900" b="0" i="0" kern="1200" dirty="0">
                          <a:solidFill>
                            <a:schemeClr val="tx1"/>
                          </a:solidFill>
                          <a:effectLst/>
                          <a:latin typeface="+mn-lt"/>
                          <a:ea typeface="+mn-ea"/>
                          <a:cs typeface="+mn-cs"/>
                        </a:rPr>
                        <a:t>, M. S. R. Zishan, S. I. Ahmad, A. R. Rahman, M. Hasan and M. L. Rahman, "Domicile - An IoT Based Smart Home Automation System," </a:t>
                      </a:r>
                      <a:r>
                        <a:rPr lang="en-IN" sz="900" b="0" i="1" kern="1200" dirty="0">
                          <a:solidFill>
                            <a:schemeClr val="tx1"/>
                          </a:solidFill>
                          <a:effectLst/>
                          <a:latin typeface="+mn-lt"/>
                          <a:ea typeface="+mn-ea"/>
                          <a:cs typeface="+mn-cs"/>
                        </a:rPr>
                        <a:t>2019 International Conference on </a:t>
                      </a:r>
                      <a:r>
                        <a:rPr lang="en-IN" sz="900" b="0" i="1" kern="1200" dirty="0" err="1">
                          <a:solidFill>
                            <a:schemeClr val="tx1"/>
                          </a:solidFill>
                          <a:effectLst/>
                          <a:latin typeface="+mn-lt"/>
                          <a:ea typeface="+mn-ea"/>
                          <a:cs typeface="+mn-cs"/>
                        </a:rPr>
                        <a:t>Robotics,Electrical</a:t>
                      </a:r>
                      <a:r>
                        <a:rPr lang="en-IN" sz="900" b="0" i="1" kern="1200" dirty="0">
                          <a:solidFill>
                            <a:schemeClr val="tx1"/>
                          </a:solidFill>
                          <a:effectLst/>
                          <a:latin typeface="+mn-lt"/>
                          <a:ea typeface="+mn-ea"/>
                          <a:cs typeface="+mn-cs"/>
                        </a:rPr>
                        <a:t> and Signal Processing Techniques (ICREST)</a:t>
                      </a:r>
                      <a:r>
                        <a:rPr lang="en-IN" sz="900" b="0" i="0" kern="1200" dirty="0">
                          <a:solidFill>
                            <a:schemeClr val="tx1"/>
                          </a:solidFill>
                          <a:effectLst/>
                          <a:latin typeface="+mn-lt"/>
                          <a:ea typeface="+mn-ea"/>
                          <a:cs typeface="+mn-cs"/>
                        </a:rPr>
                        <a:t>, Dhaka, Bangladesh, 2019, pp. 493-497, </a:t>
                      </a:r>
                      <a:r>
                        <a:rPr lang="en-IN" sz="900" b="0" i="0" kern="1200" dirty="0" err="1">
                          <a:solidFill>
                            <a:schemeClr val="tx1"/>
                          </a:solidFill>
                          <a:effectLst/>
                          <a:latin typeface="+mn-lt"/>
                          <a:ea typeface="+mn-ea"/>
                          <a:cs typeface="+mn-cs"/>
                        </a:rPr>
                        <a:t>doi</a:t>
                      </a:r>
                      <a:r>
                        <a:rPr lang="en-IN" sz="900" b="0" i="0" kern="1200" dirty="0">
                          <a:solidFill>
                            <a:schemeClr val="tx1"/>
                          </a:solidFill>
                          <a:effectLst/>
                          <a:latin typeface="+mn-lt"/>
                          <a:ea typeface="+mn-ea"/>
                          <a:cs typeface="+mn-cs"/>
                        </a:rPr>
                        <a:t>: 10.1109/ICREST.2019.8644349.</a:t>
                      </a:r>
                      <a:endParaRPr lang="en-IN" sz="900" dirty="0"/>
                    </a:p>
                  </a:txBody>
                  <a:tcPr/>
                </a:tc>
                <a:tc>
                  <a:txBody>
                    <a:bodyPr/>
                    <a:lstStyle/>
                    <a:p>
                      <a:pPr algn="l"/>
                      <a:r>
                        <a:rPr lang="en-US" sz="1050" dirty="0"/>
                        <a:t>Edge and Fog Computing Architecture, </a:t>
                      </a:r>
                      <a:r>
                        <a:rPr lang="it-IT" sz="1050" dirty="0"/>
                        <a:t>Arduino UNO-Based System,Wi-Fi Connectivity via ESP32 Module</a:t>
                      </a:r>
                      <a:r>
                        <a:rPr lang="en-US" sz="1050" dirty="0"/>
                        <a:t>,</a:t>
                      </a:r>
                      <a:r>
                        <a:rPr lang="en-IN" sz="1050" dirty="0"/>
                        <a:t> Simulation and Hardware Prototyping</a:t>
                      </a:r>
                    </a:p>
                  </a:txBody>
                  <a:tcPr/>
                </a:tc>
                <a:tc>
                  <a:txBody>
                    <a:bodyPr/>
                    <a:lstStyle/>
                    <a:p>
                      <a:r>
                        <a:rPr lang="en-US" sz="1000" dirty="0"/>
                        <a:t>Complex Setup for Edge and Fog Computing,</a:t>
                      </a:r>
                      <a:r>
                        <a:rPr lang="en-IN" sz="1000" dirty="0"/>
                        <a:t> Memory Constraints,</a:t>
                      </a:r>
                      <a:r>
                        <a:rPr lang="en-US" sz="1000" dirty="0"/>
                        <a:t> Limited Processing Power of Arduino UNO, </a:t>
                      </a:r>
                      <a:endParaRPr lang="en-IN" sz="1000" dirty="0"/>
                    </a:p>
                  </a:txBody>
                  <a:tcPr/>
                </a:tc>
                <a:extLst>
                  <a:ext uri="{0D108BD9-81ED-4DB2-BD59-A6C34878D82A}">
                    <a16:rowId xmlns:a16="http://schemas.microsoft.com/office/drawing/2014/main" val="3319410935"/>
                  </a:ext>
                </a:extLst>
              </a:tr>
              <a:tr h="26892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93253823"/>
                  </a:ext>
                </a:extLst>
              </a:tr>
              <a:tr h="26892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1524085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67C42C07-1ED3-05BD-E8C7-AD419E7B2671}"/>
                  </a:ext>
                </a:extLst>
              </p14:cNvPr>
              <p14:cNvContentPartPr/>
              <p14:nvPr/>
            </p14:nvContentPartPr>
            <p14:xfrm>
              <a:off x="8043787" y="4594300"/>
              <a:ext cx="360" cy="360"/>
            </p14:xfrm>
          </p:contentPart>
        </mc:Choice>
        <mc:Fallback xmlns="">
          <p:pic>
            <p:nvPicPr>
              <p:cNvPr id="12" name="Ink 11">
                <a:extLst>
                  <a:ext uri="{FF2B5EF4-FFF2-40B4-BE49-F238E27FC236}">
                    <a16:creationId xmlns:a16="http://schemas.microsoft.com/office/drawing/2014/main" id="{67C42C07-1ED3-05BD-E8C7-AD419E7B2671}"/>
                  </a:ext>
                </a:extLst>
              </p:cNvPr>
              <p:cNvPicPr/>
              <p:nvPr/>
            </p:nvPicPr>
            <p:blipFill>
              <a:blip r:embed="rId3"/>
              <a:stretch>
                <a:fillRect/>
              </a:stretch>
            </p:blipFill>
            <p:spPr>
              <a:xfrm>
                <a:off x="8034787" y="45853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38A4D6B2-2725-5F07-2EC2-D13FF4D711F3}"/>
                  </a:ext>
                </a:extLst>
              </p14:cNvPr>
              <p14:cNvContentPartPr/>
              <p14:nvPr/>
            </p14:nvContentPartPr>
            <p14:xfrm>
              <a:off x="8045227" y="4574140"/>
              <a:ext cx="36000" cy="27720"/>
            </p14:xfrm>
          </p:contentPart>
        </mc:Choice>
        <mc:Fallback xmlns="">
          <p:pic>
            <p:nvPicPr>
              <p:cNvPr id="13" name="Ink 12">
                <a:extLst>
                  <a:ext uri="{FF2B5EF4-FFF2-40B4-BE49-F238E27FC236}">
                    <a16:creationId xmlns:a16="http://schemas.microsoft.com/office/drawing/2014/main" id="{38A4D6B2-2725-5F07-2EC2-D13FF4D711F3}"/>
                  </a:ext>
                </a:extLst>
              </p:cNvPr>
              <p:cNvPicPr/>
              <p:nvPr/>
            </p:nvPicPr>
            <p:blipFill>
              <a:blip r:embed="rId5"/>
              <a:stretch>
                <a:fillRect/>
              </a:stretch>
            </p:blipFill>
            <p:spPr>
              <a:xfrm>
                <a:off x="8036227" y="4565500"/>
                <a:ext cx="536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B7ACC6CA-8E5D-D0F1-AB74-55B12FD05B70}"/>
                  </a:ext>
                </a:extLst>
              </p14:cNvPr>
              <p14:cNvContentPartPr/>
              <p14:nvPr/>
            </p14:nvContentPartPr>
            <p14:xfrm>
              <a:off x="8080507" y="4601500"/>
              <a:ext cx="360" cy="360"/>
            </p14:xfrm>
          </p:contentPart>
        </mc:Choice>
        <mc:Fallback xmlns="">
          <p:pic>
            <p:nvPicPr>
              <p:cNvPr id="14" name="Ink 13">
                <a:extLst>
                  <a:ext uri="{FF2B5EF4-FFF2-40B4-BE49-F238E27FC236}">
                    <a16:creationId xmlns:a16="http://schemas.microsoft.com/office/drawing/2014/main" id="{B7ACC6CA-8E5D-D0F1-AB74-55B12FD05B70}"/>
                  </a:ext>
                </a:extLst>
              </p:cNvPr>
              <p:cNvPicPr/>
              <p:nvPr/>
            </p:nvPicPr>
            <p:blipFill>
              <a:blip r:embed="rId3"/>
              <a:stretch>
                <a:fillRect/>
              </a:stretch>
            </p:blipFill>
            <p:spPr>
              <a:xfrm>
                <a:off x="8071867" y="45928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1882BD55-7C62-76A5-3D47-EFE93D9C678D}"/>
                  </a:ext>
                </a:extLst>
              </p14:cNvPr>
              <p14:cNvContentPartPr/>
              <p14:nvPr/>
            </p14:nvContentPartPr>
            <p14:xfrm>
              <a:off x="8058547" y="4616260"/>
              <a:ext cx="360" cy="360"/>
            </p14:xfrm>
          </p:contentPart>
        </mc:Choice>
        <mc:Fallback xmlns="">
          <p:pic>
            <p:nvPicPr>
              <p:cNvPr id="15" name="Ink 14">
                <a:extLst>
                  <a:ext uri="{FF2B5EF4-FFF2-40B4-BE49-F238E27FC236}">
                    <a16:creationId xmlns:a16="http://schemas.microsoft.com/office/drawing/2014/main" id="{1882BD55-7C62-76A5-3D47-EFE93D9C678D}"/>
                  </a:ext>
                </a:extLst>
              </p:cNvPr>
              <p:cNvPicPr/>
              <p:nvPr/>
            </p:nvPicPr>
            <p:blipFill>
              <a:blip r:embed="rId3"/>
              <a:stretch>
                <a:fillRect/>
              </a:stretch>
            </p:blipFill>
            <p:spPr>
              <a:xfrm>
                <a:off x="8049547" y="46076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71237C8D-11D5-AC12-044C-06E26F2652B7}"/>
                  </a:ext>
                </a:extLst>
              </p14:cNvPr>
              <p14:cNvContentPartPr/>
              <p14:nvPr/>
            </p14:nvContentPartPr>
            <p14:xfrm>
              <a:off x="8073307" y="4571620"/>
              <a:ext cx="360" cy="360"/>
            </p14:xfrm>
          </p:contentPart>
        </mc:Choice>
        <mc:Fallback xmlns="">
          <p:pic>
            <p:nvPicPr>
              <p:cNvPr id="16" name="Ink 15">
                <a:extLst>
                  <a:ext uri="{FF2B5EF4-FFF2-40B4-BE49-F238E27FC236}">
                    <a16:creationId xmlns:a16="http://schemas.microsoft.com/office/drawing/2014/main" id="{71237C8D-11D5-AC12-044C-06E26F2652B7}"/>
                  </a:ext>
                </a:extLst>
              </p:cNvPr>
              <p:cNvPicPr/>
              <p:nvPr/>
            </p:nvPicPr>
            <p:blipFill>
              <a:blip r:embed="rId3"/>
              <a:stretch>
                <a:fillRect/>
              </a:stretch>
            </p:blipFill>
            <p:spPr>
              <a:xfrm>
                <a:off x="8064307" y="4562980"/>
                <a:ext cx="18000" cy="18000"/>
              </a:xfrm>
              <a:prstGeom prst="rect">
                <a:avLst/>
              </a:prstGeom>
            </p:spPr>
          </p:pic>
        </mc:Fallback>
      </mc:AlternateContent>
    </p:spTree>
    <p:extLst>
      <p:ext uri="{BB962C8B-B14F-4D97-AF65-F5344CB8AC3E}">
        <p14:creationId xmlns:p14="http://schemas.microsoft.com/office/powerpoint/2010/main" val="3238956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29"/>
        <p:cNvGrpSpPr/>
        <p:nvPr/>
      </p:nvGrpSpPr>
      <p:grpSpPr>
        <a:xfrm>
          <a:off x="0" y="0"/>
          <a:ext cx="0" cy="0"/>
          <a:chOff x="0" y="0"/>
          <a:chExt cx="0" cy="0"/>
        </a:xfrm>
      </p:grpSpPr>
      <p:grpSp>
        <p:nvGrpSpPr>
          <p:cNvPr id="4430" name="Google Shape;4430;p39"/>
          <p:cNvGrpSpPr/>
          <p:nvPr/>
        </p:nvGrpSpPr>
        <p:grpSpPr>
          <a:xfrm>
            <a:off x="5364937" y="332687"/>
            <a:ext cx="597248" cy="572700"/>
            <a:chOff x="4146244" y="1421796"/>
            <a:chExt cx="369874" cy="367095"/>
          </a:xfrm>
        </p:grpSpPr>
        <p:sp>
          <p:nvSpPr>
            <p:cNvPr id="4431" name="Google Shape;4431;p39"/>
            <p:cNvSpPr/>
            <p:nvPr/>
          </p:nvSpPr>
          <p:spPr>
            <a:xfrm>
              <a:off x="4253745" y="1527684"/>
              <a:ext cx="155513" cy="155179"/>
            </a:xfrm>
            <a:custGeom>
              <a:avLst/>
              <a:gdLst/>
              <a:ahLst/>
              <a:cxnLst/>
              <a:rect l="l" t="t" r="r" b="b"/>
              <a:pathLst>
                <a:path w="5597" h="5585" extrusionOk="0">
                  <a:moveTo>
                    <a:pt x="2763" y="1"/>
                  </a:moveTo>
                  <a:cubicBezTo>
                    <a:pt x="2513" y="1"/>
                    <a:pt x="2239" y="36"/>
                    <a:pt x="2001" y="108"/>
                  </a:cubicBezTo>
                  <a:cubicBezTo>
                    <a:pt x="1870" y="155"/>
                    <a:pt x="1787" y="286"/>
                    <a:pt x="1822" y="429"/>
                  </a:cubicBezTo>
                  <a:cubicBezTo>
                    <a:pt x="1861" y="545"/>
                    <a:pt x="1954" y="621"/>
                    <a:pt x="2070" y="621"/>
                  </a:cubicBezTo>
                  <a:cubicBezTo>
                    <a:pt x="2097" y="621"/>
                    <a:pt x="2126" y="617"/>
                    <a:pt x="2156" y="608"/>
                  </a:cubicBezTo>
                  <a:cubicBezTo>
                    <a:pt x="2358" y="548"/>
                    <a:pt x="2572" y="524"/>
                    <a:pt x="2775" y="524"/>
                  </a:cubicBezTo>
                  <a:cubicBezTo>
                    <a:pt x="4049" y="524"/>
                    <a:pt x="5061" y="1548"/>
                    <a:pt x="5061" y="2798"/>
                  </a:cubicBezTo>
                  <a:cubicBezTo>
                    <a:pt x="5061" y="4061"/>
                    <a:pt x="4025" y="5073"/>
                    <a:pt x="2775" y="5073"/>
                  </a:cubicBezTo>
                  <a:cubicBezTo>
                    <a:pt x="1525" y="5073"/>
                    <a:pt x="501" y="4049"/>
                    <a:pt x="501" y="2798"/>
                  </a:cubicBezTo>
                  <a:cubicBezTo>
                    <a:pt x="501" y="2394"/>
                    <a:pt x="608" y="2013"/>
                    <a:pt x="810" y="1655"/>
                  </a:cubicBezTo>
                  <a:cubicBezTo>
                    <a:pt x="894" y="1536"/>
                    <a:pt x="846" y="1370"/>
                    <a:pt x="727" y="1298"/>
                  </a:cubicBezTo>
                  <a:cubicBezTo>
                    <a:pt x="686" y="1274"/>
                    <a:pt x="639" y="1262"/>
                    <a:pt x="592" y="1262"/>
                  </a:cubicBezTo>
                  <a:cubicBezTo>
                    <a:pt x="504" y="1262"/>
                    <a:pt x="416" y="1304"/>
                    <a:pt x="370" y="1382"/>
                  </a:cubicBezTo>
                  <a:cubicBezTo>
                    <a:pt x="120" y="1822"/>
                    <a:pt x="1" y="2298"/>
                    <a:pt x="1" y="2787"/>
                  </a:cubicBezTo>
                  <a:cubicBezTo>
                    <a:pt x="1" y="4334"/>
                    <a:pt x="1251" y="5585"/>
                    <a:pt x="2799" y="5585"/>
                  </a:cubicBezTo>
                  <a:cubicBezTo>
                    <a:pt x="4346" y="5585"/>
                    <a:pt x="5597" y="4334"/>
                    <a:pt x="5597" y="2787"/>
                  </a:cubicBezTo>
                  <a:cubicBezTo>
                    <a:pt x="5573" y="1263"/>
                    <a:pt x="4311" y="1"/>
                    <a:pt x="2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39"/>
            <p:cNvSpPr/>
            <p:nvPr/>
          </p:nvSpPr>
          <p:spPr>
            <a:xfrm>
              <a:off x="4146244" y="1421796"/>
              <a:ext cx="369874" cy="367095"/>
            </a:xfrm>
            <a:custGeom>
              <a:avLst/>
              <a:gdLst/>
              <a:ahLst/>
              <a:cxnLst/>
              <a:rect l="l" t="t" r="r" b="b"/>
              <a:pathLst>
                <a:path w="13312" h="13212" extrusionOk="0">
                  <a:moveTo>
                    <a:pt x="7942" y="490"/>
                  </a:moveTo>
                  <a:cubicBezTo>
                    <a:pt x="8096" y="490"/>
                    <a:pt x="8192" y="609"/>
                    <a:pt x="8192" y="752"/>
                  </a:cubicBezTo>
                  <a:cubicBezTo>
                    <a:pt x="8192" y="883"/>
                    <a:pt x="8073" y="1002"/>
                    <a:pt x="7942" y="1002"/>
                  </a:cubicBezTo>
                  <a:cubicBezTo>
                    <a:pt x="7799" y="1002"/>
                    <a:pt x="7692" y="883"/>
                    <a:pt x="7692" y="752"/>
                  </a:cubicBezTo>
                  <a:cubicBezTo>
                    <a:pt x="7692" y="609"/>
                    <a:pt x="7799" y="490"/>
                    <a:pt x="7942" y="490"/>
                  </a:cubicBezTo>
                  <a:close/>
                  <a:moveTo>
                    <a:pt x="3703" y="1073"/>
                  </a:moveTo>
                  <a:cubicBezTo>
                    <a:pt x="3846" y="1073"/>
                    <a:pt x="3965" y="1192"/>
                    <a:pt x="3965" y="1323"/>
                  </a:cubicBezTo>
                  <a:cubicBezTo>
                    <a:pt x="3965" y="1442"/>
                    <a:pt x="3905" y="1537"/>
                    <a:pt x="3810" y="1585"/>
                  </a:cubicBezTo>
                  <a:cubicBezTo>
                    <a:pt x="3782" y="1594"/>
                    <a:pt x="3754" y="1599"/>
                    <a:pt x="3727" y="1599"/>
                  </a:cubicBezTo>
                  <a:cubicBezTo>
                    <a:pt x="3580" y="1599"/>
                    <a:pt x="3453" y="1474"/>
                    <a:pt x="3453" y="1323"/>
                  </a:cubicBezTo>
                  <a:cubicBezTo>
                    <a:pt x="3453" y="1192"/>
                    <a:pt x="3572" y="1085"/>
                    <a:pt x="3703" y="1073"/>
                  </a:cubicBezTo>
                  <a:close/>
                  <a:moveTo>
                    <a:pt x="10954" y="1716"/>
                  </a:moveTo>
                  <a:cubicBezTo>
                    <a:pt x="11109" y="1716"/>
                    <a:pt x="11252" y="1883"/>
                    <a:pt x="11204" y="2061"/>
                  </a:cubicBezTo>
                  <a:cubicBezTo>
                    <a:pt x="11168" y="2157"/>
                    <a:pt x="11073" y="2240"/>
                    <a:pt x="10954" y="2240"/>
                  </a:cubicBezTo>
                  <a:cubicBezTo>
                    <a:pt x="10847" y="2240"/>
                    <a:pt x="10740" y="2157"/>
                    <a:pt x="10692" y="2061"/>
                  </a:cubicBezTo>
                  <a:cubicBezTo>
                    <a:pt x="10656" y="1883"/>
                    <a:pt x="10775" y="1716"/>
                    <a:pt x="10954" y="1716"/>
                  </a:cubicBezTo>
                  <a:close/>
                  <a:moveTo>
                    <a:pt x="1679" y="3145"/>
                  </a:moveTo>
                  <a:cubicBezTo>
                    <a:pt x="1846" y="3145"/>
                    <a:pt x="1977" y="3311"/>
                    <a:pt x="1929" y="3490"/>
                  </a:cubicBezTo>
                  <a:cubicBezTo>
                    <a:pt x="1905" y="3585"/>
                    <a:pt x="1798" y="3669"/>
                    <a:pt x="1679" y="3669"/>
                  </a:cubicBezTo>
                  <a:cubicBezTo>
                    <a:pt x="1572" y="3669"/>
                    <a:pt x="1465" y="3585"/>
                    <a:pt x="1429" y="3490"/>
                  </a:cubicBezTo>
                  <a:cubicBezTo>
                    <a:pt x="1381" y="3311"/>
                    <a:pt x="1512" y="3145"/>
                    <a:pt x="1679" y="3145"/>
                  </a:cubicBezTo>
                  <a:close/>
                  <a:moveTo>
                    <a:pt x="12514" y="4300"/>
                  </a:moveTo>
                  <a:cubicBezTo>
                    <a:pt x="12656" y="4300"/>
                    <a:pt x="12764" y="4419"/>
                    <a:pt x="12764" y="4562"/>
                  </a:cubicBezTo>
                  <a:cubicBezTo>
                    <a:pt x="12764" y="4704"/>
                    <a:pt x="12645" y="4812"/>
                    <a:pt x="12514" y="4812"/>
                  </a:cubicBezTo>
                  <a:cubicBezTo>
                    <a:pt x="12383" y="4812"/>
                    <a:pt x="12264" y="4693"/>
                    <a:pt x="12264" y="4562"/>
                  </a:cubicBezTo>
                  <a:cubicBezTo>
                    <a:pt x="12240" y="4419"/>
                    <a:pt x="12359" y="4300"/>
                    <a:pt x="12514" y="4300"/>
                  </a:cubicBezTo>
                  <a:close/>
                  <a:moveTo>
                    <a:pt x="11990" y="8334"/>
                  </a:moveTo>
                  <a:cubicBezTo>
                    <a:pt x="12137" y="8334"/>
                    <a:pt x="12264" y="8459"/>
                    <a:pt x="12264" y="8610"/>
                  </a:cubicBezTo>
                  <a:cubicBezTo>
                    <a:pt x="12264" y="8741"/>
                    <a:pt x="12145" y="8848"/>
                    <a:pt x="12002" y="8860"/>
                  </a:cubicBezTo>
                  <a:cubicBezTo>
                    <a:pt x="11859" y="8860"/>
                    <a:pt x="11740" y="8741"/>
                    <a:pt x="11740" y="8610"/>
                  </a:cubicBezTo>
                  <a:cubicBezTo>
                    <a:pt x="11740" y="8491"/>
                    <a:pt x="11799" y="8384"/>
                    <a:pt x="11906" y="8348"/>
                  </a:cubicBezTo>
                  <a:cubicBezTo>
                    <a:pt x="11934" y="8338"/>
                    <a:pt x="11963" y="8334"/>
                    <a:pt x="11990" y="8334"/>
                  </a:cubicBezTo>
                  <a:close/>
                  <a:moveTo>
                    <a:pt x="9192" y="3514"/>
                  </a:moveTo>
                  <a:cubicBezTo>
                    <a:pt x="9501" y="3514"/>
                    <a:pt x="9763" y="3764"/>
                    <a:pt x="9763" y="4085"/>
                  </a:cubicBezTo>
                  <a:lnTo>
                    <a:pt x="9763" y="9169"/>
                  </a:lnTo>
                  <a:cubicBezTo>
                    <a:pt x="9763" y="9479"/>
                    <a:pt x="9501" y="9741"/>
                    <a:pt x="9192" y="9741"/>
                  </a:cubicBezTo>
                  <a:lnTo>
                    <a:pt x="4108" y="9741"/>
                  </a:lnTo>
                  <a:cubicBezTo>
                    <a:pt x="3786" y="9741"/>
                    <a:pt x="3536" y="9479"/>
                    <a:pt x="3536" y="9169"/>
                  </a:cubicBezTo>
                  <a:lnTo>
                    <a:pt x="3536" y="4085"/>
                  </a:lnTo>
                  <a:cubicBezTo>
                    <a:pt x="3536" y="3764"/>
                    <a:pt x="3786" y="3514"/>
                    <a:pt x="4108" y="3514"/>
                  </a:cubicBezTo>
                  <a:close/>
                  <a:moveTo>
                    <a:pt x="774" y="9467"/>
                  </a:moveTo>
                  <a:cubicBezTo>
                    <a:pt x="869" y="9467"/>
                    <a:pt x="976" y="9538"/>
                    <a:pt x="1024" y="9646"/>
                  </a:cubicBezTo>
                  <a:cubicBezTo>
                    <a:pt x="1084" y="9824"/>
                    <a:pt x="953" y="9991"/>
                    <a:pt x="774" y="9991"/>
                  </a:cubicBezTo>
                  <a:cubicBezTo>
                    <a:pt x="607" y="9991"/>
                    <a:pt x="476" y="9824"/>
                    <a:pt x="512" y="9646"/>
                  </a:cubicBezTo>
                  <a:cubicBezTo>
                    <a:pt x="548" y="9538"/>
                    <a:pt x="643" y="9467"/>
                    <a:pt x="774" y="9467"/>
                  </a:cubicBezTo>
                  <a:close/>
                  <a:moveTo>
                    <a:pt x="2584" y="11289"/>
                  </a:moveTo>
                  <a:cubicBezTo>
                    <a:pt x="2739" y="11289"/>
                    <a:pt x="2834" y="11408"/>
                    <a:pt x="2834" y="11539"/>
                  </a:cubicBezTo>
                  <a:cubicBezTo>
                    <a:pt x="2858" y="11682"/>
                    <a:pt x="2739" y="11789"/>
                    <a:pt x="2584" y="11789"/>
                  </a:cubicBezTo>
                  <a:cubicBezTo>
                    <a:pt x="2441" y="11789"/>
                    <a:pt x="2334" y="11670"/>
                    <a:pt x="2334" y="11539"/>
                  </a:cubicBezTo>
                  <a:cubicBezTo>
                    <a:pt x="2334" y="11384"/>
                    <a:pt x="2453" y="11289"/>
                    <a:pt x="2584" y="11289"/>
                  </a:cubicBezTo>
                  <a:close/>
                  <a:moveTo>
                    <a:pt x="5334" y="12217"/>
                  </a:moveTo>
                  <a:cubicBezTo>
                    <a:pt x="5441" y="12217"/>
                    <a:pt x="5548" y="12301"/>
                    <a:pt x="5596" y="12396"/>
                  </a:cubicBezTo>
                  <a:cubicBezTo>
                    <a:pt x="5656" y="12575"/>
                    <a:pt x="5513" y="12741"/>
                    <a:pt x="5334" y="12741"/>
                  </a:cubicBezTo>
                  <a:cubicBezTo>
                    <a:pt x="5179" y="12741"/>
                    <a:pt x="5036" y="12575"/>
                    <a:pt x="5084" y="12396"/>
                  </a:cubicBezTo>
                  <a:cubicBezTo>
                    <a:pt x="5120" y="12301"/>
                    <a:pt x="5215" y="12217"/>
                    <a:pt x="5334" y="12217"/>
                  </a:cubicBezTo>
                  <a:close/>
                  <a:moveTo>
                    <a:pt x="7945" y="0"/>
                  </a:moveTo>
                  <a:cubicBezTo>
                    <a:pt x="7512" y="0"/>
                    <a:pt x="7156" y="338"/>
                    <a:pt x="7156" y="775"/>
                  </a:cubicBezTo>
                  <a:cubicBezTo>
                    <a:pt x="7156" y="1121"/>
                    <a:pt x="7382" y="1395"/>
                    <a:pt x="7680" y="1502"/>
                  </a:cubicBezTo>
                  <a:lnTo>
                    <a:pt x="7680" y="1954"/>
                  </a:lnTo>
                  <a:lnTo>
                    <a:pt x="6632" y="1954"/>
                  </a:lnTo>
                  <a:cubicBezTo>
                    <a:pt x="6489" y="1954"/>
                    <a:pt x="6382" y="2073"/>
                    <a:pt x="6382" y="2204"/>
                  </a:cubicBezTo>
                  <a:lnTo>
                    <a:pt x="6382" y="2978"/>
                  </a:lnTo>
                  <a:lnTo>
                    <a:pt x="5298" y="2978"/>
                  </a:lnTo>
                  <a:lnTo>
                    <a:pt x="5298" y="1311"/>
                  </a:lnTo>
                  <a:cubicBezTo>
                    <a:pt x="5298" y="1156"/>
                    <a:pt x="5179" y="1061"/>
                    <a:pt x="5036" y="1061"/>
                  </a:cubicBezTo>
                  <a:lnTo>
                    <a:pt x="4465" y="1061"/>
                  </a:lnTo>
                  <a:cubicBezTo>
                    <a:pt x="4351" y="766"/>
                    <a:pt x="4054" y="536"/>
                    <a:pt x="3717" y="536"/>
                  </a:cubicBezTo>
                  <a:cubicBezTo>
                    <a:pt x="3700" y="536"/>
                    <a:pt x="3684" y="536"/>
                    <a:pt x="3667" y="537"/>
                  </a:cubicBezTo>
                  <a:cubicBezTo>
                    <a:pt x="3286" y="561"/>
                    <a:pt x="2977" y="883"/>
                    <a:pt x="2953" y="1264"/>
                  </a:cubicBezTo>
                  <a:cubicBezTo>
                    <a:pt x="2929" y="1716"/>
                    <a:pt x="3286" y="2097"/>
                    <a:pt x="3727" y="2097"/>
                  </a:cubicBezTo>
                  <a:cubicBezTo>
                    <a:pt x="4072" y="2097"/>
                    <a:pt x="4358" y="1883"/>
                    <a:pt x="4465" y="1585"/>
                  </a:cubicBezTo>
                  <a:lnTo>
                    <a:pt x="4786" y="1585"/>
                  </a:lnTo>
                  <a:lnTo>
                    <a:pt x="4786" y="2978"/>
                  </a:lnTo>
                  <a:lnTo>
                    <a:pt x="4120" y="2978"/>
                  </a:lnTo>
                  <a:cubicBezTo>
                    <a:pt x="3524" y="2978"/>
                    <a:pt x="3036" y="3466"/>
                    <a:pt x="3036" y="4062"/>
                  </a:cubicBezTo>
                  <a:lnTo>
                    <a:pt x="3036" y="6300"/>
                  </a:lnTo>
                  <a:lnTo>
                    <a:pt x="1977" y="6300"/>
                  </a:lnTo>
                  <a:lnTo>
                    <a:pt x="1977" y="4145"/>
                  </a:lnTo>
                  <a:cubicBezTo>
                    <a:pt x="2286" y="4026"/>
                    <a:pt x="2524" y="3704"/>
                    <a:pt x="2500" y="3347"/>
                  </a:cubicBezTo>
                  <a:cubicBezTo>
                    <a:pt x="2465" y="2966"/>
                    <a:pt x="2155" y="2657"/>
                    <a:pt x="1762" y="2633"/>
                  </a:cubicBezTo>
                  <a:cubicBezTo>
                    <a:pt x="1748" y="2632"/>
                    <a:pt x="1734" y="2632"/>
                    <a:pt x="1721" y="2632"/>
                  </a:cubicBezTo>
                  <a:cubicBezTo>
                    <a:pt x="1297" y="2632"/>
                    <a:pt x="929" y="2980"/>
                    <a:pt x="929" y="3407"/>
                  </a:cubicBezTo>
                  <a:cubicBezTo>
                    <a:pt x="929" y="3752"/>
                    <a:pt x="1155" y="4038"/>
                    <a:pt x="1453" y="4133"/>
                  </a:cubicBezTo>
                  <a:lnTo>
                    <a:pt x="1453" y="6550"/>
                  </a:lnTo>
                  <a:cubicBezTo>
                    <a:pt x="1453" y="6693"/>
                    <a:pt x="1572" y="6800"/>
                    <a:pt x="1703" y="6800"/>
                  </a:cubicBezTo>
                  <a:lnTo>
                    <a:pt x="3036" y="6800"/>
                  </a:lnTo>
                  <a:lnTo>
                    <a:pt x="3036" y="7371"/>
                  </a:lnTo>
                  <a:lnTo>
                    <a:pt x="798" y="7371"/>
                  </a:lnTo>
                  <a:cubicBezTo>
                    <a:pt x="655" y="7371"/>
                    <a:pt x="548" y="7491"/>
                    <a:pt x="548" y="7622"/>
                  </a:cubicBezTo>
                  <a:lnTo>
                    <a:pt x="548" y="8943"/>
                  </a:lnTo>
                  <a:cubicBezTo>
                    <a:pt x="238" y="9062"/>
                    <a:pt x="0" y="9372"/>
                    <a:pt x="24" y="9729"/>
                  </a:cubicBezTo>
                  <a:cubicBezTo>
                    <a:pt x="60" y="10122"/>
                    <a:pt x="369" y="10431"/>
                    <a:pt x="750" y="10443"/>
                  </a:cubicBezTo>
                  <a:cubicBezTo>
                    <a:pt x="771" y="10445"/>
                    <a:pt x="792" y="10446"/>
                    <a:pt x="813" y="10446"/>
                  </a:cubicBezTo>
                  <a:cubicBezTo>
                    <a:pt x="1237" y="10446"/>
                    <a:pt x="1584" y="10101"/>
                    <a:pt x="1584" y="9681"/>
                  </a:cubicBezTo>
                  <a:cubicBezTo>
                    <a:pt x="1584" y="9336"/>
                    <a:pt x="1369" y="9050"/>
                    <a:pt x="1072" y="8943"/>
                  </a:cubicBezTo>
                  <a:lnTo>
                    <a:pt x="1072" y="7872"/>
                  </a:lnTo>
                  <a:lnTo>
                    <a:pt x="3048" y="7872"/>
                  </a:lnTo>
                  <a:lnTo>
                    <a:pt x="3048" y="8645"/>
                  </a:lnTo>
                  <a:lnTo>
                    <a:pt x="2631" y="8645"/>
                  </a:lnTo>
                  <a:cubicBezTo>
                    <a:pt x="2477" y="8645"/>
                    <a:pt x="2381" y="8765"/>
                    <a:pt x="2381" y="8895"/>
                  </a:cubicBezTo>
                  <a:lnTo>
                    <a:pt x="2381" y="10741"/>
                  </a:lnTo>
                  <a:cubicBezTo>
                    <a:pt x="2048" y="10872"/>
                    <a:pt x="1822" y="11193"/>
                    <a:pt x="1858" y="11562"/>
                  </a:cubicBezTo>
                  <a:cubicBezTo>
                    <a:pt x="1905" y="11920"/>
                    <a:pt x="2179" y="12205"/>
                    <a:pt x="2536" y="12229"/>
                  </a:cubicBezTo>
                  <a:cubicBezTo>
                    <a:pt x="2570" y="12233"/>
                    <a:pt x="2604" y="12236"/>
                    <a:pt x="2637" y="12236"/>
                  </a:cubicBezTo>
                  <a:cubicBezTo>
                    <a:pt x="3068" y="12236"/>
                    <a:pt x="3417" y="11887"/>
                    <a:pt x="3417" y="11467"/>
                  </a:cubicBezTo>
                  <a:cubicBezTo>
                    <a:pt x="3417" y="11122"/>
                    <a:pt x="3191" y="10836"/>
                    <a:pt x="2893" y="10729"/>
                  </a:cubicBezTo>
                  <a:lnTo>
                    <a:pt x="2893" y="9157"/>
                  </a:lnTo>
                  <a:lnTo>
                    <a:pt x="3048" y="9157"/>
                  </a:lnTo>
                  <a:cubicBezTo>
                    <a:pt x="3072" y="9741"/>
                    <a:pt x="3548" y="10193"/>
                    <a:pt x="4132" y="10193"/>
                  </a:cubicBezTo>
                  <a:lnTo>
                    <a:pt x="6406" y="10193"/>
                  </a:lnTo>
                  <a:lnTo>
                    <a:pt x="6406" y="10717"/>
                  </a:lnTo>
                  <a:lnTo>
                    <a:pt x="5370" y="10717"/>
                  </a:lnTo>
                  <a:cubicBezTo>
                    <a:pt x="5215" y="10717"/>
                    <a:pt x="5120" y="10836"/>
                    <a:pt x="5120" y="10967"/>
                  </a:cubicBezTo>
                  <a:lnTo>
                    <a:pt x="5120" y="11682"/>
                  </a:lnTo>
                  <a:cubicBezTo>
                    <a:pt x="4786" y="11801"/>
                    <a:pt x="4560" y="12134"/>
                    <a:pt x="4596" y="12515"/>
                  </a:cubicBezTo>
                  <a:cubicBezTo>
                    <a:pt x="4644" y="12872"/>
                    <a:pt x="4917" y="13158"/>
                    <a:pt x="5275" y="13206"/>
                  </a:cubicBezTo>
                  <a:cubicBezTo>
                    <a:pt x="5309" y="13210"/>
                    <a:pt x="5342" y="13212"/>
                    <a:pt x="5375" y="13212"/>
                  </a:cubicBezTo>
                  <a:cubicBezTo>
                    <a:pt x="5805" y="13212"/>
                    <a:pt x="6144" y="12863"/>
                    <a:pt x="6144" y="12432"/>
                  </a:cubicBezTo>
                  <a:cubicBezTo>
                    <a:pt x="6144" y="12086"/>
                    <a:pt x="5918" y="11801"/>
                    <a:pt x="5620" y="11705"/>
                  </a:cubicBezTo>
                  <a:lnTo>
                    <a:pt x="5620" y="11253"/>
                  </a:lnTo>
                  <a:lnTo>
                    <a:pt x="6668" y="11253"/>
                  </a:lnTo>
                  <a:cubicBezTo>
                    <a:pt x="6811" y="11253"/>
                    <a:pt x="6918" y="11134"/>
                    <a:pt x="6918" y="11003"/>
                  </a:cubicBezTo>
                  <a:lnTo>
                    <a:pt x="6918" y="10229"/>
                  </a:lnTo>
                  <a:lnTo>
                    <a:pt x="8275" y="10229"/>
                  </a:lnTo>
                  <a:lnTo>
                    <a:pt x="8275" y="10872"/>
                  </a:lnTo>
                  <a:cubicBezTo>
                    <a:pt x="8275" y="11003"/>
                    <a:pt x="8358" y="11122"/>
                    <a:pt x="8489" y="11134"/>
                  </a:cubicBezTo>
                  <a:cubicBezTo>
                    <a:pt x="8507" y="11138"/>
                    <a:pt x="8524" y="11139"/>
                    <a:pt x="8541" y="11139"/>
                  </a:cubicBezTo>
                  <a:cubicBezTo>
                    <a:pt x="8682" y="11139"/>
                    <a:pt x="8787" y="11012"/>
                    <a:pt x="8787" y="10884"/>
                  </a:cubicBezTo>
                  <a:lnTo>
                    <a:pt x="8787" y="10229"/>
                  </a:lnTo>
                  <a:lnTo>
                    <a:pt x="9204" y="10229"/>
                  </a:lnTo>
                  <a:cubicBezTo>
                    <a:pt x="9799" y="10229"/>
                    <a:pt x="10299" y="9741"/>
                    <a:pt x="10299" y="9146"/>
                  </a:cubicBezTo>
                  <a:lnTo>
                    <a:pt x="10299" y="8824"/>
                  </a:lnTo>
                  <a:lnTo>
                    <a:pt x="11275" y="8824"/>
                  </a:lnTo>
                  <a:cubicBezTo>
                    <a:pt x="11386" y="9124"/>
                    <a:pt x="11663" y="9351"/>
                    <a:pt x="11990" y="9351"/>
                  </a:cubicBezTo>
                  <a:cubicBezTo>
                    <a:pt x="12014" y="9351"/>
                    <a:pt x="12037" y="9350"/>
                    <a:pt x="12061" y="9348"/>
                  </a:cubicBezTo>
                  <a:cubicBezTo>
                    <a:pt x="12454" y="9324"/>
                    <a:pt x="12764" y="9003"/>
                    <a:pt x="12776" y="8622"/>
                  </a:cubicBezTo>
                  <a:cubicBezTo>
                    <a:pt x="12811" y="8169"/>
                    <a:pt x="12454" y="7788"/>
                    <a:pt x="12002" y="7788"/>
                  </a:cubicBezTo>
                  <a:cubicBezTo>
                    <a:pt x="11656" y="7788"/>
                    <a:pt x="11383" y="8014"/>
                    <a:pt x="11275" y="8312"/>
                  </a:cubicBezTo>
                  <a:lnTo>
                    <a:pt x="10287" y="8312"/>
                  </a:lnTo>
                  <a:lnTo>
                    <a:pt x="10287" y="6848"/>
                  </a:lnTo>
                  <a:lnTo>
                    <a:pt x="12514" y="6848"/>
                  </a:lnTo>
                  <a:lnTo>
                    <a:pt x="12514" y="6883"/>
                  </a:lnTo>
                  <a:cubicBezTo>
                    <a:pt x="12656" y="6883"/>
                    <a:pt x="12764" y="6764"/>
                    <a:pt x="12764" y="6621"/>
                  </a:cubicBezTo>
                  <a:lnTo>
                    <a:pt x="12764" y="5300"/>
                  </a:lnTo>
                  <a:cubicBezTo>
                    <a:pt x="13073" y="5181"/>
                    <a:pt x="13311" y="4871"/>
                    <a:pt x="13288" y="4514"/>
                  </a:cubicBezTo>
                  <a:cubicBezTo>
                    <a:pt x="13252" y="4121"/>
                    <a:pt x="12942" y="3823"/>
                    <a:pt x="12561" y="3800"/>
                  </a:cubicBezTo>
                  <a:cubicBezTo>
                    <a:pt x="12540" y="3798"/>
                    <a:pt x="12520" y="3797"/>
                    <a:pt x="12499" y="3797"/>
                  </a:cubicBezTo>
                  <a:cubicBezTo>
                    <a:pt x="12074" y="3797"/>
                    <a:pt x="11728" y="4142"/>
                    <a:pt x="11728" y="4574"/>
                  </a:cubicBezTo>
                  <a:cubicBezTo>
                    <a:pt x="11728" y="4919"/>
                    <a:pt x="11942" y="5193"/>
                    <a:pt x="12240" y="5300"/>
                  </a:cubicBezTo>
                  <a:lnTo>
                    <a:pt x="12240" y="6371"/>
                  </a:lnTo>
                  <a:lnTo>
                    <a:pt x="10263" y="6371"/>
                  </a:lnTo>
                  <a:lnTo>
                    <a:pt x="10263" y="4169"/>
                  </a:lnTo>
                  <a:lnTo>
                    <a:pt x="10930" y="4169"/>
                  </a:lnTo>
                  <a:cubicBezTo>
                    <a:pt x="11085" y="4169"/>
                    <a:pt x="11192" y="4050"/>
                    <a:pt x="11192" y="3919"/>
                  </a:cubicBezTo>
                  <a:lnTo>
                    <a:pt x="11192" y="2704"/>
                  </a:lnTo>
                  <a:cubicBezTo>
                    <a:pt x="11513" y="2585"/>
                    <a:pt x="11752" y="2252"/>
                    <a:pt x="11692" y="1859"/>
                  </a:cubicBezTo>
                  <a:cubicBezTo>
                    <a:pt x="11644" y="1502"/>
                    <a:pt x="11371" y="1216"/>
                    <a:pt x="11013" y="1180"/>
                  </a:cubicBezTo>
                  <a:cubicBezTo>
                    <a:pt x="10980" y="1176"/>
                    <a:pt x="10948" y="1174"/>
                    <a:pt x="10915" y="1174"/>
                  </a:cubicBezTo>
                  <a:cubicBezTo>
                    <a:pt x="10484" y="1174"/>
                    <a:pt x="10144" y="1534"/>
                    <a:pt x="10144" y="1966"/>
                  </a:cubicBezTo>
                  <a:cubicBezTo>
                    <a:pt x="10144" y="2311"/>
                    <a:pt x="10370" y="2609"/>
                    <a:pt x="10668" y="2716"/>
                  </a:cubicBezTo>
                  <a:lnTo>
                    <a:pt x="10668" y="3645"/>
                  </a:lnTo>
                  <a:lnTo>
                    <a:pt x="10180" y="3645"/>
                  </a:lnTo>
                  <a:cubicBezTo>
                    <a:pt x="10001" y="3264"/>
                    <a:pt x="9620" y="2990"/>
                    <a:pt x="9180" y="2990"/>
                  </a:cubicBezTo>
                  <a:lnTo>
                    <a:pt x="6906" y="2990"/>
                  </a:lnTo>
                  <a:lnTo>
                    <a:pt x="6906" y="2478"/>
                  </a:lnTo>
                  <a:lnTo>
                    <a:pt x="7942" y="2478"/>
                  </a:lnTo>
                  <a:cubicBezTo>
                    <a:pt x="8096" y="2478"/>
                    <a:pt x="8192" y="2359"/>
                    <a:pt x="8192" y="2216"/>
                  </a:cubicBezTo>
                  <a:lnTo>
                    <a:pt x="8192" y="1502"/>
                  </a:lnTo>
                  <a:cubicBezTo>
                    <a:pt x="8513" y="1383"/>
                    <a:pt x="8751" y="1073"/>
                    <a:pt x="8716" y="716"/>
                  </a:cubicBezTo>
                  <a:cubicBezTo>
                    <a:pt x="8692" y="335"/>
                    <a:pt x="8370" y="13"/>
                    <a:pt x="7989" y="2"/>
                  </a:cubicBezTo>
                  <a:cubicBezTo>
                    <a:pt x="7974" y="1"/>
                    <a:pt x="7960" y="0"/>
                    <a:pt x="79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39"/>
            <p:cNvSpPr/>
            <p:nvPr/>
          </p:nvSpPr>
          <p:spPr>
            <a:xfrm>
              <a:off x="4424456" y="1717900"/>
              <a:ext cx="51958" cy="64600"/>
            </a:xfrm>
            <a:custGeom>
              <a:avLst/>
              <a:gdLst/>
              <a:ahLst/>
              <a:cxnLst/>
              <a:rect l="l" t="t" r="r" b="b"/>
              <a:pathLst>
                <a:path w="1870" h="2325" extrusionOk="0">
                  <a:moveTo>
                    <a:pt x="1084" y="1275"/>
                  </a:moveTo>
                  <a:cubicBezTo>
                    <a:pt x="1191" y="1275"/>
                    <a:pt x="1286" y="1358"/>
                    <a:pt x="1334" y="1453"/>
                  </a:cubicBezTo>
                  <a:cubicBezTo>
                    <a:pt x="1393" y="1644"/>
                    <a:pt x="1262" y="1798"/>
                    <a:pt x="1096" y="1798"/>
                  </a:cubicBezTo>
                  <a:cubicBezTo>
                    <a:pt x="941" y="1798"/>
                    <a:pt x="798" y="1632"/>
                    <a:pt x="846" y="1453"/>
                  </a:cubicBezTo>
                  <a:cubicBezTo>
                    <a:pt x="881" y="1358"/>
                    <a:pt x="977" y="1275"/>
                    <a:pt x="1084" y="1275"/>
                  </a:cubicBezTo>
                  <a:close/>
                  <a:moveTo>
                    <a:pt x="298" y="1"/>
                  </a:moveTo>
                  <a:cubicBezTo>
                    <a:pt x="167" y="1"/>
                    <a:pt x="48" y="96"/>
                    <a:pt x="24" y="227"/>
                  </a:cubicBezTo>
                  <a:cubicBezTo>
                    <a:pt x="0" y="394"/>
                    <a:pt x="131" y="524"/>
                    <a:pt x="286" y="524"/>
                  </a:cubicBezTo>
                  <a:lnTo>
                    <a:pt x="834" y="524"/>
                  </a:lnTo>
                  <a:lnTo>
                    <a:pt x="834" y="822"/>
                  </a:lnTo>
                  <a:cubicBezTo>
                    <a:pt x="524" y="941"/>
                    <a:pt x="286" y="1251"/>
                    <a:pt x="310" y="1608"/>
                  </a:cubicBezTo>
                  <a:cubicBezTo>
                    <a:pt x="346" y="2001"/>
                    <a:pt x="655" y="2310"/>
                    <a:pt x="1036" y="2322"/>
                  </a:cubicBezTo>
                  <a:cubicBezTo>
                    <a:pt x="1057" y="2324"/>
                    <a:pt x="1078" y="2325"/>
                    <a:pt x="1098" y="2325"/>
                  </a:cubicBezTo>
                  <a:cubicBezTo>
                    <a:pt x="1523" y="2325"/>
                    <a:pt x="1870" y="1980"/>
                    <a:pt x="1870" y="1548"/>
                  </a:cubicBezTo>
                  <a:cubicBezTo>
                    <a:pt x="1870" y="1191"/>
                    <a:pt x="1667" y="905"/>
                    <a:pt x="1358" y="810"/>
                  </a:cubicBezTo>
                  <a:lnTo>
                    <a:pt x="1358" y="251"/>
                  </a:lnTo>
                  <a:cubicBezTo>
                    <a:pt x="1358" y="108"/>
                    <a:pt x="1239"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39"/>
            <p:cNvSpPr/>
            <p:nvPr/>
          </p:nvSpPr>
          <p:spPr>
            <a:xfrm>
              <a:off x="4403283" y="1717567"/>
              <a:ext cx="16893" cy="14587"/>
            </a:xfrm>
            <a:custGeom>
              <a:avLst/>
              <a:gdLst/>
              <a:ahLst/>
              <a:cxnLst/>
              <a:rect l="l" t="t" r="r" b="b"/>
              <a:pathLst>
                <a:path w="608" h="525" extrusionOk="0">
                  <a:moveTo>
                    <a:pt x="310" y="1"/>
                  </a:moveTo>
                  <a:cubicBezTo>
                    <a:pt x="191" y="1"/>
                    <a:pt x="96" y="72"/>
                    <a:pt x="60" y="179"/>
                  </a:cubicBezTo>
                  <a:cubicBezTo>
                    <a:pt x="0" y="358"/>
                    <a:pt x="131" y="525"/>
                    <a:pt x="310" y="525"/>
                  </a:cubicBezTo>
                  <a:cubicBezTo>
                    <a:pt x="429" y="525"/>
                    <a:pt x="524" y="441"/>
                    <a:pt x="572" y="346"/>
                  </a:cubicBezTo>
                  <a:cubicBezTo>
                    <a:pt x="608" y="167"/>
                    <a:pt x="477" y="1"/>
                    <a:pt x="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39"/>
            <p:cNvSpPr/>
            <p:nvPr/>
          </p:nvSpPr>
          <p:spPr>
            <a:xfrm>
              <a:off x="4274583" y="1546578"/>
              <a:ext cx="15921" cy="14559"/>
            </a:xfrm>
            <a:custGeom>
              <a:avLst/>
              <a:gdLst/>
              <a:ahLst/>
              <a:cxnLst/>
              <a:rect l="l" t="t" r="r" b="b"/>
              <a:pathLst>
                <a:path w="573" h="524" extrusionOk="0">
                  <a:moveTo>
                    <a:pt x="291" y="1"/>
                  </a:moveTo>
                  <a:cubicBezTo>
                    <a:pt x="226" y="1"/>
                    <a:pt x="160" y="24"/>
                    <a:pt x="108" y="71"/>
                  </a:cubicBezTo>
                  <a:cubicBezTo>
                    <a:pt x="1" y="166"/>
                    <a:pt x="1" y="333"/>
                    <a:pt x="96" y="440"/>
                  </a:cubicBezTo>
                  <a:cubicBezTo>
                    <a:pt x="156" y="499"/>
                    <a:pt x="215" y="523"/>
                    <a:pt x="287" y="523"/>
                  </a:cubicBezTo>
                  <a:cubicBezTo>
                    <a:pt x="346" y="523"/>
                    <a:pt x="406" y="499"/>
                    <a:pt x="465" y="452"/>
                  </a:cubicBezTo>
                  <a:cubicBezTo>
                    <a:pt x="572" y="344"/>
                    <a:pt x="572" y="190"/>
                    <a:pt x="477" y="83"/>
                  </a:cubicBezTo>
                  <a:cubicBezTo>
                    <a:pt x="428" y="27"/>
                    <a:pt x="360" y="1"/>
                    <a:pt x="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39"/>
            <p:cNvSpPr/>
            <p:nvPr/>
          </p:nvSpPr>
          <p:spPr>
            <a:xfrm>
              <a:off x="4308676" y="1555386"/>
              <a:ext cx="47985" cy="101082"/>
            </a:xfrm>
            <a:custGeom>
              <a:avLst/>
              <a:gdLst/>
              <a:ahLst/>
              <a:cxnLst/>
              <a:rect l="l" t="t" r="r" b="b"/>
              <a:pathLst>
                <a:path w="1727" h="3638" extrusionOk="0">
                  <a:moveTo>
                    <a:pt x="796" y="1"/>
                  </a:moveTo>
                  <a:cubicBezTo>
                    <a:pt x="766" y="1"/>
                    <a:pt x="735" y="6"/>
                    <a:pt x="703" y="16"/>
                  </a:cubicBezTo>
                  <a:cubicBezTo>
                    <a:pt x="595" y="51"/>
                    <a:pt x="524" y="147"/>
                    <a:pt x="524" y="266"/>
                  </a:cubicBezTo>
                  <a:lnTo>
                    <a:pt x="524" y="551"/>
                  </a:lnTo>
                  <a:cubicBezTo>
                    <a:pt x="524" y="551"/>
                    <a:pt x="488" y="563"/>
                    <a:pt x="476" y="575"/>
                  </a:cubicBezTo>
                  <a:cubicBezTo>
                    <a:pt x="298" y="658"/>
                    <a:pt x="143" y="801"/>
                    <a:pt x="72" y="980"/>
                  </a:cubicBezTo>
                  <a:cubicBezTo>
                    <a:pt x="0" y="1159"/>
                    <a:pt x="0" y="1373"/>
                    <a:pt x="72" y="1563"/>
                  </a:cubicBezTo>
                  <a:cubicBezTo>
                    <a:pt x="143" y="1742"/>
                    <a:pt x="298" y="1885"/>
                    <a:pt x="476" y="1968"/>
                  </a:cubicBezTo>
                  <a:lnTo>
                    <a:pt x="917" y="2159"/>
                  </a:lnTo>
                  <a:cubicBezTo>
                    <a:pt x="1036" y="2206"/>
                    <a:pt x="1095" y="2337"/>
                    <a:pt x="1036" y="2456"/>
                  </a:cubicBezTo>
                  <a:cubicBezTo>
                    <a:pt x="1012" y="2516"/>
                    <a:pt x="965" y="2563"/>
                    <a:pt x="917" y="2575"/>
                  </a:cubicBezTo>
                  <a:cubicBezTo>
                    <a:pt x="887" y="2587"/>
                    <a:pt x="857" y="2593"/>
                    <a:pt x="828" y="2593"/>
                  </a:cubicBezTo>
                  <a:cubicBezTo>
                    <a:pt x="798" y="2593"/>
                    <a:pt x="768" y="2587"/>
                    <a:pt x="738" y="2575"/>
                  </a:cubicBezTo>
                  <a:lnTo>
                    <a:pt x="524" y="2492"/>
                  </a:lnTo>
                  <a:cubicBezTo>
                    <a:pt x="489" y="2477"/>
                    <a:pt x="454" y="2471"/>
                    <a:pt x="420" y="2471"/>
                  </a:cubicBezTo>
                  <a:cubicBezTo>
                    <a:pt x="316" y="2471"/>
                    <a:pt x="224" y="2533"/>
                    <a:pt x="179" y="2623"/>
                  </a:cubicBezTo>
                  <a:cubicBezTo>
                    <a:pt x="119" y="2754"/>
                    <a:pt x="191" y="2909"/>
                    <a:pt x="310" y="2968"/>
                  </a:cubicBezTo>
                  <a:lnTo>
                    <a:pt x="536" y="3052"/>
                  </a:lnTo>
                  <a:lnTo>
                    <a:pt x="536" y="3361"/>
                  </a:lnTo>
                  <a:cubicBezTo>
                    <a:pt x="536" y="3504"/>
                    <a:pt x="619" y="3623"/>
                    <a:pt x="762" y="3635"/>
                  </a:cubicBezTo>
                  <a:cubicBezTo>
                    <a:pt x="774" y="3637"/>
                    <a:pt x="787" y="3638"/>
                    <a:pt x="799" y="3638"/>
                  </a:cubicBezTo>
                  <a:cubicBezTo>
                    <a:pt x="939" y="3638"/>
                    <a:pt x="1060" y="3516"/>
                    <a:pt x="1060" y="3385"/>
                  </a:cubicBezTo>
                  <a:lnTo>
                    <a:pt x="1060" y="3087"/>
                  </a:lnTo>
                  <a:cubicBezTo>
                    <a:pt x="1084" y="3087"/>
                    <a:pt x="1095" y="3064"/>
                    <a:pt x="1131" y="3052"/>
                  </a:cubicBezTo>
                  <a:cubicBezTo>
                    <a:pt x="1322" y="2980"/>
                    <a:pt x="1476" y="2825"/>
                    <a:pt x="1560" y="2647"/>
                  </a:cubicBezTo>
                  <a:cubicBezTo>
                    <a:pt x="1727" y="2266"/>
                    <a:pt x="1536" y="1837"/>
                    <a:pt x="1131" y="1671"/>
                  </a:cubicBezTo>
                  <a:lnTo>
                    <a:pt x="655" y="1480"/>
                  </a:lnTo>
                  <a:cubicBezTo>
                    <a:pt x="595" y="1444"/>
                    <a:pt x="548" y="1397"/>
                    <a:pt x="524" y="1361"/>
                  </a:cubicBezTo>
                  <a:cubicBezTo>
                    <a:pt x="488" y="1301"/>
                    <a:pt x="488" y="1242"/>
                    <a:pt x="524" y="1182"/>
                  </a:cubicBezTo>
                  <a:cubicBezTo>
                    <a:pt x="548" y="1123"/>
                    <a:pt x="595" y="1075"/>
                    <a:pt x="655" y="1063"/>
                  </a:cubicBezTo>
                  <a:cubicBezTo>
                    <a:pt x="685" y="1045"/>
                    <a:pt x="714" y="1037"/>
                    <a:pt x="744" y="1037"/>
                  </a:cubicBezTo>
                  <a:cubicBezTo>
                    <a:pt x="774" y="1037"/>
                    <a:pt x="804" y="1045"/>
                    <a:pt x="834" y="1063"/>
                  </a:cubicBezTo>
                  <a:lnTo>
                    <a:pt x="1072" y="1147"/>
                  </a:lnTo>
                  <a:cubicBezTo>
                    <a:pt x="1106" y="1161"/>
                    <a:pt x="1141" y="1168"/>
                    <a:pt x="1176" y="1168"/>
                  </a:cubicBezTo>
                  <a:cubicBezTo>
                    <a:pt x="1287" y="1168"/>
                    <a:pt x="1393" y="1098"/>
                    <a:pt x="1429" y="980"/>
                  </a:cubicBezTo>
                  <a:cubicBezTo>
                    <a:pt x="1476" y="849"/>
                    <a:pt x="1393" y="718"/>
                    <a:pt x="1274" y="670"/>
                  </a:cubicBezTo>
                  <a:lnTo>
                    <a:pt x="1060" y="587"/>
                  </a:lnTo>
                  <a:lnTo>
                    <a:pt x="1060" y="254"/>
                  </a:lnTo>
                  <a:cubicBezTo>
                    <a:pt x="1060" y="115"/>
                    <a:pt x="944" y="1"/>
                    <a:pt x="7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9" name="Google Shape;4459;p39"/>
          <p:cNvSpPr txBox="1">
            <a:spLocks noGrp="1"/>
          </p:cNvSpPr>
          <p:nvPr>
            <p:ph type="title"/>
          </p:nvPr>
        </p:nvSpPr>
        <p:spPr>
          <a:xfrm>
            <a:off x="237893" y="32271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2400" b="1" dirty="0"/>
              <a:t>Proposed Model</a:t>
            </a:r>
            <a:endParaRPr sz="2400" b="1" dirty="0"/>
          </a:p>
        </p:txBody>
      </p:sp>
      <p:sp>
        <p:nvSpPr>
          <p:cNvPr id="2" name="TextBox 1">
            <a:extLst>
              <a:ext uri="{FF2B5EF4-FFF2-40B4-BE49-F238E27FC236}">
                <a16:creationId xmlns:a16="http://schemas.microsoft.com/office/drawing/2014/main" id="{0D1B1606-148C-9644-1A23-93D7B9CA9901}"/>
              </a:ext>
            </a:extLst>
          </p:cNvPr>
          <p:cNvSpPr txBox="1"/>
          <p:nvPr/>
        </p:nvSpPr>
        <p:spPr>
          <a:xfrm>
            <a:off x="827415" y="618927"/>
            <a:ext cx="7114478" cy="4985980"/>
          </a:xfrm>
          <a:prstGeom prst="rect">
            <a:avLst/>
          </a:prstGeom>
          <a:noFill/>
        </p:spPr>
        <p:txBody>
          <a:bodyPr wrap="square" rtlCol="0">
            <a:spAutoFit/>
          </a:bodyPr>
          <a:lstStyle/>
          <a:p>
            <a:pPr lvl="1" algn="just"/>
            <a:endParaRPr lang="en-US" sz="1200" dirty="0"/>
          </a:p>
          <a:p>
            <a:pPr lvl="1" algn="just"/>
            <a:r>
              <a:rPr lang="en-US" sz="1200" dirty="0"/>
              <a:t>The Propose Advanced Home Automation is designed to offer a comprehensive and flexible home automation solution. It seamlessly integrates manual switches and a mobile application to control both smart and non-smart home appliances. The system is powered by the ESP32 microcontroller, which facilitates wireless communication and employs MQTT and HTTP protocols for reliable data </a:t>
            </a:r>
            <a:r>
              <a:rPr lang="en-US" sz="1200" dirty="0" err="1"/>
              <a:t>transmission.The</a:t>
            </a:r>
            <a:r>
              <a:rPr lang="en-US" sz="1200" dirty="0"/>
              <a:t> mobile application, along with web-based control developed using Node-Red, provides an intuitive and user-friendly interface for remote monitoring and appliance management. Additionally, real-time energy tracking is implemented using </a:t>
            </a:r>
            <a:r>
              <a:rPr lang="en-US" sz="1200" dirty="0" err="1"/>
              <a:t>ThingSpeak</a:t>
            </a:r>
            <a:r>
              <a:rPr lang="en-US" sz="1200" dirty="0"/>
              <a:t>, enabling users to monitor power consumption and optimize energy usage effectively.</a:t>
            </a:r>
            <a:endParaRPr lang="en-US" dirty="0"/>
          </a:p>
          <a:p>
            <a:r>
              <a:rPr lang="en-US" sz="1200" b="1" dirty="0"/>
              <a:t>Advantages:</a:t>
            </a:r>
          </a:p>
          <a:p>
            <a:r>
              <a:rPr lang="en-US" sz="1200" dirty="0"/>
              <a:t>🔹 </a:t>
            </a:r>
            <a:r>
              <a:rPr lang="en-US" sz="1200" b="1" dirty="0"/>
              <a:t>Cost-Effectiveness</a:t>
            </a:r>
            <a:endParaRPr lang="en-US" sz="1200" dirty="0"/>
          </a:p>
          <a:p>
            <a:pPr>
              <a:buFont typeface="Arial" panose="020B0604020202020204" pitchFamily="34" charset="0"/>
              <a:buChar char="•"/>
            </a:pPr>
            <a:r>
              <a:rPr lang="en-US" sz="1200" dirty="0"/>
              <a:t>The system allows </a:t>
            </a:r>
            <a:r>
              <a:rPr lang="en-US" sz="1200" b="1" dirty="0"/>
              <a:t>non-smart appliances</a:t>
            </a:r>
            <a:r>
              <a:rPr lang="en-US" sz="1200" dirty="0"/>
              <a:t> to be controlled using </a:t>
            </a:r>
            <a:r>
              <a:rPr lang="en-US" sz="1200" b="1" dirty="0"/>
              <a:t>smart plugs and relays</a:t>
            </a:r>
            <a:r>
              <a:rPr lang="en-US" sz="1200" dirty="0"/>
              <a:t>, reducing the need for expensive smart device upgrades.</a:t>
            </a:r>
          </a:p>
          <a:p>
            <a:endParaRPr lang="en-US" sz="1200" dirty="0"/>
          </a:p>
          <a:p>
            <a:r>
              <a:rPr lang="en-US" sz="1200" dirty="0"/>
              <a:t>🔹 </a:t>
            </a:r>
            <a:r>
              <a:rPr lang="en-US" sz="1200" b="1" dirty="0"/>
              <a:t>Accessibility</a:t>
            </a:r>
            <a:endParaRPr lang="en-US" sz="1200" dirty="0"/>
          </a:p>
          <a:p>
            <a:pPr>
              <a:buFont typeface="Arial" panose="020B0604020202020204" pitchFamily="34" charset="0"/>
              <a:buChar char="•"/>
            </a:pPr>
            <a:r>
              <a:rPr lang="en-US" sz="1200" dirty="0"/>
              <a:t>Designed to be </a:t>
            </a:r>
            <a:r>
              <a:rPr lang="en-US" sz="1200" b="1" dirty="0"/>
              <a:t>user-friendly</a:t>
            </a:r>
            <a:r>
              <a:rPr lang="en-US" sz="1200" dirty="0"/>
              <a:t>, the system ensures that individuals of all ages and technical backgrounds can operate it effortlessly.</a:t>
            </a:r>
          </a:p>
          <a:p>
            <a:pPr>
              <a:buFont typeface="Arial" panose="020B0604020202020204" pitchFamily="34" charset="0"/>
              <a:buChar char="•"/>
            </a:pPr>
            <a:endParaRPr lang="en-US" sz="1200" dirty="0"/>
          </a:p>
          <a:p>
            <a:r>
              <a:rPr lang="en-US" sz="1200" dirty="0"/>
              <a:t>🔹 </a:t>
            </a:r>
            <a:r>
              <a:rPr lang="en-US" sz="1200" b="1" dirty="0"/>
              <a:t>Enhanced User Experience</a:t>
            </a:r>
            <a:endParaRPr lang="en-US" sz="1200" dirty="0"/>
          </a:p>
          <a:p>
            <a:pPr>
              <a:buFont typeface="Arial" panose="020B0604020202020204" pitchFamily="34" charset="0"/>
              <a:buChar char="•"/>
            </a:pPr>
            <a:r>
              <a:rPr lang="en-US" sz="1200" dirty="0"/>
              <a:t>The </a:t>
            </a:r>
            <a:r>
              <a:rPr lang="en-US" sz="1200" b="1" dirty="0"/>
              <a:t>LCD display</a:t>
            </a:r>
            <a:r>
              <a:rPr lang="en-US" sz="1200" dirty="0"/>
              <a:t> provides real-time feedback on energy consumption, improving usability.</a:t>
            </a:r>
          </a:p>
          <a:p>
            <a:pPr>
              <a:buFont typeface="Arial" panose="020B0604020202020204" pitchFamily="34" charset="0"/>
              <a:buChar char="•"/>
            </a:pPr>
            <a:r>
              <a:rPr lang="en-US" sz="1200" dirty="0"/>
              <a:t>The system supports </a:t>
            </a:r>
            <a:r>
              <a:rPr lang="en-US" sz="1200" b="1" dirty="0"/>
              <a:t>remote control and monitoring</a:t>
            </a:r>
            <a:r>
              <a:rPr lang="en-US" sz="1200" dirty="0"/>
              <a:t>, making it more convenient for users to manage their home appliances from anywhere.</a:t>
            </a:r>
          </a:p>
          <a:p>
            <a:r>
              <a:rPr lang="en-US" sz="1200" dirty="0"/>
              <a:t>.</a:t>
            </a:r>
            <a:endParaRPr lang="en-US" sz="1200" b="1" dirty="0"/>
          </a:p>
          <a:p>
            <a:endParaRPr lang="en-US" b="1" dirty="0"/>
          </a:p>
          <a:p>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9">
          <a:extLst>
            <a:ext uri="{FF2B5EF4-FFF2-40B4-BE49-F238E27FC236}">
              <a16:creationId xmlns:a16="http://schemas.microsoft.com/office/drawing/2014/main" id="{27341DE3-04C4-0B43-AF39-B2BE526796EF}"/>
            </a:ext>
          </a:extLst>
        </p:cNvPr>
        <p:cNvGrpSpPr/>
        <p:nvPr/>
      </p:nvGrpSpPr>
      <p:grpSpPr>
        <a:xfrm>
          <a:off x="0" y="0"/>
          <a:ext cx="0" cy="0"/>
          <a:chOff x="0" y="0"/>
          <a:chExt cx="0" cy="0"/>
        </a:xfrm>
      </p:grpSpPr>
      <p:sp>
        <p:nvSpPr>
          <p:cNvPr id="4350" name="Google Shape;4350;p35">
            <a:extLst>
              <a:ext uri="{FF2B5EF4-FFF2-40B4-BE49-F238E27FC236}">
                <a16:creationId xmlns:a16="http://schemas.microsoft.com/office/drawing/2014/main" id="{9D656583-AF4B-FF8E-997C-FAF3722B0185}"/>
              </a:ext>
            </a:extLst>
          </p:cNvPr>
          <p:cNvSpPr txBox="1">
            <a:spLocks noGrp="1"/>
          </p:cNvSpPr>
          <p:nvPr>
            <p:ph type="title"/>
          </p:nvPr>
        </p:nvSpPr>
        <p:spPr>
          <a:xfrm>
            <a:off x="601053" y="349405"/>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2400" b="1" dirty="0">
                <a:solidFill>
                  <a:schemeClr val="accent2"/>
                </a:solidFill>
                <a:latin typeface="Times New Roman" panose="02020603050405020304" pitchFamily="18" charset="0"/>
                <a:cs typeface="Times New Roman" panose="02020603050405020304" pitchFamily="18" charset="0"/>
              </a:rPr>
              <a:t>Process of Project</a:t>
            </a:r>
            <a:endParaRPr sz="2400" dirty="0"/>
          </a:p>
        </p:txBody>
      </p:sp>
      <p:sp>
        <p:nvSpPr>
          <p:cNvPr id="38" name="TextBox 37">
            <a:extLst>
              <a:ext uri="{FF2B5EF4-FFF2-40B4-BE49-F238E27FC236}">
                <a16:creationId xmlns:a16="http://schemas.microsoft.com/office/drawing/2014/main" id="{23900EAD-3AA2-7BDD-F4BA-2937E117CE42}"/>
              </a:ext>
            </a:extLst>
          </p:cNvPr>
          <p:cNvSpPr txBox="1"/>
          <p:nvPr/>
        </p:nvSpPr>
        <p:spPr>
          <a:xfrm>
            <a:off x="932984" y="936974"/>
            <a:ext cx="7278029" cy="3970318"/>
          </a:xfrm>
          <a:prstGeom prst="rect">
            <a:avLst/>
          </a:prstGeom>
          <a:noFill/>
        </p:spPr>
        <p:txBody>
          <a:bodyPr wrap="square" rtlCol="0">
            <a:spAutoFit/>
          </a:bodyPr>
          <a:lstStyle/>
          <a:p>
            <a:r>
              <a:rPr lang="en-US" b="1" dirty="0"/>
              <a:t>1. Initialization </a:t>
            </a:r>
            <a:r>
              <a:rPr lang="en-US" dirty="0"/>
              <a:t>- The system initializes by setting up required parameters, including Wi-Fi, MQTT, and sensor </a:t>
            </a:r>
            <a:r>
              <a:rPr lang="en-US" dirty="0" err="1"/>
              <a:t>conFigureureurations</a:t>
            </a:r>
            <a:r>
              <a:rPr lang="en-US" dirty="0"/>
              <a:t>.</a:t>
            </a:r>
          </a:p>
          <a:p>
            <a:endParaRPr lang="en-US" dirty="0"/>
          </a:p>
          <a:p>
            <a:r>
              <a:rPr lang="en-US" b="1" dirty="0"/>
              <a:t> 2. Data Collection from Appliances Network </a:t>
            </a:r>
            <a:r>
              <a:rPr lang="en-US" dirty="0"/>
              <a:t>- The ESP32 collects real-time data from connected appliances. </a:t>
            </a:r>
          </a:p>
          <a:p>
            <a:endParaRPr lang="en-US" dirty="0"/>
          </a:p>
          <a:p>
            <a:r>
              <a:rPr lang="en-US" b="1" dirty="0"/>
              <a:t>3. Data Verification </a:t>
            </a:r>
            <a:r>
              <a:rPr lang="en-US" dirty="0"/>
              <a:t>- If data is received, it is processed further; otherwise, the system waits for new data.</a:t>
            </a:r>
          </a:p>
          <a:p>
            <a:endParaRPr lang="en-US" dirty="0"/>
          </a:p>
          <a:p>
            <a:r>
              <a:rPr lang="en-US" dirty="0"/>
              <a:t> </a:t>
            </a:r>
            <a:r>
              <a:rPr lang="en-US" b="1" dirty="0"/>
              <a:t>4. Display Data on LCD </a:t>
            </a:r>
            <a:r>
              <a:rPr lang="en-US" dirty="0"/>
              <a:t>- The collected data is displayed on the LCD screen for local monitoring. </a:t>
            </a:r>
          </a:p>
          <a:p>
            <a:endParaRPr lang="en-US" b="1" dirty="0"/>
          </a:p>
          <a:p>
            <a:r>
              <a:rPr lang="en-US" b="1" dirty="0"/>
              <a:t>5. Data Transmission to EMS - </a:t>
            </a:r>
            <a:r>
              <a:rPr lang="en-US" dirty="0"/>
              <a:t>The data is sent to the Energy Management System (EMS) for logging and analysis. </a:t>
            </a:r>
          </a:p>
          <a:p>
            <a:endParaRPr lang="en-US" dirty="0"/>
          </a:p>
          <a:p>
            <a:r>
              <a:rPr lang="en-US" b="1" dirty="0"/>
              <a:t>6. User Input Verification - </a:t>
            </a:r>
            <a:r>
              <a:rPr lang="en-US" dirty="0"/>
              <a:t>If user input is detected, the corresponding action is executed; otherwise, the system continues monitoring.</a:t>
            </a:r>
          </a:p>
          <a:p>
            <a:endParaRPr lang="en-IN" dirty="0"/>
          </a:p>
        </p:txBody>
      </p:sp>
      <p:cxnSp>
        <p:nvCxnSpPr>
          <p:cNvPr id="3" name="Straight Connector 2">
            <a:extLst>
              <a:ext uri="{FF2B5EF4-FFF2-40B4-BE49-F238E27FC236}">
                <a16:creationId xmlns:a16="http://schemas.microsoft.com/office/drawing/2014/main" id="{DD0C65D0-7A40-97A0-2BF5-FC90A3ACBB31}"/>
              </a:ext>
            </a:extLst>
          </p:cNvPr>
          <p:cNvCxnSpPr/>
          <p:nvPr/>
        </p:nvCxnSpPr>
        <p:spPr>
          <a:xfrm>
            <a:off x="1025911" y="847493"/>
            <a:ext cx="709217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959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82C81-F6C8-348C-3D75-1EC052F33C9D}"/>
              </a:ext>
            </a:extLst>
          </p:cNvPr>
          <p:cNvSpPr>
            <a:spLocks noGrp="1"/>
          </p:cNvSpPr>
          <p:nvPr>
            <p:ph type="title"/>
          </p:nvPr>
        </p:nvSpPr>
        <p:spPr/>
        <p:txBody>
          <a:bodyPr/>
          <a:lstStyle/>
          <a:p>
            <a:pPr algn="l"/>
            <a:r>
              <a:rPr lang="en-US" sz="1400" b="1" dirty="0"/>
              <a:t>7. User Input Verification - </a:t>
            </a:r>
            <a:r>
              <a:rPr lang="en-US" sz="1400" dirty="0"/>
              <a:t>If user input is detected, the corresponding action is executed; otherwise, the system continues monitoring.</a:t>
            </a:r>
            <a:br>
              <a:rPr lang="en-US" sz="1400" dirty="0"/>
            </a:br>
            <a:br>
              <a:rPr lang="en-US" sz="1400" dirty="0"/>
            </a:br>
            <a:r>
              <a:rPr lang="en-US" sz="1400" b="1" dirty="0"/>
              <a:t> 8. Data Logging - </a:t>
            </a:r>
            <a:r>
              <a:rPr lang="en-US" sz="1400" dirty="0"/>
              <a:t>The system maintains logs of user interactions and energy data with date and time stamps for historical analysis.</a:t>
            </a:r>
            <a:br>
              <a:rPr lang="en-US" sz="800" dirty="0"/>
            </a:b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347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BFD3-4E80-9D89-0CB4-331FDC10630F}"/>
              </a:ext>
            </a:extLst>
          </p:cNvPr>
          <p:cNvSpPr>
            <a:spLocks noGrp="1"/>
          </p:cNvSpPr>
          <p:nvPr>
            <p:ph type="title"/>
          </p:nvPr>
        </p:nvSpPr>
        <p:spPr>
          <a:xfrm>
            <a:off x="2051268" y="-118947"/>
            <a:ext cx="5041464" cy="454507"/>
          </a:xfrm>
        </p:spPr>
        <p:txBody>
          <a:bodyPr/>
          <a:lstStyle/>
          <a:p>
            <a:r>
              <a:rPr lang="en-IN" sz="2400" b="1" dirty="0"/>
              <a:t>Architecture</a:t>
            </a:r>
          </a:p>
        </p:txBody>
      </p:sp>
      <p:pic>
        <p:nvPicPr>
          <p:cNvPr id="4" name="Picture 3">
            <a:extLst>
              <a:ext uri="{FF2B5EF4-FFF2-40B4-BE49-F238E27FC236}">
                <a16:creationId xmlns:a16="http://schemas.microsoft.com/office/drawing/2014/main" id="{F7E4D32D-3E78-B3A6-37C0-D5908EA5AD40}"/>
              </a:ext>
            </a:extLst>
          </p:cNvPr>
          <p:cNvPicPr>
            <a:picLocks noChangeAspect="1"/>
          </p:cNvPicPr>
          <p:nvPr/>
        </p:nvPicPr>
        <p:blipFill>
          <a:blip r:embed="rId2"/>
          <a:stretch>
            <a:fillRect/>
          </a:stretch>
        </p:blipFill>
        <p:spPr>
          <a:xfrm>
            <a:off x="1256371" y="437116"/>
            <a:ext cx="6230371" cy="4388213"/>
          </a:xfrm>
          <a:prstGeom prst="rect">
            <a:avLst/>
          </a:prstGeom>
        </p:spPr>
      </p:pic>
    </p:spTree>
    <p:extLst>
      <p:ext uri="{BB962C8B-B14F-4D97-AF65-F5344CB8AC3E}">
        <p14:creationId xmlns:p14="http://schemas.microsoft.com/office/powerpoint/2010/main" val="3358126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5592B9-303C-4A60-0F75-5EA8D0B815E0}"/>
              </a:ext>
            </a:extLst>
          </p:cNvPr>
          <p:cNvSpPr txBox="1"/>
          <p:nvPr/>
        </p:nvSpPr>
        <p:spPr>
          <a:xfrm>
            <a:off x="3412273" y="379141"/>
            <a:ext cx="2817541" cy="400110"/>
          </a:xfrm>
          <a:prstGeom prst="rect">
            <a:avLst/>
          </a:prstGeom>
          <a:noFill/>
        </p:spPr>
        <p:txBody>
          <a:bodyPr wrap="square" rtlCol="0">
            <a:spAutoFit/>
          </a:bodyPr>
          <a:lstStyle/>
          <a:p>
            <a:r>
              <a:rPr lang="en-IN" sz="2000" b="1" dirty="0"/>
              <a:t>Flow of Project</a:t>
            </a:r>
          </a:p>
        </p:txBody>
      </p:sp>
      <p:pic>
        <p:nvPicPr>
          <p:cNvPr id="13" name="Picture 12">
            <a:extLst>
              <a:ext uri="{FF2B5EF4-FFF2-40B4-BE49-F238E27FC236}">
                <a16:creationId xmlns:a16="http://schemas.microsoft.com/office/drawing/2014/main" id="{D296AF09-41FC-7461-3A54-0778407F9B1A}"/>
              </a:ext>
            </a:extLst>
          </p:cNvPr>
          <p:cNvPicPr>
            <a:picLocks noChangeAspect="1"/>
          </p:cNvPicPr>
          <p:nvPr/>
        </p:nvPicPr>
        <p:blipFill>
          <a:blip r:embed="rId2"/>
          <a:stretch>
            <a:fillRect/>
          </a:stretch>
        </p:blipFill>
        <p:spPr>
          <a:xfrm>
            <a:off x="1007164" y="935368"/>
            <a:ext cx="3312075" cy="3716144"/>
          </a:xfrm>
          <a:prstGeom prst="rect">
            <a:avLst/>
          </a:prstGeom>
        </p:spPr>
      </p:pic>
      <p:pic>
        <p:nvPicPr>
          <p:cNvPr id="3" name="Picture 2">
            <a:extLst>
              <a:ext uri="{FF2B5EF4-FFF2-40B4-BE49-F238E27FC236}">
                <a16:creationId xmlns:a16="http://schemas.microsoft.com/office/drawing/2014/main" id="{006B9E81-98F1-C9EA-ADED-19CFB248B868}"/>
              </a:ext>
            </a:extLst>
          </p:cNvPr>
          <p:cNvPicPr>
            <a:picLocks noChangeAspect="1"/>
          </p:cNvPicPr>
          <p:nvPr/>
        </p:nvPicPr>
        <p:blipFill>
          <a:blip r:embed="rId3"/>
          <a:stretch>
            <a:fillRect/>
          </a:stretch>
        </p:blipFill>
        <p:spPr>
          <a:xfrm>
            <a:off x="5166732" y="877649"/>
            <a:ext cx="2891883" cy="3693421"/>
          </a:xfrm>
          <a:prstGeom prst="rect">
            <a:avLst/>
          </a:prstGeom>
        </p:spPr>
      </p:pic>
    </p:spTree>
    <p:extLst>
      <p:ext uri="{BB962C8B-B14F-4D97-AF65-F5344CB8AC3E}">
        <p14:creationId xmlns:p14="http://schemas.microsoft.com/office/powerpoint/2010/main" val="4008561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84123-5A97-52AD-381A-4773AD794648}"/>
              </a:ext>
            </a:extLst>
          </p:cNvPr>
          <p:cNvSpPr>
            <a:spLocks noGrp="1"/>
          </p:cNvSpPr>
          <p:nvPr>
            <p:ph type="title"/>
          </p:nvPr>
        </p:nvSpPr>
        <p:spPr/>
        <p:txBody>
          <a:bodyPr/>
          <a:lstStyle/>
          <a:p>
            <a:r>
              <a:rPr lang="en-US" sz="2400" b="1" dirty="0"/>
              <a:t>System Components</a:t>
            </a:r>
            <a:br>
              <a:rPr lang="en-US" sz="2400" b="1" dirty="0"/>
            </a:br>
            <a:endParaRPr lang="en-IN" sz="2400" dirty="0"/>
          </a:p>
        </p:txBody>
      </p:sp>
      <p:sp>
        <p:nvSpPr>
          <p:cNvPr id="9" name="TextBox 8">
            <a:extLst>
              <a:ext uri="{FF2B5EF4-FFF2-40B4-BE49-F238E27FC236}">
                <a16:creationId xmlns:a16="http://schemas.microsoft.com/office/drawing/2014/main" id="{50D11492-9DDF-EB5B-095E-B1891B6653C3}"/>
              </a:ext>
            </a:extLst>
          </p:cNvPr>
          <p:cNvSpPr txBox="1"/>
          <p:nvPr/>
        </p:nvSpPr>
        <p:spPr>
          <a:xfrm>
            <a:off x="720000" y="1100254"/>
            <a:ext cx="8334790" cy="2893100"/>
          </a:xfrm>
          <a:prstGeom prst="rect">
            <a:avLst/>
          </a:prstGeom>
          <a:noFill/>
        </p:spPr>
        <p:txBody>
          <a:bodyPr wrap="square" rtlCol="0">
            <a:spAutoFit/>
          </a:bodyPr>
          <a:lstStyle/>
          <a:p>
            <a:pPr marL="342900" indent="-342900">
              <a:buFont typeface="+mj-lt"/>
              <a:buAutoNum type="arabicPeriod"/>
            </a:pPr>
            <a:endParaRPr lang="en-US" b="1" dirty="0"/>
          </a:p>
          <a:p>
            <a:pPr marL="342900" indent="-342900">
              <a:buFont typeface="+mj-lt"/>
              <a:buAutoNum type="arabicPeriod"/>
            </a:pPr>
            <a:r>
              <a:rPr lang="en-US" b="1" dirty="0"/>
              <a:t>ESP32 Microcontroller</a:t>
            </a:r>
            <a:r>
              <a:rPr lang="en-US" dirty="0"/>
              <a:t>: Acts as the central hub for managing communication between devices.</a:t>
            </a:r>
          </a:p>
          <a:p>
            <a:pPr marL="342900" indent="-342900">
              <a:buFont typeface="+mj-lt"/>
              <a:buAutoNum type="arabicPeriod"/>
            </a:pPr>
            <a:endParaRPr lang="en-US" dirty="0"/>
          </a:p>
          <a:p>
            <a:pPr marL="342900" indent="-342900">
              <a:buFont typeface="+mj-lt"/>
              <a:buAutoNum type="arabicPeriod"/>
            </a:pPr>
            <a:r>
              <a:rPr lang="en-US" b="1" dirty="0"/>
              <a:t>Relays Module</a:t>
            </a:r>
            <a:r>
              <a:rPr lang="en-US" dirty="0"/>
              <a:t>: Enable control of non-smart appliances by connecting them to the ESP32.</a:t>
            </a:r>
          </a:p>
          <a:p>
            <a:endParaRPr lang="en-US" dirty="0"/>
          </a:p>
          <a:p>
            <a:r>
              <a:rPr lang="en-US" b="1" dirty="0"/>
              <a:t>3.    Mobile Application</a:t>
            </a:r>
            <a:r>
              <a:rPr lang="en-US" dirty="0"/>
              <a:t>: Developed using MQTT App , it allows users to control and monitor        appliances remotely.</a:t>
            </a:r>
          </a:p>
          <a:p>
            <a:endParaRPr lang="en-US" dirty="0"/>
          </a:p>
          <a:p>
            <a:r>
              <a:rPr lang="en-US" b="1" dirty="0"/>
              <a:t>4.    MQTT Protocol</a:t>
            </a:r>
            <a:r>
              <a:rPr lang="en-US" dirty="0"/>
              <a:t>: Ensures efficient and reliable communication between the ESP32 and connected devices.</a:t>
            </a:r>
          </a:p>
          <a:p>
            <a:pPr marL="342900" indent="-342900">
              <a:buFont typeface="+mj-lt"/>
              <a:buAutoNum type="arabicPeriod"/>
            </a:pPr>
            <a:endParaRPr lang="en-US" dirty="0"/>
          </a:p>
          <a:p>
            <a:r>
              <a:rPr lang="en-US" b="1" dirty="0"/>
              <a:t>5.    Manual Switches</a:t>
            </a:r>
            <a:r>
              <a:rPr lang="en-US" dirty="0"/>
              <a:t>: Provide traditional control options, ensuring accessibility for all users.</a:t>
            </a:r>
          </a:p>
          <a:p>
            <a:endParaRPr lang="en-IN" dirty="0"/>
          </a:p>
        </p:txBody>
      </p:sp>
      <p:cxnSp>
        <p:nvCxnSpPr>
          <p:cNvPr id="6" name="Straight Connector 5">
            <a:extLst>
              <a:ext uri="{FF2B5EF4-FFF2-40B4-BE49-F238E27FC236}">
                <a16:creationId xmlns:a16="http://schemas.microsoft.com/office/drawing/2014/main" id="{627E458A-D86C-3C29-1ABB-72BCEF75FC53}"/>
              </a:ext>
            </a:extLst>
          </p:cNvPr>
          <p:cNvCxnSpPr/>
          <p:nvPr/>
        </p:nvCxnSpPr>
        <p:spPr>
          <a:xfrm>
            <a:off x="840059" y="1017725"/>
            <a:ext cx="764230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68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CC0D3-7490-DECE-F044-6F44D3960FA7}"/>
              </a:ext>
            </a:extLst>
          </p:cNvPr>
          <p:cNvSpPr>
            <a:spLocks noGrp="1"/>
          </p:cNvSpPr>
          <p:nvPr>
            <p:ph type="title"/>
          </p:nvPr>
        </p:nvSpPr>
        <p:spPr>
          <a:xfrm>
            <a:off x="640079" y="-16633"/>
            <a:ext cx="7696201" cy="557653"/>
          </a:xfrm>
        </p:spPr>
        <p:txBody>
          <a:bodyPr/>
          <a:lstStyle/>
          <a:p>
            <a:r>
              <a:rPr lang="en-IN" sz="2400" b="1" dirty="0">
                <a:ea typeface="Black Han Sans" panose="020B0604020202020204" charset="-127"/>
                <a:cs typeface="Cascadia Code" panose="020B0609020000020004" pitchFamily="49" charset="0"/>
              </a:rPr>
              <a:t>Circuit Diagram</a:t>
            </a:r>
          </a:p>
        </p:txBody>
      </p:sp>
      <p:sp>
        <p:nvSpPr>
          <p:cNvPr id="3" name="Text Placeholder 2">
            <a:extLst>
              <a:ext uri="{FF2B5EF4-FFF2-40B4-BE49-F238E27FC236}">
                <a16:creationId xmlns:a16="http://schemas.microsoft.com/office/drawing/2014/main" id="{88BA8589-BA9E-F77E-A0E3-E301D8BB57D1}"/>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4AF6233F-EB0D-CBE4-CFC9-26BB6390DD5D}"/>
              </a:ext>
            </a:extLst>
          </p:cNvPr>
          <p:cNvPicPr>
            <a:picLocks noChangeAspect="1"/>
          </p:cNvPicPr>
          <p:nvPr/>
        </p:nvPicPr>
        <p:blipFill>
          <a:blip r:embed="rId2"/>
          <a:stretch>
            <a:fillRect/>
          </a:stretch>
        </p:blipFill>
        <p:spPr>
          <a:xfrm>
            <a:off x="437387" y="629998"/>
            <a:ext cx="8238858" cy="4325401"/>
          </a:xfrm>
          <a:prstGeom prst="rect">
            <a:avLst/>
          </a:prstGeom>
        </p:spPr>
      </p:pic>
      <p:sp>
        <p:nvSpPr>
          <p:cNvPr id="6" name="Flowchart: Process 5">
            <a:extLst>
              <a:ext uri="{FF2B5EF4-FFF2-40B4-BE49-F238E27FC236}">
                <a16:creationId xmlns:a16="http://schemas.microsoft.com/office/drawing/2014/main" id="{30152422-F11D-71B5-1447-389F1DBD662D}"/>
              </a:ext>
            </a:extLst>
          </p:cNvPr>
          <p:cNvSpPr/>
          <p:nvPr/>
        </p:nvSpPr>
        <p:spPr>
          <a:xfrm>
            <a:off x="7961971" y="765717"/>
            <a:ext cx="631902" cy="735981"/>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471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5B88A0-632C-525F-36EA-D22ACA74B1A3}"/>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Rectangle 2">
            <a:extLst>
              <a:ext uri="{FF2B5EF4-FFF2-40B4-BE49-F238E27FC236}">
                <a16:creationId xmlns:a16="http://schemas.microsoft.com/office/drawing/2014/main" id="{D0E2BF61-7E9F-AEB3-7665-35A8372125A3}"/>
              </a:ext>
            </a:extLst>
          </p:cNvPr>
          <p:cNvSpPr/>
          <p:nvPr/>
        </p:nvSpPr>
        <p:spPr>
          <a:xfrm>
            <a:off x="3241288" y="483220"/>
            <a:ext cx="2869580" cy="2973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t>Implementation</a:t>
            </a:r>
          </a:p>
        </p:txBody>
      </p:sp>
      <p:sp>
        <p:nvSpPr>
          <p:cNvPr id="5" name="TextBox 4">
            <a:extLst>
              <a:ext uri="{FF2B5EF4-FFF2-40B4-BE49-F238E27FC236}">
                <a16:creationId xmlns:a16="http://schemas.microsoft.com/office/drawing/2014/main" id="{451F6D26-6CCB-7B69-1665-DAA78E6FC4C3}"/>
              </a:ext>
            </a:extLst>
          </p:cNvPr>
          <p:cNvSpPr txBox="1"/>
          <p:nvPr/>
        </p:nvSpPr>
        <p:spPr>
          <a:xfrm>
            <a:off x="750849" y="959005"/>
            <a:ext cx="7813288" cy="1061829"/>
          </a:xfrm>
          <a:prstGeom prst="rect">
            <a:avLst/>
          </a:prstGeom>
          <a:noFill/>
        </p:spPr>
        <p:txBody>
          <a:bodyPr wrap="square" rtlCol="0">
            <a:spAutoFit/>
          </a:bodyPr>
          <a:lstStyle/>
          <a:p>
            <a:pPr>
              <a:lnSpc>
                <a:spcPts val="1425"/>
              </a:lnSpc>
            </a:pPr>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pPr>
              <a:lnSpc>
                <a:spcPts val="1425"/>
              </a:lnSpc>
            </a:pPr>
            <a:endParaRPr lang="en-US" dirty="0"/>
          </a:p>
          <a:p>
            <a:endParaRPr lang="en-US" dirty="0"/>
          </a:p>
          <a:p>
            <a:endParaRPr lang="en-US" dirty="0"/>
          </a:p>
        </p:txBody>
      </p:sp>
      <p:sp>
        <p:nvSpPr>
          <p:cNvPr id="4" name="Rectangle 1">
            <a:extLst>
              <a:ext uri="{FF2B5EF4-FFF2-40B4-BE49-F238E27FC236}">
                <a16:creationId xmlns:a16="http://schemas.microsoft.com/office/drawing/2014/main" id="{9C58FE85-252C-FB15-FDED-9C496DB61D67}"/>
              </a:ext>
            </a:extLst>
          </p:cNvPr>
          <p:cNvSpPr>
            <a:spLocks noChangeArrowheads="1"/>
          </p:cNvSpPr>
          <p:nvPr/>
        </p:nvSpPr>
        <p:spPr bwMode="auto">
          <a:xfrm>
            <a:off x="479256" y="1018772"/>
            <a:ext cx="8393644"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Real-Time Energy Monitoring: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Accurate tracking of voltage, current, power, and cumulative energy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Instant display on the LCD and periodic updates to </a:t>
            </a:r>
            <a:r>
              <a:rPr kumimoji="0" lang="en-US" altLang="en-US" b="0" i="0" u="none" strike="noStrike" cap="none" normalizeH="0" baseline="0" dirty="0" err="1">
                <a:ln>
                  <a:noFill/>
                </a:ln>
                <a:solidFill>
                  <a:schemeClr val="tx1"/>
                </a:solidFill>
                <a:effectLst/>
                <a:latin typeface="Arial" panose="020B0604020202020204" pitchFamily="34" charset="0"/>
              </a:rPr>
              <a:t>ThingSpeak</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Multi-Device Control via MQTT: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Remote control of four appliances using </a:t>
            </a:r>
            <a:r>
              <a:rPr kumimoji="0" lang="en-US" altLang="en-US" b="0" i="0" u="none" strike="noStrike" cap="none" normalizeH="0" baseline="0" dirty="0" err="1">
                <a:ln>
                  <a:noFill/>
                </a:ln>
                <a:solidFill>
                  <a:schemeClr val="tx1"/>
                </a:solidFill>
                <a:effectLst/>
                <a:latin typeface="Arial" panose="020B0604020202020204" pitchFamily="34" charset="0"/>
              </a:rPr>
              <a:t>HiveMQ</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Integration of manual and MQTT-based controls for enhanced flexibility.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FreeRTOS</a:t>
            </a:r>
            <a:r>
              <a:rPr kumimoji="0" lang="en-US" altLang="en-US" b="1" i="0" u="none" strike="noStrike" cap="none" normalizeH="0" baseline="0" dirty="0">
                <a:ln>
                  <a:noFill/>
                </a:ln>
                <a:solidFill>
                  <a:schemeClr val="tx1"/>
                </a:solidFill>
                <a:effectLst/>
                <a:latin typeface="Arial" panose="020B0604020202020204" pitchFamily="34" charset="0"/>
              </a:rPr>
              <a:t> Task Segregation: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Dedicated tasks for energy monitoring, MQTT communication, GPIO control, and </a:t>
            </a:r>
            <a:r>
              <a:rPr kumimoji="0" lang="en-US" altLang="en-US" b="0" i="0" u="none" strike="noStrike" cap="none" normalizeH="0" baseline="0" dirty="0" err="1">
                <a:ln>
                  <a:noFill/>
                </a:ln>
                <a:solidFill>
                  <a:schemeClr val="tx1"/>
                </a:solidFill>
                <a:effectLst/>
                <a:latin typeface="Arial" panose="020B0604020202020204" pitchFamily="34" charset="0"/>
              </a:rPr>
              <a:t>ThingSpeak</a:t>
            </a:r>
            <a:r>
              <a:rPr kumimoji="0" lang="en-US" altLang="en-US" b="0" i="0" u="none" strike="noStrike" cap="none" normalizeH="0" baseline="0" dirty="0">
                <a:ln>
                  <a:noFill/>
                </a:ln>
                <a:solidFill>
                  <a:schemeClr val="tx1"/>
                </a:solidFill>
                <a:effectLst/>
                <a:latin typeface="Arial" panose="020B0604020202020204" pitchFamily="34" charset="0"/>
              </a:rPr>
              <a:t> updates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for efficient processing.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User Feedback Mechanism:</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Visual feedback on an LCD for real-time monitoring of energy usage.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0618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EEDBCC-6311-0FDF-0EA7-ED104364F697}"/>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5" name="Rectangle 1">
            <a:extLst>
              <a:ext uri="{FF2B5EF4-FFF2-40B4-BE49-F238E27FC236}">
                <a16:creationId xmlns:a16="http://schemas.microsoft.com/office/drawing/2014/main" id="{8A49161A-3286-1F16-32E0-F0DA45498D8C}"/>
              </a:ext>
            </a:extLst>
          </p:cNvPr>
          <p:cNvSpPr>
            <a:spLocks noChangeArrowheads="1"/>
          </p:cNvSpPr>
          <p:nvPr/>
        </p:nvSpPr>
        <p:spPr bwMode="auto">
          <a:xfrm>
            <a:off x="348728" y="448091"/>
            <a:ext cx="844654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Environment:</a:t>
            </a:r>
            <a:r>
              <a:rPr kumimoji="0" lang="en-US" altLang="en-US" sz="1800" b="0" i="0" u="none" strike="noStrike" cap="none" normalizeH="0" baseline="0" dirty="0">
                <a:ln>
                  <a:noFill/>
                </a:ln>
                <a:solidFill>
                  <a:schemeClr val="tx1"/>
                </a:solidFill>
                <a:effectLst/>
                <a:latin typeface="Arial" panose="020B0604020202020204" pitchFamily="34" charset="0"/>
              </a:rPr>
              <a:t> Developed using Arduino IDE and </a:t>
            </a:r>
            <a:r>
              <a:rPr kumimoji="0" lang="en-US" altLang="en-US" sz="1800" b="0" i="0" u="none" strike="noStrike" cap="none" normalizeH="0" baseline="0" dirty="0" err="1">
                <a:ln>
                  <a:noFill/>
                </a:ln>
                <a:solidFill>
                  <a:schemeClr val="tx1"/>
                </a:solidFill>
                <a:effectLst/>
                <a:latin typeface="Arial" panose="020B0604020202020204" pitchFamily="34" charset="0"/>
              </a:rPr>
              <a:t>FreeRTOS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for multitasking and for website creating we used Node-red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MQTT Topics:</a:t>
            </a:r>
            <a:r>
              <a:rPr kumimoji="0" lang="en-US" altLang="en-US" sz="1800" b="0" i="0" u="none" strike="noStrike" cap="none" normalizeH="0" baseline="0" dirty="0">
                <a:ln>
                  <a:noFill/>
                </a:ln>
                <a:solidFill>
                  <a:schemeClr val="tx1"/>
                </a:solidFill>
                <a:effectLst/>
                <a:latin typeface="Arial" panose="020B0604020202020204" pitchFamily="34" charset="0"/>
              </a:rPr>
              <a:t> Configured for each appliance for individual control and status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updates.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Energy Data Logging:</a:t>
            </a:r>
            <a:r>
              <a:rPr kumimoji="0" lang="en-US" altLang="en-US" sz="1800" b="0" i="0" u="none" strike="noStrike" cap="none" normalizeH="0" baseline="0" dirty="0">
                <a:ln>
                  <a:noFill/>
                </a:ln>
                <a:solidFill>
                  <a:schemeClr val="tx1"/>
                </a:solidFill>
                <a:effectLst/>
                <a:latin typeface="Arial" panose="020B0604020202020204" pitchFamily="34" charset="0"/>
              </a:rPr>
              <a:t> Periodic publishing of energy metrics to </a:t>
            </a:r>
            <a:r>
              <a:rPr kumimoji="0" lang="en-US" altLang="en-US" sz="1800" b="0" i="0" u="none" strike="noStrike" cap="none" normalizeH="0" baseline="0" dirty="0" err="1">
                <a:ln>
                  <a:noFill/>
                </a:ln>
                <a:solidFill>
                  <a:schemeClr val="tx1"/>
                </a:solidFill>
                <a:effectLst/>
                <a:latin typeface="Arial" panose="020B0604020202020204" pitchFamily="34" charset="0"/>
              </a:rPr>
              <a:t>ThingSpeak</a:t>
            </a:r>
            <a:r>
              <a:rPr kumimoji="0" lang="en-US" altLang="en-US" sz="1800" b="0" i="0" u="none" strike="noStrike" cap="none" normalizeH="0" baseline="0" dirty="0">
                <a:ln>
                  <a:noFill/>
                </a:ln>
                <a:solidFill>
                  <a:schemeClr val="tx1"/>
                </a:solidFill>
                <a:effectLst/>
                <a:latin typeface="Arial" panose="020B0604020202020204" pitchFamily="34" charset="0"/>
              </a:rPr>
              <a:t> for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further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Debouncing for Manual Buttons:</a:t>
            </a:r>
            <a:r>
              <a:rPr kumimoji="0" lang="en-US" altLang="en-US" sz="1800" b="0" i="0" u="none" strike="noStrike" cap="none" normalizeH="0" baseline="0" dirty="0">
                <a:ln>
                  <a:noFill/>
                </a:ln>
                <a:solidFill>
                  <a:schemeClr val="tx1"/>
                </a:solidFill>
                <a:effectLst/>
                <a:latin typeface="Arial" panose="020B0604020202020204" pitchFamily="34" charset="0"/>
              </a:rPr>
              <a:t> Reliable detection of button presses to</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prevent false triggers. </a:t>
            </a:r>
          </a:p>
        </p:txBody>
      </p:sp>
      <p:pic>
        <p:nvPicPr>
          <p:cNvPr id="7" name="Picture 6">
            <a:extLst>
              <a:ext uri="{FF2B5EF4-FFF2-40B4-BE49-F238E27FC236}">
                <a16:creationId xmlns:a16="http://schemas.microsoft.com/office/drawing/2014/main" id="{80333DBF-98F0-3983-8A83-04FBD444A401}"/>
              </a:ext>
            </a:extLst>
          </p:cNvPr>
          <p:cNvPicPr>
            <a:picLocks noChangeAspect="1"/>
          </p:cNvPicPr>
          <p:nvPr/>
        </p:nvPicPr>
        <p:blipFill>
          <a:blip r:embed="rId2"/>
          <a:stretch>
            <a:fillRect/>
          </a:stretch>
        </p:blipFill>
        <p:spPr>
          <a:xfrm>
            <a:off x="2583180" y="1074420"/>
            <a:ext cx="3299460" cy="1325879"/>
          </a:xfrm>
          <a:prstGeom prst="rect">
            <a:avLst/>
          </a:prstGeom>
        </p:spPr>
      </p:pic>
    </p:spTree>
    <p:extLst>
      <p:ext uri="{BB962C8B-B14F-4D97-AF65-F5344CB8AC3E}">
        <p14:creationId xmlns:p14="http://schemas.microsoft.com/office/powerpoint/2010/main" val="3788499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A38351-3A74-6AC3-FFF9-86D7123B262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3" name="TextBox 2">
            <a:extLst>
              <a:ext uri="{FF2B5EF4-FFF2-40B4-BE49-F238E27FC236}">
                <a16:creationId xmlns:a16="http://schemas.microsoft.com/office/drawing/2014/main" id="{7F90429D-C44B-61D5-F773-8F88BB47D79B}"/>
              </a:ext>
            </a:extLst>
          </p:cNvPr>
          <p:cNvSpPr txBox="1"/>
          <p:nvPr/>
        </p:nvSpPr>
        <p:spPr>
          <a:xfrm>
            <a:off x="795454" y="535259"/>
            <a:ext cx="7376995" cy="569387"/>
          </a:xfrm>
          <a:prstGeom prst="rect">
            <a:avLst/>
          </a:prstGeom>
          <a:noFill/>
        </p:spPr>
        <p:txBody>
          <a:bodyPr wrap="square" rtlCol="0">
            <a:spAutoFit/>
          </a:bodyPr>
          <a:lstStyle/>
          <a:p>
            <a:r>
              <a:rPr lang="en-IN" sz="2000" b="1" dirty="0"/>
              <a:t>Results:</a:t>
            </a:r>
          </a:p>
          <a:p>
            <a:endParaRPr lang="en-IN" sz="1100" dirty="0"/>
          </a:p>
        </p:txBody>
      </p:sp>
      <p:pic>
        <p:nvPicPr>
          <p:cNvPr id="5" name="Picture 4">
            <a:extLst>
              <a:ext uri="{FF2B5EF4-FFF2-40B4-BE49-F238E27FC236}">
                <a16:creationId xmlns:a16="http://schemas.microsoft.com/office/drawing/2014/main" id="{762C1615-CE9E-EF07-1ADD-9E8AE012CF3F}"/>
              </a:ext>
            </a:extLst>
          </p:cNvPr>
          <p:cNvPicPr>
            <a:picLocks noChangeAspect="1"/>
          </p:cNvPicPr>
          <p:nvPr/>
        </p:nvPicPr>
        <p:blipFill>
          <a:blip r:embed="rId2"/>
          <a:stretch>
            <a:fillRect/>
          </a:stretch>
        </p:blipFill>
        <p:spPr>
          <a:xfrm>
            <a:off x="652888" y="1104646"/>
            <a:ext cx="4417200" cy="3002466"/>
          </a:xfrm>
          <a:prstGeom prst="rect">
            <a:avLst/>
          </a:prstGeom>
        </p:spPr>
      </p:pic>
      <p:pic>
        <p:nvPicPr>
          <p:cNvPr id="7" name="Picture 6">
            <a:extLst>
              <a:ext uri="{FF2B5EF4-FFF2-40B4-BE49-F238E27FC236}">
                <a16:creationId xmlns:a16="http://schemas.microsoft.com/office/drawing/2014/main" id="{266573C8-5311-BB7E-1579-07039C97DA4F}"/>
              </a:ext>
            </a:extLst>
          </p:cNvPr>
          <p:cNvPicPr>
            <a:picLocks noChangeAspect="1"/>
          </p:cNvPicPr>
          <p:nvPr/>
        </p:nvPicPr>
        <p:blipFill>
          <a:blip r:embed="rId3"/>
          <a:stretch>
            <a:fillRect/>
          </a:stretch>
        </p:blipFill>
        <p:spPr>
          <a:xfrm>
            <a:off x="5070088" y="1104646"/>
            <a:ext cx="3670052" cy="3002466"/>
          </a:xfrm>
          <a:prstGeom prst="rect">
            <a:avLst/>
          </a:prstGeom>
        </p:spPr>
      </p:pic>
    </p:spTree>
    <p:extLst>
      <p:ext uri="{BB962C8B-B14F-4D97-AF65-F5344CB8AC3E}">
        <p14:creationId xmlns:p14="http://schemas.microsoft.com/office/powerpoint/2010/main" val="368558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673344-F564-C1DC-2EAE-C8A4463B2474}"/>
              </a:ext>
            </a:extLst>
          </p:cNvPr>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4" name="Picture 3">
            <a:extLst>
              <a:ext uri="{FF2B5EF4-FFF2-40B4-BE49-F238E27FC236}">
                <a16:creationId xmlns:a16="http://schemas.microsoft.com/office/drawing/2014/main" id="{1B77198F-5BFF-E3AB-98B4-17B33688AB82}"/>
              </a:ext>
            </a:extLst>
          </p:cNvPr>
          <p:cNvPicPr>
            <a:picLocks noChangeAspect="1"/>
          </p:cNvPicPr>
          <p:nvPr/>
        </p:nvPicPr>
        <p:blipFill>
          <a:blip r:embed="rId2"/>
          <a:stretch>
            <a:fillRect/>
          </a:stretch>
        </p:blipFill>
        <p:spPr>
          <a:xfrm>
            <a:off x="604459" y="724635"/>
            <a:ext cx="4020881" cy="3115110"/>
          </a:xfrm>
          <a:prstGeom prst="rect">
            <a:avLst/>
          </a:prstGeom>
        </p:spPr>
      </p:pic>
      <p:pic>
        <p:nvPicPr>
          <p:cNvPr id="6" name="Picture 5">
            <a:extLst>
              <a:ext uri="{FF2B5EF4-FFF2-40B4-BE49-F238E27FC236}">
                <a16:creationId xmlns:a16="http://schemas.microsoft.com/office/drawing/2014/main" id="{331D60CC-F710-422B-5149-F50E600D178B}"/>
              </a:ext>
            </a:extLst>
          </p:cNvPr>
          <p:cNvPicPr>
            <a:picLocks noChangeAspect="1"/>
          </p:cNvPicPr>
          <p:nvPr/>
        </p:nvPicPr>
        <p:blipFill>
          <a:blip r:embed="rId3"/>
          <a:stretch>
            <a:fillRect/>
          </a:stretch>
        </p:blipFill>
        <p:spPr>
          <a:xfrm>
            <a:off x="4625339" y="724636"/>
            <a:ext cx="3914201" cy="3115110"/>
          </a:xfrm>
          <a:prstGeom prst="rect">
            <a:avLst/>
          </a:prstGeom>
        </p:spPr>
      </p:pic>
    </p:spTree>
    <p:extLst>
      <p:ext uri="{BB962C8B-B14F-4D97-AF65-F5344CB8AC3E}">
        <p14:creationId xmlns:p14="http://schemas.microsoft.com/office/powerpoint/2010/main" val="3834180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6E6576-0653-FD7F-DC62-0C70FAA9E23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pic>
        <p:nvPicPr>
          <p:cNvPr id="4" name="Picture 3">
            <a:extLst>
              <a:ext uri="{FF2B5EF4-FFF2-40B4-BE49-F238E27FC236}">
                <a16:creationId xmlns:a16="http://schemas.microsoft.com/office/drawing/2014/main" id="{F44ADAF2-FB2C-8A79-639D-708E2C863695}"/>
              </a:ext>
            </a:extLst>
          </p:cNvPr>
          <p:cNvPicPr>
            <a:picLocks noChangeAspect="1"/>
          </p:cNvPicPr>
          <p:nvPr/>
        </p:nvPicPr>
        <p:blipFill>
          <a:blip r:embed="rId2"/>
          <a:stretch>
            <a:fillRect/>
          </a:stretch>
        </p:blipFill>
        <p:spPr>
          <a:xfrm>
            <a:off x="523868" y="929268"/>
            <a:ext cx="7757771" cy="3652257"/>
          </a:xfrm>
          <a:prstGeom prst="rect">
            <a:avLst/>
          </a:prstGeom>
        </p:spPr>
      </p:pic>
      <p:sp>
        <p:nvSpPr>
          <p:cNvPr id="5" name="TextBox 4">
            <a:extLst>
              <a:ext uri="{FF2B5EF4-FFF2-40B4-BE49-F238E27FC236}">
                <a16:creationId xmlns:a16="http://schemas.microsoft.com/office/drawing/2014/main" id="{3D06DF7F-9586-9311-F444-49F5C89E0DC0}"/>
              </a:ext>
            </a:extLst>
          </p:cNvPr>
          <p:cNvSpPr txBox="1"/>
          <p:nvPr/>
        </p:nvSpPr>
        <p:spPr>
          <a:xfrm>
            <a:off x="788020" y="483220"/>
            <a:ext cx="3085170" cy="338554"/>
          </a:xfrm>
          <a:prstGeom prst="rect">
            <a:avLst/>
          </a:prstGeom>
          <a:noFill/>
        </p:spPr>
        <p:txBody>
          <a:bodyPr wrap="square" rtlCol="0">
            <a:spAutoFit/>
          </a:bodyPr>
          <a:lstStyle/>
          <a:p>
            <a:r>
              <a:rPr lang="en-IN" sz="1600" b="1" dirty="0"/>
              <a:t>Arduino Uno Platform</a:t>
            </a:r>
          </a:p>
        </p:txBody>
      </p:sp>
    </p:spTree>
    <p:extLst>
      <p:ext uri="{BB962C8B-B14F-4D97-AF65-F5344CB8AC3E}">
        <p14:creationId xmlns:p14="http://schemas.microsoft.com/office/powerpoint/2010/main" val="309740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75"/>
        <p:cNvGrpSpPr/>
        <p:nvPr/>
      </p:nvGrpSpPr>
      <p:grpSpPr>
        <a:xfrm>
          <a:off x="0" y="0"/>
          <a:ext cx="0" cy="0"/>
          <a:chOff x="0" y="0"/>
          <a:chExt cx="0" cy="0"/>
        </a:xfrm>
      </p:grpSpPr>
      <p:sp>
        <p:nvSpPr>
          <p:cNvPr id="6" name="TextBox 5">
            <a:extLst>
              <a:ext uri="{FF2B5EF4-FFF2-40B4-BE49-F238E27FC236}">
                <a16:creationId xmlns:a16="http://schemas.microsoft.com/office/drawing/2014/main" id="{241DDE12-4950-6A20-32BA-F1141B5657A1}"/>
              </a:ext>
            </a:extLst>
          </p:cNvPr>
          <p:cNvSpPr txBox="1"/>
          <p:nvPr/>
        </p:nvSpPr>
        <p:spPr>
          <a:xfrm>
            <a:off x="3204117" y="489906"/>
            <a:ext cx="2527610" cy="461665"/>
          </a:xfrm>
          <a:prstGeom prst="rect">
            <a:avLst/>
          </a:prstGeom>
          <a:noFill/>
        </p:spPr>
        <p:txBody>
          <a:bodyPr wrap="square" rtlCol="0">
            <a:spAutoFit/>
          </a:bodyPr>
          <a:lstStyle/>
          <a:p>
            <a:pPr algn="ctr"/>
            <a:r>
              <a:rPr lang="en-IN" sz="2400" b="1" dirty="0"/>
              <a:t>Conclusion</a:t>
            </a:r>
          </a:p>
        </p:txBody>
      </p:sp>
      <p:sp>
        <p:nvSpPr>
          <p:cNvPr id="7" name="TextBox 6">
            <a:extLst>
              <a:ext uri="{FF2B5EF4-FFF2-40B4-BE49-F238E27FC236}">
                <a16:creationId xmlns:a16="http://schemas.microsoft.com/office/drawing/2014/main" id="{6F0F09DA-10C4-69EF-843F-009ADC11F067}"/>
              </a:ext>
            </a:extLst>
          </p:cNvPr>
          <p:cNvSpPr txBox="1"/>
          <p:nvPr/>
        </p:nvSpPr>
        <p:spPr>
          <a:xfrm>
            <a:off x="1354177" y="1234834"/>
            <a:ext cx="6088566" cy="1600438"/>
          </a:xfrm>
          <a:prstGeom prst="rect">
            <a:avLst/>
          </a:prstGeom>
          <a:noFill/>
        </p:spPr>
        <p:txBody>
          <a:bodyPr wrap="square" rtlCol="0">
            <a:spAutoFit/>
          </a:bodyPr>
          <a:lstStyle/>
          <a:p>
            <a:r>
              <a:rPr lang="en-US" dirty="0"/>
              <a:t>This project demonstrates the potential of IoT in creating energy-aware, smart home environments. By combining automation with real-time energy tracking, it empowers users to make informed decisions about their energy consumption, paving the way for a more sustainable future. The flexibility and accessibility of the system ensure that it caters to the diverse needs of modern households, providing a robust foundation for future innovations in home automation.</a:t>
            </a:r>
          </a:p>
        </p:txBody>
      </p:sp>
      <p:sp>
        <p:nvSpPr>
          <p:cNvPr id="9" name="Google Shape;4493;p43">
            <a:extLst>
              <a:ext uri="{FF2B5EF4-FFF2-40B4-BE49-F238E27FC236}">
                <a16:creationId xmlns:a16="http://schemas.microsoft.com/office/drawing/2014/main" id="{0843E1F0-D698-40C6-7C81-E6ACEF6B705B}"/>
              </a:ext>
            </a:extLst>
          </p:cNvPr>
          <p:cNvSpPr/>
          <p:nvPr/>
        </p:nvSpPr>
        <p:spPr>
          <a:xfrm>
            <a:off x="6087174" y="1234834"/>
            <a:ext cx="2888400" cy="2888400"/>
          </a:xfrm>
          <a:prstGeom prst="arc">
            <a:avLst>
              <a:gd name="adj1" fmla="val 16200000"/>
              <a:gd name="adj2" fmla="val 18278883"/>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5675;p60">
            <a:extLst>
              <a:ext uri="{FF2B5EF4-FFF2-40B4-BE49-F238E27FC236}">
                <a16:creationId xmlns:a16="http://schemas.microsoft.com/office/drawing/2014/main" id="{385970B7-7AE7-D94E-2DCC-DBD49EFB7D1A}"/>
              </a:ext>
            </a:extLst>
          </p:cNvPr>
          <p:cNvGrpSpPr/>
          <p:nvPr/>
        </p:nvGrpSpPr>
        <p:grpSpPr>
          <a:xfrm>
            <a:off x="7742811" y="1358872"/>
            <a:ext cx="319944" cy="369902"/>
            <a:chOff x="5357337" y="3921445"/>
            <a:chExt cx="319944" cy="369902"/>
          </a:xfrm>
        </p:grpSpPr>
        <p:sp>
          <p:nvSpPr>
            <p:cNvPr id="12" name="Google Shape;5676;p60">
              <a:extLst>
                <a:ext uri="{FF2B5EF4-FFF2-40B4-BE49-F238E27FC236}">
                  <a16:creationId xmlns:a16="http://schemas.microsoft.com/office/drawing/2014/main" id="{9AF457CF-FC30-A8C3-A9C0-1982E66AC12A}"/>
                </a:ext>
              </a:extLst>
            </p:cNvPr>
            <p:cNvSpPr/>
            <p:nvPr/>
          </p:nvSpPr>
          <p:spPr>
            <a:xfrm>
              <a:off x="5357337" y="3921445"/>
              <a:ext cx="319944" cy="369902"/>
            </a:xfrm>
            <a:custGeom>
              <a:avLst/>
              <a:gdLst/>
              <a:ahLst/>
              <a:cxnLst/>
              <a:rect l="l" t="t" r="r" b="b"/>
              <a:pathLst>
                <a:path w="11515" h="13313" extrusionOk="0">
                  <a:moveTo>
                    <a:pt x="8919" y="8633"/>
                  </a:moveTo>
                  <a:cubicBezTo>
                    <a:pt x="10062" y="8633"/>
                    <a:pt x="10978" y="9574"/>
                    <a:pt x="10978" y="10705"/>
                  </a:cubicBezTo>
                  <a:cubicBezTo>
                    <a:pt x="11002" y="11836"/>
                    <a:pt x="10062" y="12776"/>
                    <a:pt x="8919" y="12776"/>
                  </a:cubicBezTo>
                  <a:cubicBezTo>
                    <a:pt x="7764" y="12776"/>
                    <a:pt x="6847" y="11836"/>
                    <a:pt x="6847" y="10705"/>
                  </a:cubicBezTo>
                  <a:cubicBezTo>
                    <a:pt x="6847" y="9562"/>
                    <a:pt x="7788" y="8633"/>
                    <a:pt x="8919" y="8633"/>
                  </a:cubicBezTo>
                  <a:close/>
                  <a:moveTo>
                    <a:pt x="5764" y="1"/>
                  </a:moveTo>
                  <a:cubicBezTo>
                    <a:pt x="4394" y="1"/>
                    <a:pt x="3061" y="501"/>
                    <a:pt x="2013" y="1394"/>
                  </a:cubicBezTo>
                  <a:cubicBezTo>
                    <a:pt x="1906" y="1477"/>
                    <a:pt x="1894" y="1644"/>
                    <a:pt x="1977" y="1763"/>
                  </a:cubicBezTo>
                  <a:cubicBezTo>
                    <a:pt x="2023" y="1821"/>
                    <a:pt x="2093" y="1851"/>
                    <a:pt x="2166" y="1851"/>
                  </a:cubicBezTo>
                  <a:cubicBezTo>
                    <a:pt x="2228" y="1851"/>
                    <a:pt x="2292" y="1830"/>
                    <a:pt x="2346" y="1787"/>
                  </a:cubicBezTo>
                  <a:cubicBezTo>
                    <a:pt x="3299" y="989"/>
                    <a:pt x="4513" y="537"/>
                    <a:pt x="5764" y="537"/>
                  </a:cubicBezTo>
                  <a:cubicBezTo>
                    <a:pt x="8645" y="537"/>
                    <a:pt x="11002" y="2894"/>
                    <a:pt x="11002" y="5775"/>
                  </a:cubicBezTo>
                  <a:cubicBezTo>
                    <a:pt x="11002" y="6728"/>
                    <a:pt x="10740" y="7669"/>
                    <a:pt x="10252" y="8490"/>
                  </a:cubicBezTo>
                  <a:cubicBezTo>
                    <a:pt x="9871" y="8252"/>
                    <a:pt x="9407" y="8121"/>
                    <a:pt x="8931" y="8121"/>
                  </a:cubicBezTo>
                  <a:cubicBezTo>
                    <a:pt x="7692" y="8121"/>
                    <a:pt x="6657" y="8978"/>
                    <a:pt x="6395" y="10145"/>
                  </a:cubicBezTo>
                  <a:cubicBezTo>
                    <a:pt x="6192" y="10169"/>
                    <a:pt x="5978" y="10181"/>
                    <a:pt x="5764" y="10181"/>
                  </a:cubicBezTo>
                  <a:cubicBezTo>
                    <a:pt x="3335" y="10181"/>
                    <a:pt x="1358" y="8204"/>
                    <a:pt x="1358" y="5775"/>
                  </a:cubicBezTo>
                  <a:cubicBezTo>
                    <a:pt x="1358" y="3359"/>
                    <a:pt x="3335" y="1370"/>
                    <a:pt x="5764" y="1370"/>
                  </a:cubicBezTo>
                  <a:cubicBezTo>
                    <a:pt x="8181" y="1370"/>
                    <a:pt x="10169" y="3359"/>
                    <a:pt x="10169" y="5775"/>
                  </a:cubicBezTo>
                  <a:cubicBezTo>
                    <a:pt x="10169" y="6073"/>
                    <a:pt x="10133" y="6395"/>
                    <a:pt x="10074" y="6692"/>
                  </a:cubicBezTo>
                  <a:cubicBezTo>
                    <a:pt x="10050" y="6823"/>
                    <a:pt x="10133" y="6966"/>
                    <a:pt x="10264" y="7002"/>
                  </a:cubicBezTo>
                  <a:cubicBezTo>
                    <a:pt x="10280" y="7005"/>
                    <a:pt x="10297" y="7006"/>
                    <a:pt x="10313" y="7006"/>
                  </a:cubicBezTo>
                  <a:cubicBezTo>
                    <a:pt x="10438" y="7006"/>
                    <a:pt x="10553" y="6927"/>
                    <a:pt x="10574" y="6811"/>
                  </a:cubicBezTo>
                  <a:cubicBezTo>
                    <a:pt x="10657" y="6478"/>
                    <a:pt x="10681" y="6133"/>
                    <a:pt x="10681" y="5799"/>
                  </a:cubicBezTo>
                  <a:cubicBezTo>
                    <a:pt x="10681" y="3073"/>
                    <a:pt x="8466" y="870"/>
                    <a:pt x="5764" y="870"/>
                  </a:cubicBezTo>
                  <a:cubicBezTo>
                    <a:pt x="3037" y="870"/>
                    <a:pt x="834" y="3085"/>
                    <a:pt x="834" y="5799"/>
                  </a:cubicBezTo>
                  <a:cubicBezTo>
                    <a:pt x="834" y="8502"/>
                    <a:pt x="3049" y="10717"/>
                    <a:pt x="5764" y="10717"/>
                  </a:cubicBezTo>
                  <a:cubicBezTo>
                    <a:pt x="5954" y="10717"/>
                    <a:pt x="6145" y="10705"/>
                    <a:pt x="6323" y="10693"/>
                  </a:cubicBezTo>
                  <a:lnTo>
                    <a:pt x="6323" y="10717"/>
                  </a:lnTo>
                  <a:cubicBezTo>
                    <a:pt x="6323" y="10812"/>
                    <a:pt x="6323" y="10919"/>
                    <a:pt x="6335" y="11002"/>
                  </a:cubicBezTo>
                  <a:cubicBezTo>
                    <a:pt x="6145" y="11014"/>
                    <a:pt x="5954" y="11038"/>
                    <a:pt x="5752" y="11038"/>
                  </a:cubicBezTo>
                  <a:cubicBezTo>
                    <a:pt x="2870" y="11038"/>
                    <a:pt x="513" y="8681"/>
                    <a:pt x="513" y="5799"/>
                  </a:cubicBezTo>
                  <a:cubicBezTo>
                    <a:pt x="513" y="4871"/>
                    <a:pt x="751" y="3966"/>
                    <a:pt x="1215" y="3180"/>
                  </a:cubicBezTo>
                  <a:cubicBezTo>
                    <a:pt x="1287" y="3061"/>
                    <a:pt x="1251" y="2894"/>
                    <a:pt x="1132" y="2823"/>
                  </a:cubicBezTo>
                  <a:cubicBezTo>
                    <a:pt x="1091" y="2794"/>
                    <a:pt x="1044" y="2781"/>
                    <a:pt x="998" y="2781"/>
                  </a:cubicBezTo>
                  <a:cubicBezTo>
                    <a:pt x="909" y="2781"/>
                    <a:pt x="822" y="2828"/>
                    <a:pt x="775" y="2906"/>
                  </a:cubicBezTo>
                  <a:cubicBezTo>
                    <a:pt x="263" y="3787"/>
                    <a:pt x="1" y="4787"/>
                    <a:pt x="1" y="5799"/>
                  </a:cubicBezTo>
                  <a:cubicBezTo>
                    <a:pt x="1" y="7323"/>
                    <a:pt x="596" y="8788"/>
                    <a:pt x="1680" y="9871"/>
                  </a:cubicBezTo>
                  <a:cubicBezTo>
                    <a:pt x="2763" y="10955"/>
                    <a:pt x="4204" y="11550"/>
                    <a:pt x="5752" y="11550"/>
                  </a:cubicBezTo>
                  <a:cubicBezTo>
                    <a:pt x="5990" y="11550"/>
                    <a:pt x="6216" y="11538"/>
                    <a:pt x="6454" y="11514"/>
                  </a:cubicBezTo>
                  <a:cubicBezTo>
                    <a:pt x="6787" y="12550"/>
                    <a:pt x="7764" y="13312"/>
                    <a:pt x="8931" y="13312"/>
                  </a:cubicBezTo>
                  <a:cubicBezTo>
                    <a:pt x="10359" y="13312"/>
                    <a:pt x="11514" y="12145"/>
                    <a:pt x="11514" y="10717"/>
                  </a:cubicBezTo>
                  <a:cubicBezTo>
                    <a:pt x="11514" y="9931"/>
                    <a:pt x="11193" y="9252"/>
                    <a:pt x="10669" y="8776"/>
                  </a:cubicBezTo>
                  <a:cubicBezTo>
                    <a:pt x="11217" y="7859"/>
                    <a:pt x="11514" y="6835"/>
                    <a:pt x="11514" y="5764"/>
                  </a:cubicBezTo>
                  <a:cubicBezTo>
                    <a:pt x="11514" y="4228"/>
                    <a:pt x="10919" y="2775"/>
                    <a:pt x="9835" y="1692"/>
                  </a:cubicBezTo>
                  <a:cubicBezTo>
                    <a:pt x="8752" y="596"/>
                    <a:pt x="7311" y="1"/>
                    <a:pt x="5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77;p60">
              <a:extLst>
                <a:ext uri="{FF2B5EF4-FFF2-40B4-BE49-F238E27FC236}">
                  <a16:creationId xmlns:a16="http://schemas.microsoft.com/office/drawing/2014/main" id="{596DE4BB-7386-9CFD-6241-A620FFE50576}"/>
                </a:ext>
              </a:extLst>
            </p:cNvPr>
            <p:cNvSpPr/>
            <p:nvPr/>
          </p:nvSpPr>
          <p:spPr>
            <a:xfrm>
              <a:off x="5387789" y="3981266"/>
              <a:ext cx="16560" cy="14309"/>
            </a:xfrm>
            <a:custGeom>
              <a:avLst/>
              <a:gdLst/>
              <a:ahLst/>
              <a:cxnLst/>
              <a:rect l="l" t="t" r="r" b="b"/>
              <a:pathLst>
                <a:path w="596" h="515" extrusionOk="0">
                  <a:moveTo>
                    <a:pt x="305" y="1"/>
                  </a:moveTo>
                  <a:cubicBezTo>
                    <a:pt x="226" y="1"/>
                    <a:pt x="150" y="35"/>
                    <a:pt x="107" y="98"/>
                  </a:cubicBezTo>
                  <a:cubicBezTo>
                    <a:pt x="0" y="205"/>
                    <a:pt x="36" y="372"/>
                    <a:pt x="143" y="455"/>
                  </a:cubicBezTo>
                  <a:cubicBezTo>
                    <a:pt x="179" y="491"/>
                    <a:pt x="238" y="515"/>
                    <a:pt x="298" y="515"/>
                  </a:cubicBezTo>
                  <a:cubicBezTo>
                    <a:pt x="369" y="515"/>
                    <a:pt x="453" y="491"/>
                    <a:pt x="512" y="408"/>
                  </a:cubicBezTo>
                  <a:cubicBezTo>
                    <a:pt x="596" y="289"/>
                    <a:pt x="572" y="134"/>
                    <a:pt x="465" y="51"/>
                  </a:cubicBezTo>
                  <a:cubicBezTo>
                    <a:pt x="416" y="17"/>
                    <a:pt x="360"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78;p60">
              <a:extLst>
                <a:ext uri="{FF2B5EF4-FFF2-40B4-BE49-F238E27FC236}">
                  <a16:creationId xmlns:a16="http://schemas.microsoft.com/office/drawing/2014/main" id="{42B153B0-19AC-69AB-BCC1-99A25A69D0FD}"/>
                </a:ext>
              </a:extLst>
            </p:cNvPr>
            <p:cNvSpPr/>
            <p:nvPr/>
          </p:nvSpPr>
          <p:spPr>
            <a:xfrm>
              <a:off x="5630269" y="4120497"/>
              <a:ext cx="16226" cy="14031"/>
            </a:xfrm>
            <a:custGeom>
              <a:avLst/>
              <a:gdLst/>
              <a:ahLst/>
              <a:cxnLst/>
              <a:rect l="l" t="t" r="r" b="b"/>
              <a:pathLst>
                <a:path w="584" h="505" extrusionOk="0">
                  <a:moveTo>
                    <a:pt x="289" y="0"/>
                  </a:moveTo>
                  <a:cubicBezTo>
                    <a:pt x="185" y="0"/>
                    <a:pt x="85" y="59"/>
                    <a:pt x="48" y="159"/>
                  </a:cubicBezTo>
                  <a:cubicBezTo>
                    <a:pt x="1" y="302"/>
                    <a:pt x="60" y="445"/>
                    <a:pt x="191" y="493"/>
                  </a:cubicBezTo>
                  <a:cubicBezTo>
                    <a:pt x="227" y="505"/>
                    <a:pt x="251" y="505"/>
                    <a:pt x="274" y="505"/>
                  </a:cubicBezTo>
                  <a:cubicBezTo>
                    <a:pt x="382" y="505"/>
                    <a:pt x="489" y="445"/>
                    <a:pt x="513" y="338"/>
                  </a:cubicBezTo>
                  <a:cubicBezTo>
                    <a:pt x="584" y="219"/>
                    <a:pt x="524" y="76"/>
                    <a:pt x="382" y="16"/>
                  </a:cubicBezTo>
                  <a:cubicBezTo>
                    <a:pt x="351" y="5"/>
                    <a:pt x="320" y="0"/>
                    <a:pt x="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79;p60">
              <a:extLst>
                <a:ext uri="{FF2B5EF4-FFF2-40B4-BE49-F238E27FC236}">
                  <a16:creationId xmlns:a16="http://schemas.microsoft.com/office/drawing/2014/main" id="{E05EA0C1-AB90-76DA-A319-54E8E8DF5207}"/>
                </a:ext>
              </a:extLst>
            </p:cNvPr>
            <p:cNvSpPr/>
            <p:nvPr/>
          </p:nvSpPr>
          <p:spPr>
            <a:xfrm>
              <a:off x="5597177" y="4243668"/>
              <a:ext cx="15587" cy="14587"/>
            </a:xfrm>
            <a:custGeom>
              <a:avLst/>
              <a:gdLst/>
              <a:ahLst/>
              <a:cxnLst/>
              <a:rect l="l" t="t" r="r" b="b"/>
              <a:pathLst>
                <a:path w="561" h="525" extrusionOk="0">
                  <a:moveTo>
                    <a:pt x="288" y="1"/>
                  </a:moveTo>
                  <a:cubicBezTo>
                    <a:pt x="221" y="1"/>
                    <a:pt x="156" y="24"/>
                    <a:pt x="108" y="72"/>
                  </a:cubicBezTo>
                  <a:cubicBezTo>
                    <a:pt x="1" y="179"/>
                    <a:pt x="1" y="346"/>
                    <a:pt x="108" y="453"/>
                  </a:cubicBezTo>
                  <a:cubicBezTo>
                    <a:pt x="156" y="501"/>
                    <a:pt x="221" y="525"/>
                    <a:pt x="288" y="525"/>
                  </a:cubicBezTo>
                  <a:cubicBezTo>
                    <a:pt x="355" y="525"/>
                    <a:pt x="424" y="501"/>
                    <a:pt x="477" y="453"/>
                  </a:cubicBezTo>
                  <a:cubicBezTo>
                    <a:pt x="561" y="346"/>
                    <a:pt x="561" y="179"/>
                    <a:pt x="477" y="72"/>
                  </a:cubicBezTo>
                  <a:cubicBezTo>
                    <a:pt x="424" y="24"/>
                    <a:pt x="355" y="1"/>
                    <a:pt x="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80;p60">
              <a:extLst>
                <a:ext uri="{FF2B5EF4-FFF2-40B4-BE49-F238E27FC236}">
                  <a16:creationId xmlns:a16="http://schemas.microsoft.com/office/drawing/2014/main" id="{13485D09-32D3-93D7-E587-07425B62B35F}"/>
                </a:ext>
              </a:extLst>
            </p:cNvPr>
            <p:cNvSpPr/>
            <p:nvPr/>
          </p:nvSpPr>
          <p:spPr>
            <a:xfrm>
              <a:off x="5556166" y="4186097"/>
              <a:ext cx="97609" cy="31703"/>
            </a:xfrm>
            <a:custGeom>
              <a:avLst/>
              <a:gdLst/>
              <a:ahLst/>
              <a:cxnLst/>
              <a:rect l="l" t="t" r="r" b="b"/>
              <a:pathLst>
                <a:path w="3513" h="1141" extrusionOk="0">
                  <a:moveTo>
                    <a:pt x="1763" y="1"/>
                  </a:moveTo>
                  <a:cubicBezTo>
                    <a:pt x="1132" y="1"/>
                    <a:pt x="548" y="239"/>
                    <a:pt x="108" y="692"/>
                  </a:cubicBezTo>
                  <a:cubicBezTo>
                    <a:pt x="1" y="799"/>
                    <a:pt x="1" y="953"/>
                    <a:pt x="108" y="1061"/>
                  </a:cubicBezTo>
                  <a:cubicBezTo>
                    <a:pt x="161" y="1114"/>
                    <a:pt x="227" y="1141"/>
                    <a:pt x="292" y="1141"/>
                  </a:cubicBezTo>
                  <a:cubicBezTo>
                    <a:pt x="358" y="1141"/>
                    <a:pt x="423" y="1114"/>
                    <a:pt x="477" y="1061"/>
                  </a:cubicBezTo>
                  <a:cubicBezTo>
                    <a:pt x="822" y="715"/>
                    <a:pt x="1286" y="525"/>
                    <a:pt x="1763" y="525"/>
                  </a:cubicBezTo>
                  <a:cubicBezTo>
                    <a:pt x="2227" y="525"/>
                    <a:pt x="2691" y="715"/>
                    <a:pt x="3037" y="1061"/>
                  </a:cubicBezTo>
                  <a:cubicBezTo>
                    <a:pt x="3084" y="1108"/>
                    <a:pt x="3156" y="1132"/>
                    <a:pt x="3215" y="1132"/>
                  </a:cubicBezTo>
                  <a:cubicBezTo>
                    <a:pt x="3275" y="1132"/>
                    <a:pt x="3346" y="1108"/>
                    <a:pt x="3394" y="1061"/>
                  </a:cubicBezTo>
                  <a:cubicBezTo>
                    <a:pt x="3513" y="942"/>
                    <a:pt x="3513" y="775"/>
                    <a:pt x="3406" y="692"/>
                  </a:cubicBezTo>
                  <a:cubicBezTo>
                    <a:pt x="2965" y="239"/>
                    <a:pt x="2382" y="1"/>
                    <a:pt x="1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681;p60">
              <a:extLst>
                <a:ext uri="{FF2B5EF4-FFF2-40B4-BE49-F238E27FC236}">
                  <a16:creationId xmlns:a16="http://schemas.microsoft.com/office/drawing/2014/main" id="{56BB27C4-45F6-B0CB-7347-D71CB43422C4}"/>
                </a:ext>
              </a:extLst>
            </p:cNvPr>
            <p:cNvSpPr/>
            <p:nvPr/>
          </p:nvSpPr>
          <p:spPr>
            <a:xfrm>
              <a:off x="5576672" y="4215049"/>
              <a:ext cx="56931" cy="23034"/>
            </a:xfrm>
            <a:custGeom>
              <a:avLst/>
              <a:gdLst/>
              <a:ahLst/>
              <a:cxnLst/>
              <a:rect l="l" t="t" r="r" b="b"/>
              <a:pathLst>
                <a:path w="2049" h="829" extrusionOk="0">
                  <a:moveTo>
                    <a:pt x="1029" y="1"/>
                  </a:moveTo>
                  <a:cubicBezTo>
                    <a:pt x="697" y="1"/>
                    <a:pt x="364" y="126"/>
                    <a:pt x="108" y="376"/>
                  </a:cubicBezTo>
                  <a:cubicBezTo>
                    <a:pt x="1" y="483"/>
                    <a:pt x="1" y="650"/>
                    <a:pt x="108" y="745"/>
                  </a:cubicBezTo>
                  <a:cubicBezTo>
                    <a:pt x="161" y="798"/>
                    <a:pt x="230" y="825"/>
                    <a:pt x="298" y="825"/>
                  </a:cubicBezTo>
                  <a:cubicBezTo>
                    <a:pt x="367" y="825"/>
                    <a:pt x="435" y="798"/>
                    <a:pt x="489" y="745"/>
                  </a:cubicBezTo>
                  <a:cubicBezTo>
                    <a:pt x="638" y="596"/>
                    <a:pt x="837" y="522"/>
                    <a:pt x="1037" y="522"/>
                  </a:cubicBezTo>
                  <a:cubicBezTo>
                    <a:pt x="1236" y="522"/>
                    <a:pt x="1435" y="596"/>
                    <a:pt x="1584" y="745"/>
                  </a:cubicBezTo>
                  <a:cubicBezTo>
                    <a:pt x="1632" y="793"/>
                    <a:pt x="1703" y="828"/>
                    <a:pt x="1763" y="828"/>
                  </a:cubicBezTo>
                  <a:cubicBezTo>
                    <a:pt x="1822" y="828"/>
                    <a:pt x="1894" y="793"/>
                    <a:pt x="1941" y="745"/>
                  </a:cubicBezTo>
                  <a:cubicBezTo>
                    <a:pt x="2049" y="650"/>
                    <a:pt x="2049" y="483"/>
                    <a:pt x="1941" y="376"/>
                  </a:cubicBezTo>
                  <a:cubicBezTo>
                    <a:pt x="1691" y="126"/>
                    <a:pt x="1361"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682;p60">
              <a:extLst>
                <a:ext uri="{FF2B5EF4-FFF2-40B4-BE49-F238E27FC236}">
                  <a16:creationId xmlns:a16="http://schemas.microsoft.com/office/drawing/2014/main" id="{07B04729-ED17-5435-803E-F173BD391CA9}"/>
                </a:ext>
              </a:extLst>
            </p:cNvPr>
            <p:cNvSpPr/>
            <p:nvPr/>
          </p:nvSpPr>
          <p:spPr>
            <a:xfrm>
              <a:off x="5459558" y="4002272"/>
              <a:ext cx="115836" cy="158736"/>
            </a:xfrm>
            <a:custGeom>
              <a:avLst/>
              <a:gdLst/>
              <a:ahLst/>
              <a:cxnLst/>
              <a:rect l="l" t="t" r="r" b="b"/>
              <a:pathLst>
                <a:path w="4169" h="5713" extrusionOk="0">
                  <a:moveTo>
                    <a:pt x="2061" y="652"/>
                  </a:moveTo>
                  <a:cubicBezTo>
                    <a:pt x="2858" y="1521"/>
                    <a:pt x="3620" y="2676"/>
                    <a:pt x="3620" y="3545"/>
                  </a:cubicBezTo>
                  <a:cubicBezTo>
                    <a:pt x="3620" y="3986"/>
                    <a:pt x="3466" y="4402"/>
                    <a:pt x="3168" y="4712"/>
                  </a:cubicBezTo>
                  <a:cubicBezTo>
                    <a:pt x="2870" y="5033"/>
                    <a:pt x="2477" y="5188"/>
                    <a:pt x="2061" y="5188"/>
                  </a:cubicBezTo>
                  <a:cubicBezTo>
                    <a:pt x="1644" y="5188"/>
                    <a:pt x="1263" y="5033"/>
                    <a:pt x="965" y="4736"/>
                  </a:cubicBezTo>
                  <a:cubicBezTo>
                    <a:pt x="668" y="4414"/>
                    <a:pt x="501" y="3998"/>
                    <a:pt x="501" y="3557"/>
                  </a:cubicBezTo>
                  <a:cubicBezTo>
                    <a:pt x="501" y="2736"/>
                    <a:pt x="1263" y="1557"/>
                    <a:pt x="2061" y="652"/>
                  </a:cubicBezTo>
                  <a:close/>
                  <a:moveTo>
                    <a:pt x="2078" y="0"/>
                  </a:moveTo>
                  <a:cubicBezTo>
                    <a:pt x="2039" y="0"/>
                    <a:pt x="2000" y="11"/>
                    <a:pt x="1965" y="33"/>
                  </a:cubicBezTo>
                  <a:cubicBezTo>
                    <a:pt x="1930" y="45"/>
                    <a:pt x="1906" y="57"/>
                    <a:pt x="1882" y="92"/>
                  </a:cubicBezTo>
                  <a:cubicBezTo>
                    <a:pt x="1561" y="426"/>
                    <a:pt x="1" y="2140"/>
                    <a:pt x="1" y="3545"/>
                  </a:cubicBezTo>
                  <a:cubicBezTo>
                    <a:pt x="1" y="4140"/>
                    <a:pt x="203" y="4676"/>
                    <a:pt x="608" y="5093"/>
                  </a:cubicBezTo>
                  <a:cubicBezTo>
                    <a:pt x="989" y="5486"/>
                    <a:pt x="1513" y="5712"/>
                    <a:pt x="2085" y="5712"/>
                  </a:cubicBezTo>
                  <a:cubicBezTo>
                    <a:pt x="2632" y="5712"/>
                    <a:pt x="3168" y="5486"/>
                    <a:pt x="3549" y="5069"/>
                  </a:cubicBezTo>
                  <a:cubicBezTo>
                    <a:pt x="3942" y="4676"/>
                    <a:pt x="4168" y="4117"/>
                    <a:pt x="4168" y="3545"/>
                  </a:cubicBezTo>
                  <a:cubicBezTo>
                    <a:pt x="4168" y="2176"/>
                    <a:pt x="2716" y="545"/>
                    <a:pt x="2275" y="92"/>
                  </a:cubicBezTo>
                  <a:cubicBezTo>
                    <a:pt x="2215" y="32"/>
                    <a:pt x="2145" y="0"/>
                    <a:pt x="20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 name="Straight Connector 4">
            <a:extLst>
              <a:ext uri="{FF2B5EF4-FFF2-40B4-BE49-F238E27FC236}">
                <a16:creationId xmlns:a16="http://schemas.microsoft.com/office/drawing/2014/main" id="{E776565E-1C18-BD4C-7A42-A3CB993797EC}"/>
              </a:ext>
            </a:extLst>
          </p:cNvPr>
          <p:cNvCxnSpPr/>
          <p:nvPr/>
        </p:nvCxnSpPr>
        <p:spPr>
          <a:xfrm>
            <a:off x="1390185" y="1018478"/>
            <a:ext cx="6802244"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75">
          <a:extLst>
            <a:ext uri="{FF2B5EF4-FFF2-40B4-BE49-F238E27FC236}">
              <a16:creationId xmlns:a16="http://schemas.microsoft.com/office/drawing/2014/main" id="{7E01F3AC-9124-64EF-9D04-0FE69D777D7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C4BE4C9-5B06-E2D4-FBF2-62FF834F4268}"/>
              </a:ext>
            </a:extLst>
          </p:cNvPr>
          <p:cNvSpPr txBox="1"/>
          <p:nvPr/>
        </p:nvSpPr>
        <p:spPr>
          <a:xfrm>
            <a:off x="3204117" y="489906"/>
            <a:ext cx="2527610" cy="461665"/>
          </a:xfrm>
          <a:prstGeom prst="rect">
            <a:avLst/>
          </a:prstGeom>
          <a:noFill/>
        </p:spPr>
        <p:txBody>
          <a:bodyPr wrap="square" rtlCol="0">
            <a:spAutoFit/>
          </a:bodyPr>
          <a:lstStyle/>
          <a:p>
            <a:pPr algn="ctr"/>
            <a:r>
              <a:rPr lang="en-IN" sz="2400" b="1" dirty="0"/>
              <a:t>Future Scope</a:t>
            </a:r>
          </a:p>
        </p:txBody>
      </p:sp>
      <p:sp>
        <p:nvSpPr>
          <p:cNvPr id="7" name="TextBox 6">
            <a:extLst>
              <a:ext uri="{FF2B5EF4-FFF2-40B4-BE49-F238E27FC236}">
                <a16:creationId xmlns:a16="http://schemas.microsoft.com/office/drawing/2014/main" id="{6E31C80C-CFAB-20D2-A9D3-C0912289DF25}"/>
              </a:ext>
            </a:extLst>
          </p:cNvPr>
          <p:cNvSpPr txBox="1"/>
          <p:nvPr/>
        </p:nvSpPr>
        <p:spPr>
          <a:xfrm>
            <a:off x="1354177" y="1130757"/>
            <a:ext cx="6088566" cy="3754874"/>
          </a:xfrm>
          <a:prstGeom prst="rect">
            <a:avLst/>
          </a:prstGeom>
          <a:noFill/>
        </p:spPr>
        <p:txBody>
          <a:bodyPr wrap="square" rtlCol="0">
            <a:spAutoFit/>
          </a:bodyPr>
          <a:lstStyle/>
          <a:p>
            <a:r>
              <a:rPr lang="en-IN" sz="1400" dirty="0"/>
              <a:t>To enhance system capabilities and meet evolving smart home standards, the following improvements are proposed:</a:t>
            </a:r>
          </a:p>
          <a:p>
            <a:endParaRPr lang="en-IN" sz="1400" dirty="0"/>
          </a:p>
          <a:p>
            <a:r>
              <a:rPr lang="en-IN" sz="1400" dirty="0"/>
              <a:t> </a:t>
            </a:r>
            <a:r>
              <a:rPr lang="en-IN" sz="1400" b="1" dirty="0"/>
              <a:t>AI-Based Predictive Automation: </a:t>
            </a:r>
            <a:r>
              <a:rPr lang="en-IN" sz="1400" dirty="0"/>
              <a:t>Integration of machine learning algorithms to forecast usage patterns and automate control accordingly. Smart appliance learning based on user habits</a:t>
            </a:r>
          </a:p>
          <a:p>
            <a:endParaRPr lang="en-IN" sz="1400" dirty="0"/>
          </a:p>
          <a:p>
            <a:r>
              <a:rPr lang="en-IN" sz="1400" b="1" dirty="0"/>
              <a:t>Enhanced Security Features: </a:t>
            </a:r>
            <a:r>
              <a:rPr lang="en-IN" sz="1400" dirty="0"/>
              <a:t>Incorporating MQTT over TLS/SSL for encrypted communication. User authentication and access control for web/mobile dashboards.</a:t>
            </a:r>
          </a:p>
          <a:p>
            <a:endParaRPr lang="en-IN" sz="1400" b="1" dirty="0"/>
          </a:p>
          <a:p>
            <a:r>
              <a:rPr lang="en-IN" sz="1400" b="1" dirty="0"/>
              <a:t> Mobile Notifications:  </a:t>
            </a:r>
            <a:r>
              <a:rPr lang="en-IN" sz="1400" dirty="0"/>
              <a:t>Push alerts for abnormal energy usage, connectivity issues, or device malfunctions. </a:t>
            </a:r>
          </a:p>
          <a:p>
            <a:endParaRPr lang="en-IN" sz="1400" b="1" dirty="0"/>
          </a:p>
          <a:p>
            <a:r>
              <a:rPr lang="en-IN" sz="1400" b="1" dirty="0"/>
              <a:t>Renewable Energy Integration:  </a:t>
            </a:r>
            <a:r>
              <a:rPr lang="en-IN" sz="1400" dirty="0"/>
              <a:t>Adding support for solar panels or battery storage systems to optimize renewable energy consumption.</a:t>
            </a:r>
          </a:p>
          <a:p>
            <a:endParaRPr lang="en-US" dirty="0"/>
          </a:p>
        </p:txBody>
      </p:sp>
      <p:sp>
        <p:nvSpPr>
          <p:cNvPr id="9" name="Google Shape;4493;p43">
            <a:extLst>
              <a:ext uri="{FF2B5EF4-FFF2-40B4-BE49-F238E27FC236}">
                <a16:creationId xmlns:a16="http://schemas.microsoft.com/office/drawing/2014/main" id="{2511774C-F772-8F9A-5077-A48DFDE26692}"/>
              </a:ext>
            </a:extLst>
          </p:cNvPr>
          <p:cNvSpPr/>
          <p:nvPr/>
        </p:nvSpPr>
        <p:spPr>
          <a:xfrm>
            <a:off x="6087174" y="1234834"/>
            <a:ext cx="2888400" cy="2888400"/>
          </a:xfrm>
          <a:prstGeom prst="arc">
            <a:avLst>
              <a:gd name="adj1" fmla="val 16200000"/>
              <a:gd name="adj2" fmla="val 18278883"/>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5675;p60">
            <a:extLst>
              <a:ext uri="{FF2B5EF4-FFF2-40B4-BE49-F238E27FC236}">
                <a16:creationId xmlns:a16="http://schemas.microsoft.com/office/drawing/2014/main" id="{9DCACCA4-D29F-E0DB-57E7-7208477BA55F}"/>
              </a:ext>
            </a:extLst>
          </p:cNvPr>
          <p:cNvGrpSpPr/>
          <p:nvPr/>
        </p:nvGrpSpPr>
        <p:grpSpPr>
          <a:xfrm>
            <a:off x="7742811" y="1358872"/>
            <a:ext cx="319944" cy="369902"/>
            <a:chOff x="5357337" y="3921445"/>
            <a:chExt cx="319944" cy="369902"/>
          </a:xfrm>
        </p:grpSpPr>
        <p:sp>
          <p:nvSpPr>
            <p:cNvPr id="12" name="Google Shape;5676;p60">
              <a:extLst>
                <a:ext uri="{FF2B5EF4-FFF2-40B4-BE49-F238E27FC236}">
                  <a16:creationId xmlns:a16="http://schemas.microsoft.com/office/drawing/2014/main" id="{07858A03-3E66-8E9B-F00A-BCB42A7C6E81}"/>
                </a:ext>
              </a:extLst>
            </p:cNvPr>
            <p:cNvSpPr/>
            <p:nvPr/>
          </p:nvSpPr>
          <p:spPr>
            <a:xfrm>
              <a:off x="5357337" y="3921445"/>
              <a:ext cx="319944" cy="369902"/>
            </a:xfrm>
            <a:custGeom>
              <a:avLst/>
              <a:gdLst/>
              <a:ahLst/>
              <a:cxnLst/>
              <a:rect l="l" t="t" r="r" b="b"/>
              <a:pathLst>
                <a:path w="11515" h="13313" extrusionOk="0">
                  <a:moveTo>
                    <a:pt x="8919" y="8633"/>
                  </a:moveTo>
                  <a:cubicBezTo>
                    <a:pt x="10062" y="8633"/>
                    <a:pt x="10978" y="9574"/>
                    <a:pt x="10978" y="10705"/>
                  </a:cubicBezTo>
                  <a:cubicBezTo>
                    <a:pt x="11002" y="11836"/>
                    <a:pt x="10062" y="12776"/>
                    <a:pt x="8919" y="12776"/>
                  </a:cubicBezTo>
                  <a:cubicBezTo>
                    <a:pt x="7764" y="12776"/>
                    <a:pt x="6847" y="11836"/>
                    <a:pt x="6847" y="10705"/>
                  </a:cubicBezTo>
                  <a:cubicBezTo>
                    <a:pt x="6847" y="9562"/>
                    <a:pt x="7788" y="8633"/>
                    <a:pt x="8919" y="8633"/>
                  </a:cubicBezTo>
                  <a:close/>
                  <a:moveTo>
                    <a:pt x="5764" y="1"/>
                  </a:moveTo>
                  <a:cubicBezTo>
                    <a:pt x="4394" y="1"/>
                    <a:pt x="3061" y="501"/>
                    <a:pt x="2013" y="1394"/>
                  </a:cubicBezTo>
                  <a:cubicBezTo>
                    <a:pt x="1906" y="1477"/>
                    <a:pt x="1894" y="1644"/>
                    <a:pt x="1977" y="1763"/>
                  </a:cubicBezTo>
                  <a:cubicBezTo>
                    <a:pt x="2023" y="1821"/>
                    <a:pt x="2093" y="1851"/>
                    <a:pt x="2166" y="1851"/>
                  </a:cubicBezTo>
                  <a:cubicBezTo>
                    <a:pt x="2228" y="1851"/>
                    <a:pt x="2292" y="1830"/>
                    <a:pt x="2346" y="1787"/>
                  </a:cubicBezTo>
                  <a:cubicBezTo>
                    <a:pt x="3299" y="989"/>
                    <a:pt x="4513" y="537"/>
                    <a:pt x="5764" y="537"/>
                  </a:cubicBezTo>
                  <a:cubicBezTo>
                    <a:pt x="8645" y="537"/>
                    <a:pt x="11002" y="2894"/>
                    <a:pt x="11002" y="5775"/>
                  </a:cubicBezTo>
                  <a:cubicBezTo>
                    <a:pt x="11002" y="6728"/>
                    <a:pt x="10740" y="7669"/>
                    <a:pt x="10252" y="8490"/>
                  </a:cubicBezTo>
                  <a:cubicBezTo>
                    <a:pt x="9871" y="8252"/>
                    <a:pt x="9407" y="8121"/>
                    <a:pt x="8931" y="8121"/>
                  </a:cubicBezTo>
                  <a:cubicBezTo>
                    <a:pt x="7692" y="8121"/>
                    <a:pt x="6657" y="8978"/>
                    <a:pt x="6395" y="10145"/>
                  </a:cubicBezTo>
                  <a:cubicBezTo>
                    <a:pt x="6192" y="10169"/>
                    <a:pt x="5978" y="10181"/>
                    <a:pt x="5764" y="10181"/>
                  </a:cubicBezTo>
                  <a:cubicBezTo>
                    <a:pt x="3335" y="10181"/>
                    <a:pt x="1358" y="8204"/>
                    <a:pt x="1358" y="5775"/>
                  </a:cubicBezTo>
                  <a:cubicBezTo>
                    <a:pt x="1358" y="3359"/>
                    <a:pt x="3335" y="1370"/>
                    <a:pt x="5764" y="1370"/>
                  </a:cubicBezTo>
                  <a:cubicBezTo>
                    <a:pt x="8181" y="1370"/>
                    <a:pt x="10169" y="3359"/>
                    <a:pt x="10169" y="5775"/>
                  </a:cubicBezTo>
                  <a:cubicBezTo>
                    <a:pt x="10169" y="6073"/>
                    <a:pt x="10133" y="6395"/>
                    <a:pt x="10074" y="6692"/>
                  </a:cubicBezTo>
                  <a:cubicBezTo>
                    <a:pt x="10050" y="6823"/>
                    <a:pt x="10133" y="6966"/>
                    <a:pt x="10264" y="7002"/>
                  </a:cubicBezTo>
                  <a:cubicBezTo>
                    <a:pt x="10280" y="7005"/>
                    <a:pt x="10297" y="7006"/>
                    <a:pt x="10313" y="7006"/>
                  </a:cubicBezTo>
                  <a:cubicBezTo>
                    <a:pt x="10438" y="7006"/>
                    <a:pt x="10553" y="6927"/>
                    <a:pt x="10574" y="6811"/>
                  </a:cubicBezTo>
                  <a:cubicBezTo>
                    <a:pt x="10657" y="6478"/>
                    <a:pt x="10681" y="6133"/>
                    <a:pt x="10681" y="5799"/>
                  </a:cubicBezTo>
                  <a:cubicBezTo>
                    <a:pt x="10681" y="3073"/>
                    <a:pt x="8466" y="870"/>
                    <a:pt x="5764" y="870"/>
                  </a:cubicBezTo>
                  <a:cubicBezTo>
                    <a:pt x="3037" y="870"/>
                    <a:pt x="834" y="3085"/>
                    <a:pt x="834" y="5799"/>
                  </a:cubicBezTo>
                  <a:cubicBezTo>
                    <a:pt x="834" y="8502"/>
                    <a:pt x="3049" y="10717"/>
                    <a:pt x="5764" y="10717"/>
                  </a:cubicBezTo>
                  <a:cubicBezTo>
                    <a:pt x="5954" y="10717"/>
                    <a:pt x="6145" y="10705"/>
                    <a:pt x="6323" y="10693"/>
                  </a:cubicBezTo>
                  <a:lnTo>
                    <a:pt x="6323" y="10717"/>
                  </a:lnTo>
                  <a:cubicBezTo>
                    <a:pt x="6323" y="10812"/>
                    <a:pt x="6323" y="10919"/>
                    <a:pt x="6335" y="11002"/>
                  </a:cubicBezTo>
                  <a:cubicBezTo>
                    <a:pt x="6145" y="11014"/>
                    <a:pt x="5954" y="11038"/>
                    <a:pt x="5752" y="11038"/>
                  </a:cubicBezTo>
                  <a:cubicBezTo>
                    <a:pt x="2870" y="11038"/>
                    <a:pt x="513" y="8681"/>
                    <a:pt x="513" y="5799"/>
                  </a:cubicBezTo>
                  <a:cubicBezTo>
                    <a:pt x="513" y="4871"/>
                    <a:pt x="751" y="3966"/>
                    <a:pt x="1215" y="3180"/>
                  </a:cubicBezTo>
                  <a:cubicBezTo>
                    <a:pt x="1287" y="3061"/>
                    <a:pt x="1251" y="2894"/>
                    <a:pt x="1132" y="2823"/>
                  </a:cubicBezTo>
                  <a:cubicBezTo>
                    <a:pt x="1091" y="2794"/>
                    <a:pt x="1044" y="2781"/>
                    <a:pt x="998" y="2781"/>
                  </a:cubicBezTo>
                  <a:cubicBezTo>
                    <a:pt x="909" y="2781"/>
                    <a:pt x="822" y="2828"/>
                    <a:pt x="775" y="2906"/>
                  </a:cubicBezTo>
                  <a:cubicBezTo>
                    <a:pt x="263" y="3787"/>
                    <a:pt x="1" y="4787"/>
                    <a:pt x="1" y="5799"/>
                  </a:cubicBezTo>
                  <a:cubicBezTo>
                    <a:pt x="1" y="7323"/>
                    <a:pt x="596" y="8788"/>
                    <a:pt x="1680" y="9871"/>
                  </a:cubicBezTo>
                  <a:cubicBezTo>
                    <a:pt x="2763" y="10955"/>
                    <a:pt x="4204" y="11550"/>
                    <a:pt x="5752" y="11550"/>
                  </a:cubicBezTo>
                  <a:cubicBezTo>
                    <a:pt x="5990" y="11550"/>
                    <a:pt x="6216" y="11538"/>
                    <a:pt x="6454" y="11514"/>
                  </a:cubicBezTo>
                  <a:cubicBezTo>
                    <a:pt x="6787" y="12550"/>
                    <a:pt x="7764" y="13312"/>
                    <a:pt x="8931" y="13312"/>
                  </a:cubicBezTo>
                  <a:cubicBezTo>
                    <a:pt x="10359" y="13312"/>
                    <a:pt x="11514" y="12145"/>
                    <a:pt x="11514" y="10717"/>
                  </a:cubicBezTo>
                  <a:cubicBezTo>
                    <a:pt x="11514" y="9931"/>
                    <a:pt x="11193" y="9252"/>
                    <a:pt x="10669" y="8776"/>
                  </a:cubicBezTo>
                  <a:cubicBezTo>
                    <a:pt x="11217" y="7859"/>
                    <a:pt x="11514" y="6835"/>
                    <a:pt x="11514" y="5764"/>
                  </a:cubicBezTo>
                  <a:cubicBezTo>
                    <a:pt x="11514" y="4228"/>
                    <a:pt x="10919" y="2775"/>
                    <a:pt x="9835" y="1692"/>
                  </a:cubicBezTo>
                  <a:cubicBezTo>
                    <a:pt x="8752" y="596"/>
                    <a:pt x="7311" y="1"/>
                    <a:pt x="5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77;p60">
              <a:extLst>
                <a:ext uri="{FF2B5EF4-FFF2-40B4-BE49-F238E27FC236}">
                  <a16:creationId xmlns:a16="http://schemas.microsoft.com/office/drawing/2014/main" id="{2CC1E2EB-E049-2107-2784-C245E845A7A2}"/>
                </a:ext>
              </a:extLst>
            </p:cNvPr>
            <p:cNvSpPr/>
            <p:nvPr/>
          </p:nvSpPr>
          <p:spPr>
            <a:xfrm>
              <a:off x="5387789" y="3981266"/>
              <a:ext cx="16560" cy="14309"/>
            </a:xfrm>
            <a:custGeom>
              <a:avLst/>
              <a:gdLst/>
              <a:ahLst/>
              <a:cxnLst/>
              <a:rect l="l" t="t" r="r" b="b"/>
              <a:pathLst>
                <a:path w="596" h="515" extrusionOk="0">
                  <a:moveTo>
                    <a:pt x="305" y="1"/>
                  </a:moveTo>
                  <a:cubicBezTo>
                    <a:pt x="226" y="1"/>
                    <a:pt x="150" y="35"/>
                    <a:pt x="107" y="98"/>
                  </a:cubicBezTo>
                  <a:cubicBezTo>
                    <a:pt x="0" y="205"/>
                    <a:pt x="36" y="372"/>
                    <a:pt x="143" y="455"/>
                  </a:cubicBezTo>
                  <a:cubicBezTo>
                    <a:pt x="179" y="491"/>
                    <a:pt x="238" y="515"/>
                    <a:pt x="298" y="515"/>
                  </a:cubicBezTo>
                  <a:cubicBezTo>
                    <a:pt x="369" y="515"/>
                    <a:pt x="453" y="491"/>
                    <a:pt x="512" y="408"/>
                  </a:cubicBezTo>
                  <a:cubicBezTo>
                    <a:pt x="596" y="289"/>
                    <a:pt x="572" y="134"/>
                    <a:pt x="465" y="51"/>
                  </a:cubicBezTo>
                  <a:cubicBezTo>
                    <a:pt x="416" y="17"/>
                    <a:pt x="360"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78;p60">
              <a:extLst>
                <a:ext uri="{FF2B5EF4-FFF2-40B4-BE49-F238E27FC236}">
                  <a16:creationId xmlns:a16="http://schemas.microsoft.com/office/drawing/2014/main" id="{F9A51815-DD2E-E046-D3A0-7D79ACF3875B}"/>
                </a:ext>
              </a:extLst>
            </p:cNvPr>
            <p:cNvSpPr/>
            <p:nvPr/>
          </p:nvSpPr>
          <p:spPr>
            <a:xfrm>
              <a:off x="5630269" y="4120497"/>
              <a:ext cx="16226" cy="14031"/>
            </a:xfrm>
            <a:custGeom>
              <a:avLst/>
              <a:gdLst/>
              <a:ahLst/>
              <a:cxnLst/>
              <a:rect l="l" t="t" r="r" b="b"/>
              <a:pathLst>
                <a:path w="584" h="505" extrusionOk="0">
                  <a:moveTo>
                    <a:pt x="289" y="0"/>
                  </a:moveTo>
                  <a:cubicBezTo>
                    <a:pt x="185" y="0"/>
                    <a:pt x="85" y="59"/>
                    <a:pt x="48" y="159"/>
                  </a:cubicBezTo>
                  <a:cubicBezTo>
                    <a:pt x="1" y="302"/>
                    <a:pt x="60" y="445"/>
                    <a:pt x="191" y="493"/>
                  </a:cubicBezTo>
                  <a:cubicBezTo>
                    <a:pt x="227" y="505"/>
                    <a:pt x="251" y="505"/>
                    <a:pt x="274" y="505"/>
                  </a:cubicBezTo>
                  <a:cubicBezTo>
                    <a:pt x="382" y="505"/>
                    <a:pt x="489" y="445"/>
                    <a:pt x="513" y="338"/>
                  </a:cubicBezTo>
                  <a:cubicBezTo>
                    <a:pt x="584" y="219"/>
                    <a:pt x="524" y="76"/>
                    <a:pt x="382" y="16"/>
                  </a:cubicBezTo>
                  <a:cubicBezTo>
                    <a:pt x="351" y="5"/>
                    <a:pt x="320" y="0"/>
                    <a:pt x="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79;p60">
              <a:extLst>
                <a:ext uri="{FF2B5EF4-FFF2-40B4-BE49-F238E27FC236}">
                  <a16:creationId xmlns:a16="http://schemas.microsoft.com/office/drawing/2014/main" id="{042C6319-9605-16F6-F1DE-9E04AA7D316C}"/>
                </a:ext>
              </a:extLst>
            </p:cNvPr>
            <p:cNvSpPr/>
            <p:nvPr/>
          </p:nvSpPr>
          <p:spPr>
            <a:xfrm>
              <a:off x="5597177" y="4243668"/>
              <a:ext cx="15587" cy="14587"/>
            </a:xfrm>
            <a:custGeom>
              <a:avLst/>
              <a:gdLst/>
              <a:ahLst/>
              <a:cxnLst/>
              <a:rect l="l" t="t" r="r" b="b"/>
              <a:pathLst>
                <a:path w="561" h="525" extrusionOk="0">
                  <a:moveTo>
                    <a:pt x="288" y="1"/>
                  </a:moveTo>
                  <a:cubicBezTo>
                    <a:pt x="221" y="1"/>
                    <a:pt x="156" y="24"/>
                    <a:pt x="108" y="72"/>
                  </a:cubicBezTo>
                  <a:cubicBezTo>
                    <a:pt x="1" y="179"/>
                    <a:pt x="1" y="346"/>
                    <a:pt x="108" y="453"/>
                  </a:cubicBezTo>
                  <a:cubicBezTo>
                    <a:pt x="156" y="501"/>
                    <a:pt x="221" y="525"/>
                    <a:pt x="288" y="525"/>
                  </a:cubicBezTo>
                  <a:cubicBezTo>
                    <a:pt x="355" y="525"/>
                    <a:pt x="424" y="501"/>
                    <a:pt x="477" y="453"/>
                  </a:cubicBezTo>
                  <a:cubicBezTo>
                    <a:pt x="561" y="346"/>
                    <a:pt x="561" y="179"/>
                    <a:pt x="477" y="72"/>
                  </a:cubicBezTo>
                  <a:cubicBezTo>
                    <a:pt x="424" y="24"/>
                    <a:pt x="355" y="1"/>
                    <a:pt x="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80;p60">
              <a:extLst>
                <a:ext uri="{FF2B5EF4-FFF2-40B4-BE49-F238E27FC236}">
                  <a16:creationId xmlns:a16="http://schemas.microsoft.com/office/drawing/2014/main" id="{A36F22B3-E0B0-64FE-342A-22F7F2E75EE2}"/>
                </a:ext>
              </a:extLst>
            </p:cNvPr>
            <p:cNvSpPr/>
            <p:nvPr/>
          </p:nvSpPr>
          <p:spPr>
            <a:xfrm>
              <a:off x="5556166" y="4186097"/>
              <a:ext cx="97609" cy="31703"/>
            </a:xfrm>
            <a:custGeom>
              <a:avLst/>
              <a:gdLst/>
              <a:ahLst/>
              <a:cxnLst/>
              <a:rect l="l" t="t" r="r" b="b"/>
              <a:pathLst>
                <a:path w="3513" h="1141" extrusionOk="0">
                  <a:moveTo>
                    <a:pt x="1763" y="1"/>
                  </a:moveTo>
                  <a:cubicBezTo>
                    <a:pt x="1132" y="1"/>
                    <a:pt x="548" y="239"/>
                    <a:pt x="108" y="692"/>
                  </a:cubicBezTo>
                  <a:cubicBezTo>
                    <a:pt x="1" y="799"/>
                    <a:pt x="1" y="953"/>
                    <a:pt x="108" y="1061"/>
                  </a:cubicBezTo>
                  <a:cubicBezTo>
                    <a:pt x="161" y="1114"/>
                    <a:pt x="227" y="1141"/>
                    <a:pt x="292" y="1141"/>
                  </a:cubicBezTo>
                  <a:cubicBezTo>
                    <a:pt x="358" y="1141"/>
                    <a:pt x="423" y="1114"/>
                    <a:pt x="477" y="1061"/>
                  </a:cubicBezTo>
                  <a:cubicBezTo>
                    <a:pt x="822" y="715"/>
                    <a:pt x="1286" y="525"/>
                    <a:pt x="1763" y="525"/>
                  </a:cubicBezTo>
                  <a:cubicBezTo>
                    <a:pt x="2227" y="525"/>
                    <a:pt x="2691" y="715"/>
                    <a:pt x="3037" y="1061"/>
                  </a:cubicBezTo>
                  <a:cubicBezTo>
                    <a:pt x="3084" y="1108"/>
                    <a:pt x="3156" y="1132"/>
                    <a:pt x="3215" y="1132"/>
                  </a:cubicBezTo>
                  <a:cubicBezTo>
                    <a:pt x="3275" y="1132"/>
                    <a:pt x="3346" y="1108"/>
                    <a:pt x="3394" y="1061"/>
                  </a:cubicBezTo>
                  <a:cubicBezTo>
                    <a:pt x="3513" y="942"/>
                    <a:pt x="3513" y="775"/>
                    <a:pt x="3406" y="692"/>
                  </a:cubicBezTo>
                  <a:cubicBezTo>
                    <a:pt x="2965" y="239"/>
                    <a:pt x="2382" y="1"/>
                    <a:pt x="1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681;p60">
              <a:extLst>
                <a:ext uri="{FF2B5EF4-FFF2-40B4-BE49-F238E27FC236}">
                  <a16:creationId xmlns:a16="http://schemas.microsoft.com/office/drawing/2014/main" id="{B85F10BF-B598-495E-E857-E6321394B8A7}"/>
                </a:ext>
              </a:extLst>
            </p:cNvPr>
            <p:cNvSpPr/>
            <p:nvPr/>
          </p:nvSpPr>
          <p:spPr>
            <a:xfrm>
              <a:off x="5576672" y="4215049"/>
              <a:ext cx="56931" cy="23034"/>
            </a:xfrm>
            <a:custGeom>
              <a:avLst/>
              <a:gdLst/>
              <a:ahLst/>
              <a:cxnLst/>
              <a:rect l="l" t="t" r="r" b="b"/>
              <a:pathLst>
                <a:path w="2049" h="829" extrusionOk="0">
                  <a:moveTo>
                    <a:pt x="1029" y="1"/>
                  </a:moveTo>
                  <a:cubicBezTo>
                    <a:pt x="697" y="1"/>
                    <a:pt x="364" y="126"/>
                    <a:pt x="108" y="376"/>
                  </a:cubicBezTo>
                  <a:cubicBezTo>
                    <a:pt x="1" y="483"/>
                    <a:pt x="1" y="650"/>
                    <a:pt x="108" y="745"/>
                  </a:cubicBezTo>
                  <a:cubicBezTo>
                    <a:pt x="161" y="798"/>
                    <a:pt x="230" y="825"/>
                    <a:pt x="298" y="825"/>
                  </a:cubicBezTo>
                  <a:cubicBezTo>
                    <a:pt x="367" y="825"/>
                    <a:pt x="435" y="798"/>
                    <a:pt x="489" y="745"/>
                  </a:cubicBezTo>
                  <a:cubicBezTo>
                    <a:pt x="638" y="596"/>
                    <a:pt x="837" y="522"/>
                    <a:pt x="1037" y="522"/>
                  </a:cubicBezTo>
                  <a:cubicBezTo>
                    <a:pt x="1236" y="522"/>
                    <a:pt x="1435" y="596"/>
                    <a:pt x="1584" y="745"/>
                  </a:cubicBezTo>
                  <a:cubicBezTo>
                    <a:pt x="1632" y="793"/>
                    <a:pt x="1703" y="828"/>
                    <a:pt x="1763" y="828"/>
                  </a:cubicBezTo>
                  <a:cubicBezTo>
                    <a:pt x="1822" y="828"/>
                    <a:pt x="1894" y="793"/>
                    <a:pt x="1941" y="745"/>
                  </a:cubicBezTo>
                  <a:cubicBezTo>
                    <a:pt x="2049" y="650"/>
                    <a:pt x="2049" y="483"/>
                    <a:pt x="1941" y="376"/>
                  </a:cubicBezTo>
                  <a:cubicBezTo>
                    <a:pt x="1691" y="126"/>
                    <a:pt x="1361"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682;p60">
              <a:extLst>
                <a:ext uri="{FF2B5EF4-FFF2-40B4-BE49-F238E27FC236}">
                  <a16:creationId xmlns:a16="http://schemas.microsoft.com/office/drawing/2014/main" id="{7CAF995B-8A09-1081-2983-50F9CB981662}"/>
                </a:ext>
              </a:extLst>
            </p:cNvPr>
            <p:cNvSpPr/>
            <p:nvPr/>
          </p:nvSpPr>
          <p:spPr>
            <a:xfrm>
              <a:off x="5459558" y="4002272"/>
              <a:ext cx="115836" cy="158736"/>
            </a:xfrm>
            <a:custGeom>
              <a:avLst/>
              <a:gdLst/>
              <a:ahLst/>
              <a:cxnLst/>
              <a:rect l="l" t="t" r="r" b="b"/>
              <a:pathLst>
                <a:path w="4169" h="5713" extrusionOk="0">
                  <a:moveTo>
                    <a:pt x="2061" y="652"/>
                  </a:moveTo>
                  <a:cubicBezTo>
                    <a:pt x="2858" y="1521"/>
                    <a:pt x="3620" y="2676"/>
                    <a:pt x="3620" y="3545"/>
                  </a:cubicBezTo>
                  <a:cubicBezTo>
                    <a:pt x="3620" y="3986"/>
                    <a:pt x="3466" y="4402"/>
                    <a:pt x="3168" y="4712"/>
                  </a:cubicBezTo>
                  <a:cubicBezTo>
                    <a:pt x="2870" y="5033"/>
                    <a:pt x="2477" y="5188"/>
                    <a:pt x="2061" y="5188"/>
                  </a:cubicBezTo>
                  <a:cubicBezTo>
                    <a:pt x="1644" y="5188"/>
                    <a:pt x="1263" y="5033"/>
                    <a:pt x="965" y="4736"/>
                  </a:cubicBezTo>
                  <a:cubicBezTo>
                    <a:pt x="668" y="4414"/>
                    <a:pt x="501" y="3998"/>
                    <a:pt x="501" y="3557"/>
                  </a:cubicBezTo>
                  <a:cubicBezTo>
                    <a:pt x="501" y="2736"/>
                    <a:pt x="1263" y="1557"/>
                    <a:pt x="2061" y="652"/>
                  </a:cubicBezTo>
                  <a:close/>
                  <a:moveTo>
                    <a:pt x="2078" y="0"/>
                  </a:moveTo>
                  <a:cubicBezTo>
                    <a:pt x="2039" y="0"/>
                    <a:pt x="2000" y="11"/>
                    <a:pt x="1965" y="33"/>
                  </a:cubicBezTo>
                  <a:cubicBezTo>
                    <a:pt x="1930" y="45"/>
                    <a:pt x="1906" y="57"/>
                    <a:pt x="1882" y="92"/>
                  </a:cubicBezTo>
                  <a:cubicBezTo>
                    <a:pt x="1561" y="426"/>
                    <a:pt x="1" y="2140"/>
                    <a:pt x="1" y="3545"/>
                  </a:cubicBezTo>
                  <a:cubicBezTo>
                    <a:pt x="1" y="4140"/>
                    <a:pt x="203" y="4676"/>
                    <a:pt x="608" y="5093"/>
                  </a:cubicBezTo>
                  <a:cubicBezTo>
                    <a:pt x="989" y="5486"/>
                    <a:pt x="1513" y="5712"/>
                    <a:pt x="2085" y="5712"/>
                  </a:cubicBezTo>
                  <a:cubicBezTo>
                    <a:pt x="2632" y="5712"/>
                    <a:pt x="3168" y="5486"/>
                    <a:pt x="3549" y="5069"/>
                  </a:cubicBezTo>
                  <a:cubicBezTo>
                    <a:pt x="3942" y="4676"/>
                    <a:pt x="4168" y="4117"/>
                    <a:pt x="4168" y="3545"/>
                  </a:cubicBezTo>
                  <a:cubicBezTo>
                    <a:pt x="4168" y="2176"/>
                    <a:pt x="2716" y="545"/>
                    <a:pt x="2275" y="92"/>
                  </a:cubicBezTo>
                  <a:cubicBezTo>
                    <a:pt x="2215" y="32"/>
                    <a:pt x="2145" y="0"/>
                    <a:pt x="20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 name="Straight Connector 4">
            <a:extLst>
              <a:ext uri="{FF2B5EF4-FFF2-40B4-BE49-F238E27FC236}">
                <a16:creationId xmlns:a16="http://schemas.microsoft.com/office/drawing/2014/main" id="{A22D9754-508D-95F1-ECBA-B41FEFD52D5A}"/>
              </a:ext>
            </a:extLst>
          </p:cNvPr>
          <p:cNvCxnSpPr/>
          <p:nvPr/>
        </p:nvCxnSpPr>
        <p:spPr>
          <a:xfrm>
            <a:off x="1390185" y="1018478"/>
            <a:ext cx="680224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383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75">
          <a:extLst>
            <a:ext uri="{FF2B5EF4-FFF2-40B4-BE49-F238E27FC236}">
              <a16:creationId xmlns:a16="http://schemas.microsoft.com/office/drawing/2014/main" id="{08C4C897-356F-AD52-A9C5-03F4C784206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8E429F3-7E73-D643-A8AF-D171B4FCD82B}"/>
              </a:ext>
            </a:extLst>
          </p:cNvPr>
          <p:cNvSpPr txBox="1"/>
          <p:nvPr/>
        </p:nvSpPr>
        <p:spPr>
          <a:xfrm>
            <a:off x="3204117" y="489906"/>
            <a:ext cx="2527610" cy="400110"/>
          </a:xfrm>
          <a:prstGeom prst="rect">
            <a:avLst/>
          </a:prstGeom>
          <a:noFill/>
        </p:spPr>
        <p:txBody>
          <a:bodyPr wrap="square" rtlCol="0">
            <a:spAutoFit/>
          </a:bodyPr>
          <a:lstStyle/>
          <a:p>
            <a:pPr algn="ctr"/>
            <a:r>
              <a:rPr lang="en-IN" sz="2000" b="1" dirty="0">
                <a:solidFill>
                  <a:schemeClr val="accent2"/>
                </a:solidFill>
                <a:latin typeface="Times New Roman" panose="02020603050405020304" pitchFamily="18" charset="0"/>
                <a:cs typeface="Times New Roman" panose="02020603050405020304" pitchFamily="18" charset="0"/>
              </a:rPr>
              <a:t>Acknowledgments</a:t>
            </a:r>
            <a:endParaRPr lang="en-IN" sz="2000" b="1" dirty="0"/>
          </a:p>
        </p:txBody>
      </p:sp>
      <p:sp>
        <p:nvSpPr>
          <p:cNvPr id="7" name="TextBox 6">
            <a:extLst>
              <a:ext uri="{FF2B5EF4-FFF2-40B4-BE49-F238E27FC236}">
                <a16:creationId xmlns:a16="http://schemas.microsoft.com/office/drawing/2014/main" id="{33D947DC-07C9-FD35-5504-64CA1309BE7C}"/>
              </a:ext>
            </a:extLst>
          </p:cNvPr>
          <p:cNvSpPr txBox="1"/>
          <p:nvPr/>
        </p:nvSpPr>
        <p:spPr>
          <a:xfrm>
            <a:off x="1354177" y="1340206"/>
            <a:ext cx="6088566" cy="3323987"/>
          </a:xfrm>
          <a:prstGeom prst="rect">
            <a:avLst/>
          </a:prstGeom>
          <a:noFill/>
        </p:spPr>
        <p:txBody>
          <a:bodyPr wrap="square" rtlCol="0">
            <a:spAutoFit/>
          </a:bodyPr>
          <a:lstStyle/>
          <a:p>
            <a:pPr>
              <a:buNone/>
            </a:pPr>
            <a:r>
              <a:rPr lang="en-US" sz="1400" dirty="0">
                <a:latin typeface="Times New Roman" panose="02020603050405020304" pitchFamily="18" charset="0"/>
                <a:cs typeface="Times New Roman" panose="02020603050405020304" pitchFamily="18" charset="0"/>
              </a:rPr>
              <a:t>I would like to express my sincere gratitude to the following individuals and institutions whose support was instrumental in completing this project:</a:t>
            </a:r>
          </a:p>
          <a:p>
            <a:pPr>
              <a:buNone/>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Faculty Advisors and Project Mentors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For their continuous guidance, technical insights, and encouragement throughout the development process.</a:t>
            </a:r>
          </a:p>
          <a:p>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Lakireddy Bali Reddy College of Engineering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For providing the infrastructure, resources, and a collaborative environment essential for hands-on experimentation and innovation.</a:t>
            </a:r>
          </a:p>
          <a:p>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Open-source Communities and Developers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Whose tools and libraries—especially Arduino Uno, Node-red, and </a:t>
            </a:r>
            <a:r>
              <a:rPr lang="en-US" sz="1400" dirty="0" err="1">
                <a:latin typeface="Times New Roman" panose="02020603050405020304" pitchFamily="18" charset="0"/>
                <a:cs typeface="Times New Roman" panose="02020603050405020304" pitchFamily="18" charset="0"/>
              </a:rPr>
              <a:t>ThingSpeak</a:t>
            </a:r>
            <a:r>
              <a:rPr lang="en-US" sz="1400" dirty="0">
                <a:latin typeface="Times New Roman" panose="02020603050405020304" pitchFamily="18" charset="0"/>
                <a:cs typeface="Times New Roman" panose="02020603050405020304" pitchFamily="18" charset="0"/>
              </a:rPr>
              <a:t> , documentations—played a vital role in implementation.</a:t>
            </a:r>
          </a:p>
          <a:p>
            <a:endParaRPr lang="en-US" dirty="0"/>
          </a:p>
        </p:txBody>
      </p:sp>
      <p:sp>
        <p:nvSpPr>
          <p:cNvPr id="9" name="Google Shape;4493;p43">
            <a:extLst>
              <a:ext uri="{FF2B5EF4-FFF2-40B4-BE49-F238E27FC236}">
                <a16:creationId xmlns:a16="http://schemas.microsoft.com/office/drawing/2014/main" id="{5051549C-71F7-8E2C-B6A5-E7AACB32829B}"/>
              </a:ext>
            </a:extLst>
          </p:cNvPr>
          <p:cNvSpPr/>
          <p:nvPr/>
        </p:nvSpPr>
        <p:spPr>
          <a:xfrm>
            <a:off x="6087174" y="1234834"/>
            <a:ext cx="2888400" cy="2888400"/>
          </a:xfrm>
          <a:prstGeom prst="arc">
            <a:avLst>
              <a:gd name="adj1" fmla="val 16200000"/>
              <a:gd name="adj2" fmla="val 18278883"/>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5675;p60">
            <a:extLst>
              <a:ext uri="{FF2B5EF4-FFF2-40B4-BE49-F238E27FC236}">
                <a16:creationId xmlns:a16="http://schemas.microsoft.com/office/drawing/2014/main" id="{16543254-8677-4243-0F21-598DA6942359}"/>
              </a:ext>
            </a:extLst>
          </p:cNvPr>
          <p:cNvGrpSpPr/>
          <p:nvPr/>
        </p:nvGrpSpPr>
        <p:grpSpPr>
          <a:xfrm>
            <a:off x="7742811" y="1358872"/>
            <a:ext cx="319944" cy="369902"/>
            <a:chOff x="5357337" y="3921445"/>
            <a:chExt cx="319944" cy="369902"/>
          </a:xfrm>
        </p:grpSpPr>
        <p:sp>
          <p:nvSpPr>
            <p:cNvPr id="12" name="Google Shape;5676;p60">
              <a:extLst>
                <a:ext uri="{FF2B5EF4-FFF2-40B4-BE49-F238E27FC236}">
                  <a16:creationId xmlns:a16="http://schemas.microsoft.com/office/drawing/2014/main" id="{97F4ABCE-5BFB-D744-775F-B2FF86DE573D}"/>
                </a:ext>
              </a:extLst>
            </p:cNvPr>
            <p:cNvSpPr/>
            <p:nvPr/>
          </p:nvSpPr>
          <p:spPr>
            <a:xfrm>
              <a:off x="5357337" y="3921445"/>
              <a:ext cx="319944" cy="369902"/>
            </a:xfrm>
            <a:custGeom>
              <a:avLst/>
              <a:gdLst/>
              <a:ahLst/>
              <a:cxnLst/>
              <a:rect l="l" t="t" r="r" b="b"/>
              <a:pathLst>
                <a:path w="11515" h="13313" extrusionOk="0">
                  <a:moveTo>
                    <a:pt x="8919" y="8633"/>
                  </a:moveTo>
                  <a:cubicBezTo>
                    <a:pt x="10062" y="8633"/>
                    <a:pt x="10978" y="9574"/>
                    <a:pt x="10978" y="10705"/>
                  </a:cubicBezTo>
                  <a:cubicBezTo>
                    <a:pt x="11002" y="11836"/>
                    <a:pt x="10062" y="12776"/>
                    <a:pt x="8919" y="12776"/>
                  </a:cubicBezTo>
                  <a:cubicBezTo>
                    <a:pt x="7764" y="12776"/>
                    <a:pt x="6847" y="11836"/>
                    <a:pt x="6847" y="10705"/>
                  </a:cubicBezTo>
                  <a:cubicBezTo>
                    <a:pt x="6847" y="9562"/>
                    <a:pt x="7788" y="8633"/>
                    <a:pt x="8919" y="8633"/>
                  </a:cubicBezTo>
                  <a:close/>
                  <a:moveTo>
                    <a:pt x="5764" y="1"/>
                  </a:moveTo>
                  <a:cubicBezTo>
                    <a:pt x="4394" y="1"/>
                    <a:pt x="3061" y="501"/>
                    <a:pt x="2013" y="1394"/>
                  </a:cubicBezTo>
                  <a:cubicBezTo>
                    <a:pt x="1906" y="1477"/>
                    <a:pt x="1894" y="1644"/>
                    <a:pt x="1977" y="1763"/>
                  </a:cubicBezTo>
                  <a:cubicBezTo>
                    <a:pt x="2023" y="1821"/>
                    <a:pt x="2093" y="1851"/>
                    <a:pt x="2166" y="1851"/>
                  </a:cubicBezTo>
                  <a:cubicBezTo>
                    <a:pt x="2228" y="1851"/>
                    <a:pt x="2292" y="1830"/>
                    <a:pt x="2346" y="1787"/>
                  </a:cubicBezTo>
                  <a:cubicBezTo>
                    <a:pt x="3299" y="989"/>
                    <a:pt x="4513" y="537"/>
                    <a:pt x="5764" y="537"/>
                  </a:cubicBezTo>
                  <a:cubicBezTo>
                    <a:pt x="8645" y="537"/>
                    <a:pt x="11002" y="2894"/>
                    <a:pt x="11002" y="5775"/>
                  </a:cubicBezTo>
                  <a:cubicBezTo>
                    <a:pt x="11002" y="6728"/>
                    <a:pt x="10740" y="7669"/>
                    <a:pt x="10252" y="8490"/>
                  </a:cubicBezTo>
                  <a:cubicBezTo>
                    <a:pt x="9871" y="8252"/>
                    <a:pt x="9407" y="8121"/>
                    <a:pt x="8931" y="8121"/>
                  </a:cubicBezTo>
                  <a:cubicBezTo>
                    <a:pt x="7692" y="8121"/>
                    <a:pt x="6657" y="8978"/>
                    <a:pt x="6395" y="10145"/>
                  </a:cubicBezTo>
                  <a:cubicBezTo>
                    <a:pt x="6192" y="10169"/>
                    <a:pt x="5978" y="10181"/>
                    <a:pt x="5764" y="10181"/>
                  </a:cubicBezTo>
                  <a:cubicBezTo>
                    <a:pt x="3335" y="10181"/>
                    <a:pt x="1358" y="8204"/>
                    <a:pt x="1358" y="5775"/>
                  </a:cubicBezTo>
                  <a:cubicBezTo>
                    <a:pt x="1358" y="3359"/>
                    <a:pt x="3335" y="1370"/>
                    <a:pt x="5764" y="1370"/>
                  </a:cubicBezTo>
                  <a:cubicBezTo>
                    <a:pt x="8181" y="1370"/>
                    <a:pt x="10169" y="3359"/>
                    <a:pt x="10169" y="5775"/>
                  </a:cubicBezTo>
                  <a:cubicBezTo>
                    <a:pt x="10169" y="6073"/>
                    <a:pt x="10133" y="6395"/>
                    <a:pt x="10074" y="6692"/>
                  </a:cubicBezTo>
                  <a:cubicBezTo>
                    <a:pt x="10050" y="6823"/>
                    <a:pt x="10133" y="6966"/>
                    <a:pt x="10264" y="7002"/>
                  </a:cubicBezTo>
                  <a:cubicBezTo>
                    <a:pt x="10280" y="7005"/>
                    <a:pt x="10297" y="7006"/>
                    <a:pt x="10313" y="7006"/>
                  </a:cubicBezTo>
                  <a:cubicBezTo>
                    <a:pt x="10438" y="7006"/>
                    <a:pt x="10553" y="6927"/>
                    <a:pt x="10574" y="6811"/>
                  </a:cubicBezTo>
                  <a:cubicBezTo>
                    <a:pt x="10657" y="6478"/>
                    <a:pt x="10681" y="6133"/>
                    <a:pt x="10681" y="5799"/>
                  </a:cubicBezTo>
                  <a:cubicBezTo>
                    <a:pt x="10681" y="3073"/>
                    <a:pt x="8466" y="870"/>
                    <a:pt x="5764" y="870"/>
                  </a:cubicBezTo>
                  <a:cubicBezTo>
                    <a:pt x="3037" y="870"/>
                    <a:pt x="834" y="3085"/>
                    <a:pt x="834" y="5799"/>
                  </a:cubicBezTo>
                  <a:cubicBezTo>
                    <a:pt x="834" y="8502"/>
                    <a:pt x="3049" y="10717"/>
                    <a:pt x="5764" y="10717"/>
                  </a:cubicBezTo>
                  <a:cubicBezTo>
                    <a:pt x="5954" y="10717"/>
                    <a:pt x="6145" y="10705"/>
                    <a:pt x="6323" y="10693"/>
                  </a:cubicBezTo>
                  <a:lnTo>
                    <a:pt x="6323" y="10717"/>
                  </a:lnTo>
                  <a:cubicBezTo>
                    <a:pt x="6323" y="10812"/>
                    <a:pt x="6323" y="10919"/>
                    <a:pt x="6335" y="11002"/>
                  </a:cubicBezTo>
                  <a:cubicBezTo>
                    <a:pt x="6145" y="11014"/>
                    <a:pt x="5954" y="11038"/>
                    <a:pt x="5752" y="11038"/>
                  </a:cubicBezTo>
                  <a:cubicBezTo>
                    <a:pt x="2870" y="11038"/>
                    <a:pt x="513" y="8681"/>
                    <a:pt x="513" y="5799"/>
                  </a:cubicBezTo>
                  <a:cubicBezTo>
                    <a:pt x="513" y="4871"/>
                    <a:pt x="751" y="3966"/>
                    <a:pt x="1215" y="3180"/>
                  </a:cubicBezTo>
                  <a:cubicBezTo>
                    <a:pt x="1287" y="3061"/>
                    <a:pt x="1251" y="2894"/>
                    <a:pt x="1132" y="2823"/>
                  </a:cubicBezTo>
                  <a:cubicBezTo>
                    <a:pt x="1091" y="2794"/>
                    <a:pt x="1044" y="2781"/>
                    <a:pt x="998" y="2781"/>
                  </a:cubicBezTo>
                  <a:cubicBezTo>
                    <a:pt x="909" y="2781"/>
                    <a:pt x="822" y="2828"/>
                    <a:pt x="775" y="2906"/>
                  </a:cubicBezTo>
                  <a:cubicBezTo>
                    <a:pt x="263" y="3787"/>
                    <a:pt x="1" y="4787"/>
                    <a:pt x="1" y="5799"/>
                  </a:cubicBezTo>
                  <a:cubicBezTo>
                    <a:pt x="1" y="7323"/>
                    <a:pt x="596" y="8788"/>
                    <a:pt x="1680" y="9871"/>
                  </a:cubicBezTo>
                  <a:cubicBezTo>
                    <a:pt x="2763" y="10955"/>
                    <a:pt x="4204" y="11550"/>
                    <a:pt x="5752" y="11550"/>
                  </a:cubicBezTo>
                  <a:cubicBezTo>
                    <a:pt x="5990" y="11550"/>
                    <a:pt x="6216" y="11538"/>
                    <a:pt x="6454" y="11514"/>
                  </a:cubicBezTo>
                  <a:cubicBezTo>
                    <a:pt x="6787" y="12550"/>
                    <a:pt x="7764" y="13312"/>
                    <a:pt x="8931" y="13312"/>
                  </a:cubicBezTo>
                  <a:cubicBezTo>
                    <a:pt x="10359" y="13312"/>
                    <a:pt x="11514" y="12145"/>
                    <a:pt x="11514" y="10717"/>
                  </a:cubicBezTo>
                  <a:cubicBezTo>
                    <a:pt x="11514" y="9931"/>
                    <a:pt x="11193" y="9252"/>
                    <a:pt x="10669" y="8776"/>
                  </a:cubicBezTo>
                  <a:cubicBezTo>
                    <a:pt x="11217" y="7859"/>
                    <a:pt x="11514" y="6835"/>
                    <a:pt x="11514" y="5764"/>
                  </a:cubicBezTo>
                  <a:cubicBezTo>
                    <a:pt x="11514" y="4228"/>
                    <a:pt x="10919" y="2775"/>
                    <a:pt x="9835" y="1692"/>
                  </a:cubicBezTo>
                  <a:cubicBezTo>
                    <a:pt x="8752" y="596"/>
                    <a:pt x="7311" y="1"/>
                    <a:pt x="5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77;p60">
              <a:extLst>
                <a:ext uri="{FF2B5EF4-FFF2-40B4-BE49-F238E27FC236}">
                  <a16:creationId xmlns:a16="http://schemas.microsoft.com/office/drawing/2014/main" id="{D297FD29-8A98-439C-72BF-A86FC8B764BE}"/>
                </a:ext>
              </a:extLst>
            </p:cNvPr>
            <p:cNvSpPr/>
            <p:nvPr/>
          </p:nvSpPr>
          <p:spPr>
            <a:xfrm>
              <a:off x="5387789" y="3981266"/>
              <a:ext cx="16560" cy="14309"/>
            </a:xfrm>
            <a:custGeom>
              <a:avLst/>
              <a:gdLst/>
              <a:ahLst/>
              <a:cxnLst/>
              <a:rect l="l" t="t" r="r" b="b"/>
              <a:pathLst>
                <a:path w="596" h="515" extrusionOk="0">
                  <a:moveTo>
                    <a:pt x="305" y="1"/>
                  </a:moveTo>
                  <a:cubicBezTo>
                    <a:pt x="226" y="1"/>
                    <a:pt x="150" y="35"/>
                    <a:pt x="107" y="98"/>
                  </a:cubicBezTo>
                  <a:cubicBezTo>
                    <a:pt x="0" y="205"/>
                    <a:pt x="36" y="372"/>
                    <a:pt x="143" y="455"/>
                  </a:cubicBezTo>
                  <a:cubicBezTo>
                    <a:pt x="179" y="491"/>
                    <a:pt x="238" y="515"/>
                    <a:pt x="298" y="515"/>
                  </a:cubicBezTo>
                  <a:cubicBezTo>
                    <a:pt x="369" y="515"/>
                    <a:pt x="453" y="491"/>
                    <a:pt x="512" y="408"/>
                  </a:cubicBezTo>
                  <a:cubicBezTo>
                    <a:pt x="596" y="289"/>
                    <a:pt x="572" y="134"/>
                    <a:pt x="465" y="51"/>
                  </a:cubicBezTo>
                  <a:cubicBezTo>
                    <a:pt x="416" y="17"/>
                    <a:pt x="360" y="1"/>
                    <a:pt x="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78;p60">
              <a:extLst>
                <a:ext uri="{FF2B5EF4-FFF2-40B4-BE49-F238E27FC236}">
                  <a16:creationId xmlns:a16="http://schemas.microsoft.com/office/drawing/2014/main" id="{AB87DCC8-7760-4FB4-2C4F-F88ED966D200}"/>
                </a:ext>
              </a:extLst>
            </p:cNvPr>
            <p:cNvSpPr/>
            <p:nvPr/>
          </p:nvSpPr>
          <p:spPr>
            <a:xfrm>
              <a:off x="5630269" y="4120497"/>
              <a:ext cx="16226" cy="14031"/>
            </a:xfrm>
            <a:custGeom>
              <a:avLst/>
              <a:gdLst/>
              <a:ahLst/>
              <a:cxnLst/>
              <a:rect l="l" t="t" r="r" b="b"/>
              <a:pathLst>
                <a:path w="584" h="505" extrusionOk="0">
                  <a:moveTo>
                    <a:pt x="289" y="0"/>
                  </a:moveTo>
                  <a:cubicBezTo>
                    <a:pt x="185" y="0"/>
                    <a:pt x="85" y="59"/>
                    <a:pt x="48" y="159"/>
                  </a:cubicBezTo>
                  <a:cubicBezTo>
                    <a:pt x="1" y="302"/>
                    <a:pt x="60" y="445"/>
                    <a:pt x="191" y="493"/>
                  </a:cubicBezTo>
                  <a:cubicBezTo>
                    <a:pt x="227" y="505"/>
                    <a:pt x="251" y="505"/>
                    <a:pt x="274" y="505"/>
                  </a:cubicBezTo>
                  <a:cubicBezTo>
                    <a:pt x="382" y="505"/>
                    <a:pt x="489" y="445"/>
                    <a:pt x="513" y="338"/>
                  </a:cubicBezTo>
                  <a:cubicBezTo>
                    <a:pt x="584" y="219"/>
                    <a:pt x="524" y="76"/>
                    <a:pt x="382" y="16"/>
                  </a:cubicBezTo>
                  <a:cubicBezTo>
                    <a:pt x="351" y="5"/>
                    <a:pt x="320" y="0"/>
                    <a:pt x="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79;p60">
              <a:extLst>
                <a:ext uri="{FF2B5EF4-FFF2-40B4-BE49-F238E27FC236}">
                  <a16:creationId xmlns:a16="http://schemas.microsoft.com/office/drawing/2014/main" id="{999AE6BA-8EB2-8C96-1975-A7E9DA7AB73F}"/>
                </a:ext>
              </a:extLst>
            </p:cNvPr>
            <p:cNvSpPr/>
            <p:nvPr/>
          </p:nvSpPr>
          <p:spPr>
            <a:xfrm>
              <a:off x="5597177" y="4243668"/>
              <a:ext cx="15587" cy="14587"/>
            </a:xfrm>
            <a:custGeom>
              <a:avLst/>
              <a:gdLst/>
              <a:ahLst/>
              <a:cxnLst/>
              <a:rect l="l" t="t" r="r" b="b"/>
              <a:pathLst>
                <a:path w="561" h="525" extrusionOk="0">
                  <a:moveTo>
                    <a:pt x="288" y="1"/>
                  </a:moveTo>
                  <a:cubicBezTo>
                    <a:pt x="221" y="1"/>
                    <a:pt x="156" y="24"/>
                    <a:pt x="108" y="72"/>
                  </a:cubicBezTo>
                  <a:cubicBezTo>
                    <a:pt x="1" y="179"/>
                    <a:pt x="1" y="346"/>
                    <a:pt x="108" y="453"/>
                  </a:cubicBezTo>
                  <a:cubicBezTo>
                    <a:pt x="156" y="501"/>
                    <a:pt x="221" y="525"/>
                    <a:pt x="288" y="525"/>
                  </a:cubicBezTo>
                  <a:cubicBezTo>
                    <a:pt x="355" y="525"/>
                    <a:pt x="424" y="501"/>
                    <a:pt x="477" y="453"/>
                  </a:cubicBezTo>
                  <a:cubicBezTo>
                    <a:pt x="561" y="346"/>
                    <a:pt x="561" y="179"/>
                    <a:pt x="477" y="72"/>
                  </a:cubicBezTo>
                  <a:cubicBezTo>
                    <a:pt x="424" y="24"/>
                    <a:pt x="355" y="1"/>
                    <a:pt x="2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80;p60">
              <a:extLst>
                <a:ext uri="{FF2B5EF4-FFF2-40B4-BE49-F238E27FC236}">
                  <a16:creationId xmlns:a16="http://schemas.microsoft.com/office/drawing/2014/main" id="{6083619A-B791-7BF5-80B5-8729BC8B0438}"/>
                </a:ext>
              </a:extLst>
            </p:cNvPr>
            <p:cNvSpPr/>
            <p:nvPr/>
          </p:nvSpPr>
          <p:spPr>
            <a:xfrm>
              <a:off x="5556166" y="4186097"/>
              <a:ext cx="97609" cy="31703"/>
            </a:xfrm>
            <a:custGeom>
              <a:avLst/>
              <a:gdLst/>
              <a:ahLst/>
              <a:cxnLst/>
              <a:rect l="l" t="t" r="r" b="b"/>
              <a:pathLst>
                <a:path w="3513" h="1141" extrusionOk="0">
                  <a:moveTo>
                    <a:pt x="1763" y="1"/>
                  </a:moveTo>
                  <a:cubicBezTo>
                    <a:pt x="1132" y="1"/>
                    <a:pt x="548" y="239"/>
                    <a:pt x="108" y="692"/>
                  </a:cubicBezTo>
                  <a:cubicBezTo>
                    <a:pt x="1" y="799"/>
                    <a:pt x="1" y="953"/>
                    <a:pt x="108" y="1061"/>
                  </a:cubicBezTo>
                  <a:cubicBezTo>
                    <a:pt x="161" y="1114"/>
                    <a:pt x="227" y="1141"/>
                    <a:pt x="292" y="1141"/>
                  </a:cubicBezTo>
                  <a:cubicBezTo>
                    <a:pt x="358" y="1141"/>
                    <a:pt x="423" y="1114"/>
                    <a:pt x="477" y="1061"/>
                  </a:cubicBezTo>
                  <a:cubicBezTo>
                    <a:pt x="822" y="715"/>
                    <a:pt x="1286" y="525"/>
                    <a:pt x="1763" y="525"/>
                  </a:cubicBezTo>
                  <a:cubicBezTo>
                    <a:pt x="2227" y="525"/>
                    <a:pt x="2691" y="715"/>
                    <a:pt x="3037" y="1061"/>
                  </a:cubicBezTo>
                  <a:cubicBezTo>
                    <a:pt x="3084" y="1108"/>
                    <a:pt x="3156" y="1132"/>
                    <a:pt x="3215" y="1132"/>
                  </a:cubicBezTo>
                  <a:cubicBezTo>
                    <a:pt x="3275" y="1132"/>
                    <a:pt x="3346" y="1108"/>
                    <a:pt x="3394" y="1061"/>
                  </a:cubicBezTo>
                  <a:cubicBezTo>
                    <a:pt x="3513" y="942"/>
                    <a:pt x="3513" y="775"/>
                    <a:pt x="3406" y="692"/>
                  </a:cubicBezTo>
                  <a:cubicBezTo>
                    <a:pt x="2965" y="239"/>
                    <a:pt x="2382" y="1"/>
                    <a:pt x="1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681;p60">
              <a:extLst>
                <a:ext uri="{FF2B5EF4-FFF2-40B4-BE49-F238E27FC236}">
                  <a16:creationId xmlns:a16="http://schemas.microsoft.com/office/drawing/2014/main" id="{98890506-2151-01A6-C818-54D2BE2E484F}"/>
                </a:ext>
              </a:extLst>
            </p:cNvPr>
            <p:cNvSpPr/>
            <p:nvPr/>
          </p:nvSpPr>
          <p:spPr>
            <a:xfrm>
              <a:off x="5576672" y="4215049"/>
              <a:ext cx="56931" cy="23034"/>
            </a:xfrm>
            <a:custGeom>
              <a:avLst/>
              <a:gdLst/>
              <a:ahLst/>
              <a:cxnLst/>
              <a:rect l="l" t="t" r="r" b="b"/>
              <a:pathLst>
                <a:path w="2049" h="829" extrusionOk="0">
                  <a:moveTo>
                    <a:pt x="1029" y="1"/>
                  </a:moveTo>
                  <a:cubicBezTo>
                    <a:pt x="697" y="1"/>
                    <a:pt x="364" y="126"/>
                    <a:pt x="108" y="376"/>
                  </a:cubicBezTo>
                  <a:cubicBezTo>
                    <a:pt x="1" y="483"/>
                    <a:pt x="1" y="650"/>
                    <a:pt x="108" y="745"/>
                  </a:cubicBezTo>
                  <a:cubicBezTo>
                    <a:pt x="161" y="798"/>
                    <a:pt x="230" y="825"/>
                    <a:pt x="298" y="825"/>
                  </a:cubicBezTo>
                  <a:cubicBezTo>
                    <a:pt x="367" y="825"/>
                    <a:pt x="435" y="798"/>
                    <a:pt x="489" y="745"/>
                  </a:cubicBezTo>
                  <a:cubicBezTo>
                    <a:pt x="638" y="596"/>
                    <a:pt x="837" y="522"/>
                    <a:pt x="1037" y="522"/>
                  </a:cubicBezTo>
                  <a:cubicBezTo>
                    <a:pt x="1236" y="522"/>
                    <a:pt x="1435" y="596"/>
                    <a:pt x="1584" y="745"/>
                  </a:cubicBezTo>
                  <a:cubicBezTo>
                    <a:pt x="1632" y="793"/>
                    <a:pt x="1703" y="828"/>
                    <a:pt x="1763" y="828"/>
                  </a:cubicBezTo>
                  <a:cubicBezTo>
                    <a:pt x="1822" y="828"/>
                    <a:pt x="1894" y="793"/>
                    <a:pt x="1941" y="745"/>
                  </a:cubicBezTo>
                  <a:cubicBezTo>
                    <a:pt x="2049" y="650"/>
                    <a:pt x="2049" y="483"/>
                    <a:pt x="1941" y="376"/>
                  </a:cubicBezTo>
                  <a:cubicBezTo>
                    <a:pt x="1691" y="126"/>
                    <a:pt x="1361"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682;p60">
              <a:extLst>
                <a:ext uri="{FF2B5EF4-FFF2-40B4-BE49-F238E27FC236}">
                  <a16:creationId xmlns:a16="http://schemas.microsoft.com/office/drawing/2014/main" id="{9E028745-31F0-0DFD-642B-AE40194E1F65}"/>
                </a:ext>
              </a:extLst>
            </p:cNvPr>
            <p:cNvSpPr/>
            <p:nvPr/>
          </p:nvSpPr>
          <p:spPr>
            <a:xfrm>
              <a:off x="5459558" y="4002272"/>
              <a:ext cx="115836" cy="158736"/>
            </a:xfrm>
            <a:custGeom>
              <a:avLst/>
              <a:gdLst/>
              <a:ahLst/>
              <a:cxnLst/>
              <a:rect l="l" t="t" r="r" b="b"/>
              <a:pathLst>
                <a:path w="4169" h="5713" extrusionOk="0">
                  <a:moveTo>
                    <a:pt x="2061" y="652"/>
                  </a:moveTo>
                  <a:cubicBezTo>
                    <a:pt x="2858" y="1521"/>
                    <a:pt x="3620" y="2676"/>
                    <a:pt x="3620" y="3545"/>
                  </a:cubicBezTo>
                  <a:cubicBezTo>
                    <a:pt x="3620" y="3986"/>
                    <a:pt x="3466" y="4402"/>
                    <a:pt x="3168" y="4712"/>
                  </a:cubicBezTo>
                  <a:cubicBezTo>
                    <a:pt x="2870" y="5033"/>
                    <a:pt x="2477" y="5188"/>
                    <a:pt x="2061" y="5188"/>
                  </a:cubicBezTo>
                  <a:cubicBezTo>
                    <a:pt x="1644" y="5188"/>
                    <a:pt x="1263" y="5033"/>
                    <a:pt x="965" y="4736"/>
                  </a:cubicBezTo>
                  <a:cubicBezTo>
                    <a:pt x="668" y="4414"/>
                    <a:pt x="501" y="3998"/>
                    <a:pt x="501" y="3557"/>
                  </a:cubicBezTo>
                  <a:cubicBezTo>
                    <a:pt x="501" y="2736"/>
                    <a:pt x="1263" y="1557"/>
                    <a:pt x="2061" y="652"/>
                  </a:cubicBezTo>
                  <a:close/>
                  <a:moveTo>
                    <a:pt x="2078" y="0"/>
                  </a:moveTo>
                  <a:cubicBezTo>
                    <a:pt x="2039" y="0"/>
                    <a:pt x="2000" y="11"/>
                    <a:pt x="1965" y="33"/>
                  </a:cubicBezTo>
                  <a:cubicBezTo>
                    <a:pt x="1930" y="45"/>
                    <a:pt x="1906" y="57"/>
                    <a:pt x="1882" y="92"/>
                  </a:cubicBezTo>
                  <a:cubicBezTo>
                    <a:pt x="1561" y="426"/>
                    <a:pt x="1" y="2140"/>
                    <a:pt x="1" y="3545"/>
                  </a:cubicBezTo>
                  <a:cubicBezTo>
                    <a:pt x="1" y="4140"/>
                    <a:pt x="203" y="4676"/>
                    <a:pt x="608" y="5093"/>
                  </a:cubicBezTo>
                  <a:cubicBezTo>
                    <a:pt x="989" y="5486"/>
                    <a:pt x="1513" y="5712"/>
                    <a:pt x="2085" y="5712"/>
                  </a:cubicBezTo>
                  <a:cubicBezTo>
                    <a:pt x="2632" y="5712"/>
                    <a:pt x="3168" y="5486"/>
                    <a:pt x="3549" y="5069"/>
                  </a:cubicBezTo>
                  <a:cubicBezTo>
                    <a:pt x="3942" y="4676"/>
                    <a:pt x="4168" y="4117"/>
                    <a:pt x="4168" y="3545"/>
                  </a:cubicBezTo>
                  <a:cubicBezTo>
                    <a:pt x="4168" y="2176"/>
                    <a:pt x="2716" y="545"/>
                    <a:pt x="2275" y="92"/>
                  </a:cubicBezTo>
                  <a:cubicBezTo>
                    <a:pt x="2215" y="32"/>
                    <a:pt x="2145" y="0"/>
                    <a:pt x="20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 name="Straight Connector 4">
            <a:extLst>
              <a:ext uri="{FF2B5EF4-FFF2-40B4-BE49-F238E27FC236}">
                <a16:creationId xmlns:a16="http://schemas.microsoft.com/office/drawing/2014/main" id="{F5D77BBF-0F52-6589-ABFC-1477E4312E5E}"/>
              </a:ext>
            </a:extLst>
          </p:cNvPr>
          <p:cNvCxnSpPr/>
          <p:nvPr/>
        </p:nvCxnSpPr>
        <p:spPr>
          <a:xfrm>
            <a:off x="1390185" y="1018478"/>
            <a:ext cx="680224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7332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shadeToTitle="1">
        <a:blipFill>
          <a:blip r:embed="rId3"/>
          <a:tile tx="0" ty="0" sx="100000" sy="100000" flip="none" algn="tl"/>
        </a:blipFill>
        <a:effectLst/>
      </p:bgPr>
    </p:bg>
    <p:spTree>
      <p:nvGrpSpPr>
        <p:cNvPr id="1" name="Shape 4481"/>
        <p:cNvGrpSpPr/>
        <p:nvPr/>
      </p:nvGrpSpPr>
      <p:grpSpPr>
        <a:xfrm>
          <a:off x="0" y="0"/>
          <a:ext cx="0" cy="0"/>
          <a:chOff x="0" y="0"/>
          <a:chExt cx="0" cy="0"/>
        </a:xfrm>
      </p:grpSpPr>
      <p:sp>
        <p:nvSpPr>
          <p:cNvPr id="6" name="TextBox 5">
            <a:extLst>
              <a:ext uri="{FF2B5EF4-FFF2-40B4-BE49-F238E27FC236}">
                <a16:creationId xmlns:a16="http://schemas.microsoft.com/office/drawing/2014/main" id="{EB25FD3E-B0EB-3AFE-59C0-03FA0CEF5CF9}"/>
              </a:ext>
            </a:extLst>
          </p:cNvPr>
          <p:cNvSpPr txBox="1"/>
          <p:nvPr/>
        </p:nvSpPr>
        <p:spPr>
          <a:xfrm>
            <a:off x="208156" y="91437"/>
            <a:ext cx="2051824" cy="461665"/>
          </a:xfrm>
          <a:prstGeom prst="rect">
            <a:avLst/>
          </a:prstGeom>
          <a:noFill/>
        </p:spPr>
        <p:txBody>
          <a:bodyPr wrap="square" rtlCol="0">
            <a:spAutoFit/>
          </a:bodyPr>
          <a:lstStyle/>
          <a:p>
            <a:r>
              <a:rPr lang="en-IN" sz="2400" b="1" dirty="0"/>
              <a:t>References</a:t>
            </a:r>
          </a:p>
        </p:txBody>
      </p:sp>
      <p:sp>
        <p:nvSpPr>
          <p:cNvPr id="7" name="TextBox 6">
            <a:extLst>
              <a:ext uri="{FF2B5EF4-FFF2-40B4-BE49-F238E27FC236}">
                <a16:creationId xmlns:a16="http://schemas.microsoft.com/office/drawing/2014/main" id="{8B67A369-5B4B-56F0-F1F9-7F0BB210CD79}"/>
              </a:ext>
            </a:extLst>
          </p:cNvPr>
          <p:cNvSpPr txBox="1"/>
          <p:nvPr/>
        </p:nvSpPr>
        <p:spPr>
          <a:xfrm>
            <a:off x="312234" y="617034"/>
            <a:ext cx="8021444" cy="4201150"/>
          </a:xfrm>
          <a:prstGeom prst="rect">
            <a:avLst/>
          </a:prstGeom>
          <a:noFill/>
        </p:spPr>
        <p:txBody>
          <a:bodyPr wrap="square" rtlCol="0">
            <a:spAutoFit/>
          </a:bodyPr>
          <a:lstStyle/>
          <a:p>
            <a:pPr algn="just">
              <a:buFont typeface="+mj-lt"/>
              <a:buAutoNum type="arabicPeriod"/>
            </a:pPr>
            <a:r>
              <a:rPr lang="en-IN" sz="1100" b="0" i="0" dirty="0" err="1">
                <a:solidFill>
                  <a:srgbClr val="222222"/>
                </a:solidFill>
                <a:effectLst/>
                <a:latin typeface="Arial" panose="020B0604020202020204" pitchFamily="34" charset="0"/>
              </a:rPr>
              <a:t>Candanedo</a:t>
            </a:r>
            <a:r>
              <a:rPr lang="en-IN" sz="1100" b="0" i="0" dirty="0">
                <a:solidFill>
                  <a:srgbClr val="222222"/>
                </a:solidFill>
                <a:effectLst/>
                <a:latin typeface="Arial" panose="020B0604020202020204" pitchFamily="34" charset="0"/>
              </a:rPr>
              <a:t>, L.M.; </a:t>
            </a:r>
            <a:r>
              <a:rPr lang="en-IN" sz="1100" b="0" i="0" dirty="0" err="1">
                <a:solidFill>
                  <a:srgbClr val="222222"/>
                </a:solidFill>
                <a:effectLst/>
                <a:latin typeface="Arial" panose="020B0604020202020204" pitchFamily="34" charset="0"/>
              </a:rPr>
              <a:t>Feldheim</a:t>
            </a:r>
            <a:r>
              <a:rPr lang="en-IN" sz="1100" b="0" i="0" dirty="0">
                <a:solidFill>
                  <a:srgbClr val="222222"/>
                </a:solidFill>
                <a:effectLst/>
                <a:latin typeface="Arial" panose="020B0604020202020204" pitchFamily="34" charset="0"/>
              </a:rPr>
              <a:t>, V.; </a:t>
            </a:r>
            <a:r>
              <a:rPr lang="en-IN" sz="1100" b="0" i="0" dirty="0" err="1">
                <a:solidFill>
                  <a:srgbClr val="222222"/>
                </a:solidFill>
                <a:effectLst/>
                <a:latin typeface="Arial" panose="020B0604020202020204" pitchFamily="34" charset="0"/>
              </a:rPr>
              <a:t>Deramaix</a:t>
            </a:r>
            <a:r>
              <a:rPr lang="en-IN" sz="1100" b="0" i="0" dirty="0">
                <a:solidFill>
                  <a:srgbClr val="222222"/>
                </a:solidFill>
                <a:effectLst/>
                <a:latin typeface="Arial" panose="020B0604020202020204" pitchFamily="34" charset="0"/>
              </a:rPr>
              <a:t>, D. Data driven prediction models of energy use of appliances in a low-energy house. </a:t>
            </a:r>
            <a:r>
              <a:rPr lang="en-IN" sz="1100" b="0" i="1" dirty="0">
                <a:solidFill>
                  <a:srgbClr val="222222"/>
                </a:solidFill>
                <a:effectLst/>
                <a:latin typeface="Arial" panose="020B0604020202020204" pitchFamily="34" charset="0"/>
              </a:rPr>
              <a:t>Energy Build.</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2017</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140</a:t>
            </a:r>
            <a:r>
              <a:rPr lang="en-IN" sz="1100" b="0" i="0" dirty="0">
                <a:solidFill>
                  <a:srgbClr val="222222"/>
                </a:solidFill>
                <a:effectLst/>
                <a:latin typeface="Arial" panose="020B0604020202020204" pitchFamily="34" charset="0"/>
              </a:rPr>
              <a:t>, 81–97. [</a:t>
            </a:r>
            <a:r>
              <a:rPr lang="en-IN" sz="1100" b="1" i="0" u="none" strike="noStrike" dirty="0">
                <a:solidFill>
                  <a:srgbClr val="4F5671"/>
                </a:solidFill>
                <a:effectLst/>
                <a:latin typeface="Arial" panose="020B0604020202020204" pitchFamily="34" charset="0"/>
                <a:hlinkClick r:id="rId4"/>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5"/>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a:solidFill>
                  <a:srgbClr val="222222"/>
                </a:solidFill>
                <a:effectLst/>
                <a:latin typeface="Arial" panose="020B0604020202020204" pitchFamily="34" charset="0"/>
              </a:rPr>
              <a:t>Mehmood, F.; Ahmad, S.; Ullah, I.; Jamil, F.; Kim, D. Towards a dynamic virtual </a:t>
            </a:r>
            <a:r>
              <a:rPr lang="en-IN" sz="1100" b="0" i="0" dirty="0" err="1">
                <a:solidFill>
                  <a:srgbClr val="222222"/>
                </a:solidFill>
                <a:effectLst/>
                <a:latin typeface="Arial" panose="020B0604020202020204" pitchFamily="34" charset="0"/>
              </a:rPr>
              <a:t>iot</a:t>
            </a:r>
            <a:r>
              <a:rPr lang="en-IN" sz="1100" b="0" i="0" dirty="0">
                <a:solidFill>
                  <a:srgbClr val="222222"/>
                </a:solidFill>
                <a:effectLst/>
                <a:latin typeface="Arial" panose="020B0604020202020204" pitchFamily="34" charset="0"/>
              </a:rPr>
              <a:t> network based on user requirements. </a:t>
            </a:r>
            <a:r>
              <a:rPr lang="en-IN" sz="1100" b="0" i="1" dirty="0" err="1">
                <a:solidFill>
                  <a:srgbClr val="222222"/>
                </a:solidFill>
                <a:effectLst/>
                <a:latin typeface="Arial" panose="020B0604020202020204" pitchFamily="34" charset="0"/>
              </a:rPr>
              <a:t>Comput</a:t>
            </a:r>
            <a:r>
              <a:rPr lang="en-IN" sz="1100" b="0" i="1" dirty="0">
                <a:solidFill>
                  <a:srgbClr val="222222"/>
                </a:solidFill>
                <a:effectLst/>
                <a:latin typeface="Arial" panose="020B0604020202020204" pitchFamily="34" charset="0"/>
              </a:rPr>
              <a:t>. Mater. Contin.</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2021</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69</a:t>
            </a:r>
            <a:r>
              <a:rPr lang="en-IN" sz="1100" b="0" i="0" dirty="0">
                <a:solidFill>
                  <a:srgbClr val="222222"/>
                </a:solidFill>
                <a:effectLst/>
                <a:latin typeface="Arial" panose="020B0604020202020204" pitchFamily="34" charset="0"/>
              </a:rPr>
              <a:t>, 2231–2244. [</a:t>
            </a:r>
            <a:r>
              <a:rPr lang="en-IN" sz="1100" b="1" i="0" u="none" strike="noStrike" dirty="0">
                <a:solidFill>
                  <a:srgbClr val="4F5671"/>
                </a:solidFill>
                <a:effectLst/>
                <a:latin typeface="Arial" panose="020B0604020202020204" pitchFamily="34" charset="0"/>
                <a:hlinkClick r:id="rId6"/>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7"/>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a:solidFill>
                  <a:srgbClr val="222222"/>
                </a:solidFill>
                <a:effectLst/>
                <a:latin typeface="Arial" panose="020B0604020202020204" pitchFamily="34" charset="0"/>
              </a:rPr>
              <a:t>Shafqat, W.; Malik, S.; Lee, K.T.; Kim, D.H. PSO based optimized ensemble learning and feature selection approach for efficient energy forecast. </a:t>
            </a:r>
            <a:r>
              <a:rPr lang="en-IN" sz="1100" b="0" i="1" dirty="0">
                <a:solidFill>
                  <a:srgbClr val="222222"/>
                </a:solidFill>
                <a:effectLst/>
                <a:latin typeface="Arial" panose="020B0604020202020204" pitchFamily="34" charset="0"/>
              </a:rPr>
              <a:t>Electronics</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2021</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10</a:t>
            </a:r>
            <a:r>
              <a:rPr lang="en-IN" sz="1100" b="0" i="0" dirty="0">
                <a:solidFill>
                  <a:srgbClr val="222222"/>
                </a:solidFill>
                <a:effectLst/>
                <a:latin typeface="Arial" panose="020B0604020202020204" pitchFamily="34" charset="0"/>
              </a:rPr>
              <a:t>, 2188. [</a:t>
            </a:r>
            <a:r>
              <a:rPr lang="en-IN" sz="1100" b="1" i="0" u="none" strike="noStrike" dirty="0">
                <a:solidFill>
                  <a:srgbClr val="4F5671"/>
                </a:solidFill>
                <a:effectLst/>
                <a:latin typeface="Arial" panose="020B0604020202020204" pitchFamily="34" charset="0"/>
                <a:hlinkClick r:id="rId8"/>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9"/>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a:solidFill>
                  <a:srgbClr val="222222"/>
                </a:solidFill>
                <a:effectLst/>
                <a:latin typeface="Arial" panose="020B0604020202020204" pitchFamily="34" charset="0"/>
              </a:rPr>
              <a:t>Shaheen, M.A.; </a:t>
            </a:r>
            <a:r>
              <a:rPr lang="en-IN" sz="1100" b="0" i="0" dirty="0" err="1">
                <a:solidFill>
                  <a:srgbClr val="222222"/>
                </a:solidFill>
                <a:effectLst/>
                <a:latin typeface="Arial" panose="020B0604020202020204" pitchFamily="34" charset="0"/>
              </a:rPr>
              <a:t>Hasanien</a:t>
            </a:r>
            <a:r>
              <a:rPr lang="en-IN" sz="1100" b="0" i="0" dirty="0">
                <a:solidFill>
                  <a:srgbClr val="222222"/>
                </a:solidFill>
                <a:effectLst/>
                <a:latin typeface="Arial" panose="020B0604020202020204" pitchFamily="34" charset="0"/>
              </a:rPr>
              <a:t>, H.M.; </a:t>
            </a:r>
            <a:r>
              <a:rPr lang="en-IN" sz="1100" b="0" i="0" dirty="0" err="1">
                <a:solidFill>
                  <a:srgbClr val="222222"/>
                </a:solidFill>
                <a:effectLst/>
                <a:latin typeface="Arial" panose="020B0604020202020204" pitchFamily="34" charset="0"/>
              </a:rPr>
              <a:t>Alkuhayli</a:t>
            </a:r>
            <a:r>
              <a:rPr lang="en-IN" sz="1100" b="0" i="0" dirty="0">
                <a:solidFill>
                  <a:srgbClr val="222222"/>
                </a:solidFill>
                <a:effectLst/>
                <a:latin typeface="Arial" panose="020B0604020202020204" pitchFamily="34" charset="0"/>
              </a:rPr>
              <a:t>, A. A novel hybrid GWO-PSO optimization technique for optimal reactive power dispatch problem solution. </a:t>
            </a:r>
            <a:r>
              <a:rPr lang="en-IN" sz="1100" b="0" i="1" dirty="0">
                <a:solidFill>
                  <a:srgbClr val="222222"/>
                </a:solidFill>
                <a:effectLst/>
                <a:latin typeface="Arial" panose="020B0604020202020204" pitchFamily="34" charset="0"/>
              </a:rPr>
              <a:t>Ain Shams Eng. J.</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2021</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12</a:t>
            </a:r>
            <a:r>
              <a:rPr lang="en-IN" sz="1100" b="0" i="0" dirty="0">
                <a:solidFill>
                  <a:srgbClr val="222222"/>
                </a:solidFill>
                <a:effectLst/>
                <a:latin typeface="Arial" panose="020B0604020202020204" pitchFamily="34" charset="0"/>
              </a:rPr>
              <a:t>, 621–630. [</a:t>
            </a:r>
            <a:r>
              <a:rPr lang="en-IN" sz="1100" b="1" i="0" u="none" strike="noStrike" dirty="0">
                <a:solidFill>
                  <a:srgbClr val="4F5671"/>
                </a:solidFill>
                <a:effectLst/>
                <a:latin typeface="Arial" panose="020B0604020202020204" pitchFamily="34" charset="0"/>
                <a:hlinkClick r:id="rId10"/>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11"/>
              </a:rPr>
              <a:t>CrossRef</a:t>
            </a:r>
            <a:r>
              <a:rPr lang="en-IN" sz="1100" b="0" i="0" dirty="0">
                <a:solidFill>
                  <a:srgbClr val="222222"/>
                </a:solidFill>
                <a:effectLst/>
                <a:latin typeface="Arial" panose="020B0604020202020204" pitchFamily="34" charset="0"/>
              </a:rPr>
              <a:t>]</a:t>
            </a:r>
            <a:endParaRPr lang="en-IN" sz="1100" b="0" i="0" dirty="0">
              <a:solidFill>
                <a:srgbClr val="1F1F1F"/>
              </a:solidFill>
              <a:effectLst/>
              <a:latin typeface="ElsevierGulliver"/>
            </a:endParaRPr>
          </a:p>
          <a:p>
            <a:pPr algn="just">
              <a:buFont typeface="+mj-lt"/>
              <a:buAutoNum type="arabicPeriod"/>
            </a:pPr>
            <a:r>
              <a:rPr lang="en-IN" sz="1100" b="0" i="0" dirty="0" err="1">
                <a:solidFill>
                  <a:srgbClr val="222222"/>
                </a:solidFill>
                <a:effectLst/>
                <a:latin typeface="Arial" panose="020B0604020202020204" pitchFamily="34" charset="0"/>
              </a:rPr>
              <a:t>Candanedo</a:t>
            </a:r>
            <a:r>
              <a:rPr lang="en-IN" sz="1100" b="0" i="0" dirty="0">
                <a:solidFill>
                  <a:srgbClr val="222222"/>
                </a:solidFill>
                <a:effectLst/>
                <a:latin typeface="Arial" panose="020B0604020202020204" pitchFamily="34" charset="0"/>
              </a:rPr>
              <a:t>, L.M.; </a:t>
            </a:r>
            <a:r>
              <a:rPr lang="en-IN" sz="1100" b="0" i="0" dirty="0" err="1">
                <a:solidFill>
                  <a:srgbClr val="222222"/>
                </a:solidFill>
                <a:effectLst/>
                <a:latin typeface="Arial" panose="020B0604020202020204" pitchFamily="34" charset="0"/>
              </a:rPr>
              <a:t>Feldheim</a:t>
            </a:r>
            <a:r>
              <a:rPr lang="en-IN" sz="1100" b="0" i="0" dirty="0">
                <a:solidFill>
                  <a:srgbClr val="222222"/>
                </a:solidFill>
                <a:effectLst/>
                <a:latin typeface="Arial" panose="020B0604020202020204" pitchFamily="34" charset="0"/>
              </a:rPr>
              <a:t>, V. Accurate occupancy detection of an office room from light, temperature, humidity and CO</a:t>
            </a:r>
            <a:r>
              <a:rPr lang="en-IN" sz="1100" b="0" i="0" baseline="-25000" dirty="0">
                <a:solidFill>
                  <a:srgbClr val="222222"/>
                </a:solidFill>
                <a:effectLst/>
                <a:latin typeface="Arial" panose="020B0604020202020204" pitchFamily="34" charset="0"/>
              </a:rPr>
              <a:t>2</a:t>
            </a:r>
            <a:r>
              <a:rPr lang="en-IN" sz="1100" b="0" i="0" dirty="0">
                <a:solidFill>
                  <a:srgbClr val="222222"/>
                </a:solidFill>
                <a:effectLst/>
                <a:latin typeface="Arial" panose="020B0604020202020204" pitchFamily="34" charset="0"/>
              </a:rPr>
              <a:t> measurements using statistical learning models. </a:t>
            </a:r>
            <a:r>
              <a:rPr lang="en-IN" sz="1100" b="0" i="1" dirty="0">
                <a:solidFill>
                  <a:srgbClr val="222222"/>
                </a:solidFill>
                <a:effectLst/>
                <a:latin typeface="Arial" panose="020B0604020202020204" pitchFamily="34" charset="0"/>
              </a:rPr>
              <a:t>Energy Build.</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2016</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112</a:t>
            </a:r>
            <a:r>
              <a:rPr lang="en-IN" sz="1100" b="0" i="0" dirty="0">
                <a:solidFill>
                  <a:srgbClr val="222222"/>
                </a:solidFill>
                <a:effectLst/>
                <a:latin typeface="Arial" panose="020B0604020202020204" pitchFamily="34" charset="0"/>
              </a:rPr>
              <a:t>, 28–39. [</a:t>
            </a:r>
            <a:r>
              <a:rPr lang="en-IN" sz="1100" b="1" i="0" u="none" strike="noStrike" dirty="0">
                <a:solidFill>
                  <a:srgbClr val="4F5671"/>
                </a:solidFill>
                <a:effectLst/>
                <a:latin typeface="Arial" panose="020B0604020202020204" pitchFamily="34" charset="0"/>
                <a:hlinkClick r:id="rId12"/>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13"/>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err="1">
                <a:solidFill>
                  <a:srgbClr val="222222"/>
                </a:solidFill>
                <a:effectLst/>
                <a:latin typeface="Arial" panose="020B0604020202020204" pitchFamily="34" charset="0"/>
              </a:rPr>
              <a:t>Pranolo</a:t>
            </a:r>
            <a:r>
              <a:rPr lang="en-IN" sz="1100" b="0" i="0" dirty="0">
                <a:solidFill>
                  <a:srgbClr val="222222"/>
                </a:solidFill>
                <a:effectLst/>
                <a:latin typeface="Arial" panose="020B0604020202020204" pitchFamily="34" charset="0"/>
              </a:rPr>
              <a:t>, A.; Mao, Y.; </a:t>
            </a:r>
            <a:r>
              <a:rPr lang="en-IN" sz="1100" b="0" i="0" dirty="0" err="1">
                <a:solidFill>
                  <a:srgbClr val="222222"/>
                </a:solidFill>
                <a:effectLst/>
                <a:latin typeface="Arial" panose="020B0604020202020204" pitchFamily="34" charset="0"/>
              </a:rPr>
              <a:t>Wibawa</a:t>
            </a:r>
            <a:r>
              <a:rPr lang="en-IN" sz="1100" b="0" i="0" dirty="0">
                <a:solidFill>
                  <a:srgbClr val="222222"/>
                </a:solidFill>
                <a:effectLst/>
                <a:latin typeface="Arial" panose="020B0604020202020204" pitchFamily="34" charset="0"/>
              </a:rPr>
              <a:t>, A.P.; Utama, A.B.P.; </a:t>
            </a:r>
            <a:r>
              <a:rPr lang="en-IN" sz="1100" b="0" i="0" dirty="0" err="1">
                <a:solidFill>
                  <a:srgbClr val="222222"/>
                </a:solidFill>
                <a:effectLst/>
                <a:latin typeface="Arial" panose="020B0604020202020204" pitchFamily="34" charset="0"/>
              </a:rPr>
              <a:t>Dwiyanto</a:t>
            </a:r>
            <a:r>
              <a:rPr lang="en-IN" sz="1100" b="0" i="0" dirty="0">
                <a:solidFill>
                  <a:srgbClr val="222222"/>
                </a:solidFill>
                <a:effectLst/>
                <a:latin typeface="Arial" panose="020B0604020202020204" pitchFamily="34" charset="0"/>
              </a:rPr>
              <a:t>, F.A. Robust LSTM with Tuned-PSO and Bifold-Attention Mechanism for </a:t>
            </a:r>
            <a:r>
              <a:rPr lang="en-IN" sz="1100" b="0" i="0" dirty="0" err="1">
                <a:solidFill>
                  <a:srgbClr val="222222"/>
                </a:solidFill>
                <a:effectLst/>
                <a:latin typeface="Arial" panose="020B0604020202020204" pitchFamily="34" charset="0"/>
              </a:rPr>
              <a:t>Analyzing</a:t>
            </a:r>
            <a:r>
              <a:rPr lang="en-IN" sz="1100" b="0" i="0" dirty="0">
                <a:solidFill>
                  <a:srgbClr val="222222"/>
                </a:solidFill>
                <a:effectLst/>
                <a:latin typeface="Arial" panose="020B0604020202020204" pitchFamily="34" charset="0"/>
              </a:rPr>
              <a:t> Multivariate Time-Series. </a:t>
            </a:r>
            <a:r>
              <a:rPr lang="en-IN" sz="1100" b="0" i="1" dirty="0">
                <a:solidFill>
                  <a:srgbClr val="222222"/>
                </a:solidFill>
                <a:effectLst/>
                <a:latin typeface="Arial" panose="020B0604020202020204" pitchFamily="34" charset="0"/>
              </a:rPr>
              <a:t>IEEE Access</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2022</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10</a:t>
            </a:r>
            <a:r>
              <a:rPr lang="en-IN" sz="1100" b="0" i="0" dirty="0">
                <a:solidFill>
                  <a:srgbClr val="222222"/>
                </a:solidFill>
                <a:effectLst/>
                <a:latin typeface="Arial" panose="020B0604020202020204" pitchFamily="34" charset="0"/>
              </a:rPr>
              <a:t>, 78423–78434. [</a:t>
            </a:r>
            <a:r>
              <a:rPr lang="en-IN" sz="1100" b="1" i="0" u="none" strike="noStrike" dirty="0">
                <a:solidFill>
                  <a:srgbClr val="4F5671"/>
                </a:solidFill>
                <a:effectLst/>
                <a:latin typeface="Arial" panose="020B0604020202020204" pitchFamily="34" charset="0"/>
                <a:hlinkClick r:id="rId14"/>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15"/>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a:solidFill>
                  <a:srgbClr val="222222"/>
                </a:solidFill>
                <a:effectLst/>
                <a:latin typeface="Arial" panose="020B0604020202020204" pitchFamily="34" charset="0"/>
              </a:rPr>
              <a:t>Malik, S.; Shafqat, W.; Lee, K.T.; Kim, D.H. A Feature Selection-Based Predictive-Learning Framework for Optimal Actuator Control in Smart Homes. </a:t>
            </a:r>
            <a:r>
              <a:rPr lang="en-IN" sz="1100" b="0" i="1" dirty="0">
                <a:solidFill>
                  <a:srgbClr val="222222"/>
                </a:solidFill>
                <a:effectLst/>
                <a:latin typeface="Arial" panose="020B0604020202020204" pitchFamily="34" charset="0"/>
              </a:rPr>
              <a:t>Actuators</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2021</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10</a:t>
            </a:r>
            <a:r>
              <a:rPr lang="en-IN" sz="1100" b="0" i="0" dirty="0">
                <a:solidFill>
                  <a:srgbClr val="222222"/>
                </a:solidFill>
                <a:effectLst/>
                <a:latin typeface="Arial" panose="020B0604020202020204" pitchFamily="34" charset="0"/>
              </a:rPr>
              <a:t>, 84. [</a:t>
            </a:r>
            <a:r>
              <a:rPr lang="en-IN" sz="1100" b="1" i="0" u="none" strike="noStrike" dirty="0">
                <a:solidFill>
                  <a:srgbClr val="4F5671"/>
                </a:solidFill>
                <a:effectLst/>
                <a:latin typeface="Arial" panose="020B0604020202020204" pitchFamily="34" charset="0"/>
                <a:hlinkClick r:id="rId16"/>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17"/>
              </a:rPr>
              <a:t>CrossRef</a:t>
            </a:r>
            <a:r>
              <a:rPr lang="en-IN" sz="1100" b="0" i="0" dirty="0">
                <a:solidFill>
                  <a:srgbClr val="222222"/>
                </a:solidFill>
                <a:effectLst/>
                <a:latin typeface="Arial" panose="020B0604020202020204" pitchFamily="34" charset="0"/>
              </a:rPr>
              <a:t>]</a:t>
            </a:r>
          </a:p>
          <a:p>
            <a:pPr algn="just">
              <a:buFont typeface="+mj-lt"/>
              <a:buAutoNum type="arabicPeriod"/>
            </a:pPr>
            <a:r>
              <a:rPr lang="en-IN" sz="1100" b="0" i="0" dirty="0">
                <a:solidFill>
                  <a:srgbClr val="222222"/>
                </a:solidFill>
                <a:effectLst/>
                <a:latin typeface="Arial" panose="020B0604020202020204" pitchFamily="34" charset="0"/>
              </a:rPr>
              <a:t>Malik, S.; Lee, K.; Kim, D. Optimal control based on scheduling for comfortable smart home environment. </a:t>
            </a:r>
            <a:r>
              <a:rPr lang="en-IN" sz="1100" b="0" i="1" dirty="0">
                <a:solidFill>
                  <a:srgbClr val="222222"/>
                </a:solidFill>
                <a:effectLst/>
                <a:latin typeface="Arial" panose="020B0604020202020204" pitchFamily="34" charset="0"/>
              </a:rPr>
              <a:t>IEEE Access</a:t>
            </a:r>
            <a:r>
              <a:rPr lang="en-IN" sz="1100" b="0" i="0" dirty="0">
                <a:solidFill>
                  <a:srgbClr val="222222"/>
                </a:solidFill>
                <a:effectLst/>
                <a:latin typeface="Arial" panose="020B0604020202020204" pitchFamily="34" charset="0"/>
              </a:rPr>
              <a:t> </a:t>
            </a:r>
            <a:r>
              <a:rPr lang="en-IN" sz="1100" b="1" i="0" dirty="0">
                <a:solidFill>
                  <a:srgbClr val="222222"/>
                </a:solidFill>
                <a:effectLst/>
                <a:latin typeface="Arial" panose="020B0604020202020204" pitchFamily="34" charset="0"/>
              </a:rPr>
              <a:t>2020</a:t>
            </a:r>
            <a:r>
              <a:rPr lang="en-IN" sz="1100" b="0" i="0" dirty="0">
                <a:solidFill>
                  <a:srgbClr val="222222"/>
                </a:solidFill>
                <a:effectLst/>
                <a:latin typeface="Arial" panose="020B0604020202020204" pitchFamily="34" charset="0"/>
              </a:rPr>
              <a:t>, </a:t>
            </a:r>
            <a:r>
              <a:rPr lang="en-IN" sz="1100" b="0" i="1" dirty="0">
                <a:solidFill>
                  <a:srgbClr val="222222"/>
                </a:solidFill>
                <a:effectLst/>
                <a:latin typeface="Arial" panose="020B0604020202020204" pitchFamily="34" charset="0"/>
              </a:rPr>
              <a:t>8</a:t>
            </a:r>
            <a:r>
              <a:rPr lang="en-IN" sz="1100" b="0" i="0" dirty="0">
                <a:solidFill>
                  <a:srgbClr val="222222"/>
                </a:solidFill>
                <a:effectLst/>
                <a:latin typeface="Arial" panose="020B0604020202020204" pitchFamily="34" charset="0"/>
              </a:rPr>
              <a:t>, 218245–218256. [</a:t>
            </a:r>
            <a:r>
              <a:rPr lang="en-IN" sz="1100" b="1" i="0" u="none" strike="noStrike" dirty="0">
                <a:solidFill>
                  <a:srgbClr val="4F5671"/>
                </a:solidFill>
                <a:effectLst/>
                <a:latin typeface="Arial" panose="020B0604020202020204" pitchFamily="34" charset="0"/>
                <a:hlinkClick r:id="rId18"/>
              </a:rPr>
              <a:t>Google Scholar</a:t>
            </a:r>
            <a:r>
              <a:rPr lang="en-IN" sz="1100" b="0" i="0" dirty="0">
                <a:solidFill>
                  <a:srgbClr val="222222"/>
                </a:solidFill>
                <a:effectLst/>
                <a:latin typeface="Arial" panose="020B0604020202020204" pitchFamily="34" charset="0"/>
              </a:rPr>
              <a:t>] [</a:t>
            </a:r>
            <a:r>
              <a:rPr lang="en-IN" sz="1100" b="1" i="0" u="none" strike="noStrike" dirty="0" err="1">
                <a:solidFill>
                  <a:srgbClr val="4F5671"/>
                </a:solidFill>
                <a:effectLst/>
                <a:latin typeface="Arial" panose="020B0604020202020204" pitchFamily="34" charset="0"/>
                <a:hlinkClick r:id="rId19"/>
              </a:rPr>
              <a:t>CrossRef</a:t>
            </a:r>
            <a:r>
              <a:rPr lang="en-IN" sz="1100" b="0" i="0" dirty="0">
                <a:solidFill>
                  <a:srgbClr val="222222"/>
                </a:solidFill>
                <a:effectLst/>
                <a:latin typeface="Arial" panose="020B0604020202020204" pitchFamily="34" charset="0"/>
              </a:rPr>
              <a:t>]</a:t>
            </a:r>
          </a:p>
          <a:p>
            <a:pPr algn="just">
              <a:buFont typeface="+mj-lt"/>
              <a:buAutoNum type="arabicPeriod"/>
            </a:pPr>
            <a:endParaRPr lang="en-IN" sz="1100" dirty="0">
              <a:solidFill>
                <a:srgbClr val="222222"/>
              </a:solidFill>
              <a:latin typeface="Arial" panose="020B0604020202020204" pitchFamily="34" charset="0"/>
            </a:endParaRPr>
          </a:p>
          <a:p>
            <a:pPr algn="just">
              <a:buFont typeface="+mj-lt"/>
              <a:buAutoNum type="arabicPeriod"/>
            </a:pPr>
            <a:r>
              <a:rPr lang="en-US" sz="1100" b="0" i="1" dirty="0">
                <a:solidFill>
                  <a:srgbClr val="333333"/>
                </a:solidFill>
                <a:effectLst/>
                <a:latin typeface="HelveticaNeue Regular"/>
              </a:rPr>
              <a:t>McKinsey on Smart Grid—SEDC</a:t>
            </a:r>
            <a:r>
              <a:rPr lang="en-US" sz="1100" b="0" i="0" dirty="0">
                <a:solidFill>
                  <a:srgbClr val="333333"/>
                </a:solidFill>
                <a:effectLst/>
                <a:latin typeface="HelveticaNeue Regular"/>
              </a:rPr>
              <a:t>, [online] Available: </a:t>
            </a:r>
            <a:r>
              <a:rPr lang="en-US" sz="1100" b="0" i="0" u="none" strike="noStrike" dirty="0">
                <a:solidFill>
                  <a:srgbClr val="006699"/>
                </a:solidFill>
                <a:effectLst/>
                <a:latin typeface="HelveticaNeue Regular"/>
                <a:hlinkClick r:id="rId20"/>
              </a:rPr>
              <a:t>http://sedc-coalition.eu/wp-content/uploads/2011/06/McKinsey-10-08-05-Smart-Grid-Benefits.pdf</a:t>
            </a:r>
            <a:r>
              <a:rPr lang="en-US" sz="1100" b="0" i="0" dirty="0">
                <a:solidFill>
                  <a:srgbClr val="333333"/>
                </a:solidFill>
                <a:effectLst/>
                <a:latin typeface="HelveticaNeue Regular"/>
              </a:rPr>
              <a:t>.</a:t>
            </a:r>
            <a:endParaRPr lang="en-IN" sz="1100" b="0" i="0" dirty="0">
              <a:solidFill>
                <a:srgbClr val="222222"/>
              </a:solidFill>
              <a:effectLst/>
              <a:latin typeface="Arial" panose="020B0604020202020204" pitchFamily="34" charset="0"/>
            </a:endParaRPr>
          </a:p>
          <a:p>
            <a:pPr algn="just">
              <a:buFont typeface="+mj-lt"/>
              <a:buAutoNum type="arabicPeriod"/>
            </a:pPr>
            <a:r>
              <a:rPr lang="en-US" sz="1100" b="0" i="0" dirty="0">
                <a:solidFill>
                  <a:srgbClr val="333333"/>
                </a:solidFill>
                <a:effectLst/>
                <a:latin typeface="HelveticaNeue Regular"/>
              </a:rPr>
              <a:t>X. Chen, T. Wei and S. Hu, "Uncertainty-aware household appliance scheduling considering dynamic electricity pricing in smart home", </a:t>
            </a:r>
            <a:r>
              <a:rPr lang="en-US" sz="1100" b="0" i="1" dirty="0">
                <a:solidFill>
                  <a:srgbClr val="333333"/>
                </a:solidFill>
                <a:effectLst/>
                <a:latin typeface="HelveticaNeue Regular"/>
              </a:rPr>
              <a:t>IEEE Trans. Smart Grid</a:t>
            </a:r>
            <a:r>
              <a:rPr lang="en-US" sz="1100" b="0" i="0" dirty="0">
                <a:solidFill>
                  <a:srgbClr val="333333"/>
                </a:solidFill>
                <a:effectLst/>
                <a:latin typeface="HelveticaNeue Regular"/>
              </a:rPr>
              <a:t>, vol. 4, pp. 932-941, Jun. 2013.</a:t>
            </a:r>
            <a:endParaRPr lang="en-IN" sz="1100" dirty="0">
              <a:solidFill>
                <a:srgbClr val="222222"/>
              </a:solidFill>
              <a:latin typeface="Arial" panose="020B0604020202020204" pitchFamily="34" charset="0"/>
            </a:endParaRPr>
          </a:p>
          <a:p>
            <a:pPr algn="just">
              <a:buFont typeface="+mj-lt"/>
              <a:buAutoNum type="arabicPeriod"/>
            </a:pPr>
            <a:r>
              <a:rPr lang="en-US" sz="1100" b="0" i="0" dirty="0">
                <a:solidFill>
                  <a:srgbClr val="333333"/>
                </a:solidFill>
                <a:effectLst/>
                <a:latin typeface="HelveticaNeue Regular"/>
              </a:rPr>
              <a:t>M. A. A. </a:t>
            </a:r>
            <a:r>
              <a:rPr lang="en-US" sz="1100" b="0" i="0" dirty="0" err="1">
                <a:solidFill>
                  <a:srgbClr val="333333"/>
                </a:solidFill>
                <a:effectLst/>
                <a:latin typeface="HelveticaNeue Regular"/>
              </a:rPr>
              <a:t>Pedrasa</a:t>
            </a:r>
            <a:r>
              <a:rPr lang="en-US" sz="1100" b="0" i="0" dirty="0">
                <a:solidFill>
                  <a:srgbClr val="333333"/>
                </a:solidFill>
                <a:effectLst/>
                <a:latin typeface="HelveticaNeue Regular"/>
              </a:rPr>
              <a:t>, T. D. Spooner and I. F. </a:t>
            </a:r>
            <a:r>
              <a:rPr lang="en-US" sz="1100" b="0" i="0" dirty="0" err="1">
                <a:solidFill>
                  <a:srgbClr val="333333"/>
                </a:solidFill>
                <a:effectLst/>
                <a:latin typeface="HelveticaNeue Regular"/>
              </a:rPr>
              <a:t>MacGill</a:t>
            </a:r>
            <a:r>
              <a:rPr lang="en-US" sz="1100" b="0" i="0" dirty="0">
                <a:solidFill>
                  <a:srgbClr val="333333"/>
                </a:solidFill>
                <a:effectLst/>
                <a:latin typeface="HelveticaNeue Regular"/>
              </a:rPr>
              <a:t>, "Coordinated scheduling of residential distributed energy resources to optimize smart home energy services", </a:t>
            </a:r>
            <a:r>
              <a:rPr lang="en-US" sz="1100" b="0" i="1" dirty="0">
                <a:solidFill>
                  <a:srgbClr val="333333"/>
                </a:solidFill>
                <a:effectLst/>
                <a:latin typeface="HelveticaNeue Regular"/>
              </a:rPr>
              <a:t>IEEE Trans. Smart Grid</a:t>
            </a:r>
            <a:r>
              <a:rPr lang="en-US" sz="1100" b="0" i="0" dirty="0">
                <a:solidFill>
                  <a:srgbClr val="333333"/>
                </a:solidFill>
                <a:effectLst/>
                <a:latin typeface="HelveticaNeue Regular"/>
              </a:rPr>
              <a:t>, vol. 1, no. 2, pp. 134-143, Sep. 2010.</a:t>
            </a:r>
            <a:endParaRPr lang="en-IN" sz="1100" b="0" i="0" dirty="0">
              <a:solidFill>
                <a:srgbClr val="222222"/>
              </a:solidFill>
              <a:effectLst/>
              <a:latin typeface="Arial" panose="020B0604020202020204" pitchFamily="34" charset="0"/>
            </a:endParaRP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29"/>
        <p:cNvGrpSpPr/>
        <p:nvPr/>
      </p:nvGrpSpPr>
      <p:grpSpPr>
        <a:xfrm>
          <a:off x="0" y="0"/>
          <a:ext cx="0" cy="0"/>
          <a:chOff x="0" y="0"/>
          <a:chExt cx="0" cy="0"/>
        </a:xfrm>
      </p:grpSpPr>
      <p:sp>
        <p:nvSpPr>
          <p:cNvPr id="4930" name="Google Shape;4930;p5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Thank</a:t>
            </a:r>
            <a:br>
              <a:rPr lang="en-IN" dirty="0"/>
            </a:br>
            <a:r>
              <a:rPr lang="en-IN" dirty="0"/>
              <a:t>you</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3.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1057</TotalTime>
  <Words>2552</Words>
  <Application>Microsoft Office PowerPoint</Application>
  <PresentationFormat>On-screen Show (16:9)</PresentationFormat>
  <Paragraphs>197</Paragraphs>
  <Slides>23</Slides>
  <Notes>11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23</vt:i4>
      </vt:variant>
    </vt:vector>
  </HeadingPairs>
  <TitlesOfParts>
    <vt:vector size="40" baseType="lpstr">
      <vt:lpstr>Times New Roman</vt:lpstr>
      <vt:lpstr>HelveticaNeue Regular</vt:lpstr>
      <vt:lpstr>ABeeZee</vt:lpstr>
      <vt:lpstr>Black Han Sans</vt:lpstr>
      <vt:lpstr>ElsevierGulliver</vt:lpstr>
      <vt:lpstr>Calisto MT</vt:lpstr>
      <vt:lpstr>Arial</vt:lpstr>
      <vt:lpstr>Roboto Condensed Light</vt:lpstr>
      <vt:lpstr>Wingdings 2</vt:lpstr>
      <vt:lpstr>Century Schoolbook</vt:lpstr>
      <vt:lpstr>Wingdings</vt:lpstr>
      <vt:lpstr>Consolas</vt:lpstr>
      <vt:lpstr>Söhne</vt:lpstr>
      <vt:lpstr>Garamond</vt:lpstr>
      <vt:lpstr>Slate</vt:lpstr>
      <vt:lpstr>View</vt:lpstr>
      <vt:lpstr>Organic</vt:lpstr>
      <vt:lpstr>Efficient Energy Tracking and Monitoring in IoT    Enabled Smart Homes Using MQTT Protocol</vt:lpstr>
      <vt:lpstr>PowerPoint Presentation</vt:lpstr>
      <vt:lpstr>Introduction</vt:lpstr>
      <vt:lpstr> Objectives </vt:lpstr>
      <vt:lpstr>Existing Methods</vt:lpstr>
      <vt:lpstr>PowerPoint Presentation</vt:lpstr>
      <vt:lpstr>Proposed Model</vt:lpstr>
      <vt:lpstr>Process of Project</vt:lpstr>
      <vt:lpstr>7. User Input Verification - If user input is detected, the corresponding action is executed; otherwise, the system continues monitoring.   8. Data Logging - The system maintains logs of user interactions and energy data with date and time stamps for historical analysis. </vt:lpstr>
      <vt:lpstr>Architecture</vt:lpstr>
      <vt:lpstr>PowerPoint Presentation</vt:lpstr>
      <vt:lpstr>System Components </vt:lpstr>
      <vt:lpstr>Circuit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Next-Generation Home Energy Management: Weather Based Scheduling With Rule-based Automation</dc:title>
  <dc:creator>Sai Kumar</dc:creator>
  <cp:lastModifiedBy>Saikumar Ika</cp:lastModifiedBy>
  <cp:revision>45</cp:revision>
  <dcterms:modified xsi:type="dcterms:W3CDTF">2025-04-19T04:44:27Z</dcterms:modified>
</cp:coreProperties>
</file>